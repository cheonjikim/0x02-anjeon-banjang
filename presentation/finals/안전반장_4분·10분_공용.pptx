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7d4be0149e4f0e" /><Relationship Type="http://schemas.openxmlformats.org/officeDocument/2006/relationships/extended-properties" Target="/docProps/app.xml" Id="Ree058afa2c6b43dc" /><Relationship Type="http://schemas.openxmlformats.org/officeDocument/2006/relationships/officeDocument" Target="/ppt/presentation.xml" Id="R1f86cb30a4c14c55" /></Relationships>
</file>

<file path=ppt/presentation.xml><?xml version="1.0" encoding="utf-8"?>
<p:presentation xmlns:p="http://schemas.openxmlformats.org/presentationml/2006/main">
  <p:sldMasterIdLst>
    <p:sldMasterId xmlns:r="http://schemas.openxmlformats.org/officeDocument/2006/relationships" id="2147483648" r:id="Refa7ac0cc97a48c2"/>
  </p:sldMasterIdLst>
  <p:notesMasterIdLst>
    <p:notesMasterId xmlns:r="http://schemas.openxmlformats.org/officeDocument/2006/relationships" r:id="Rec55973790414bd7"/>
  </p:notesMasterIdLst>
  <p:sldIdLst>
    <p:sldId xmlns:r="http://schemas.openxmlformats.org/officeDocument/2006/relationships" id="256" r:id="Rddbd6892e136425b"/>
    <p:sldId xmlns:r="http://schemas.openxmlformats.org/officeDocument/2006/relationships" id="257" r:id="R18429f226bd04b5a"/>
    <p:sldId xmlns:r="http://schemas.openxmlformats.org/officeDocument/2006/relationships" id="258" r:id="Rbc8d1764e6764518"/>
    <p:sldId xmlns:r="http://schemas.openxmlformats.org/officeDocument/2006/relationships" id="259" r:id="R15e84b3a50844ed7"/>
    <p:sldId xmlns:r="http://schemas.openxmlformats.org/officeDocument/2006/relationships" id="260" r:id="R7de5c47be7944323"/>
    <p:sldId xmlns:r="http://schemas.openxmlformats.org/officeDocument/2006/relationships" id="261" r:id="R6c649aa8b3c44087"/>
    <p:sldId xmlns:r="http://schemas.openxmlformats.org/officeDocument/2006/relationships" id="262" r:id="R6c32bbec66d24c70"/>
    <p:sldId xmlns:r="http://schemas.openxmlformats.org/officeDocument/2006/relationships" id="263" r:id="R1670939d066f4cd2"/>
    <p:sldId xmlns:r="http://schemas.openxmlformats.org/officeDocument/2006/relationships" id="264" r:id="R6669e2bd430149fc"/>
    <p:sldId xmlns:r="http://schemas.openxmlformats.org/officeDocument/2006/relationships" id="265" r:id="Rbb52a47f2528411b"/>
    <p:sldId xmlns:r="http://schemas.openxmlformats.org/officeDocument/2006/relationships" id="266" r:id="R4d27588023d54ce2"/>
    <p:sldId xmlns:r="http://schemas.openxmlformats.org/officeDocument/2006/relationships" id="267" r:id="R076b0f5effdc42db"/>
    <p:sldId xmlns:r="http://schemas.openxmlformats.org/officeDocument/2006/relationships" id="268" r:id="R3524dcbb4ecc40f7"/>
    <p:sldId xmlns:r="http://schemas.openxmlformats.org/officeDocument/2006/relationships" id="269" r:id="R1b9abeb7ff2741e5"/>
  </p:sldIdLst>
  <p:sldSz cx="12192000" cy="6858000"/>
  <p:notesSz cx="6858000" cy="9144000"/>
  <p:custShowLst xmlns:r="http://schemas.openxmlformats.org/officeDocument/2006/relationships">
    <p:custShow name="4분 핵심 발표" id="0">
      <p:sldLst>
        <p:sld r:id="Rddbd6892e136425b"/>
        <p:sld r:id="R18429f226bd04b5a"/>
        <p:sld r:id="R7de5c47be7944323"/>
        <p:sld r:id="R6c649aa8b3c44087"/>
        <p:sld r:id="R1670939d066f4cd2"/>
        <p:sld r:id="R6669e2bd430149fc"/>
        <p:sld r:id="R1b9abeb7ff2741e5"/>
      </p:sldLst>
    </p:custShow>
    <p:custShow name="10분 본선 발표" id="1">
      <p:sldLst>
        <p:sld r:id="Rddbd6892e136425b"/>
        <p:sld r:id="R18429f226bd04b5a"/>
        <p:sld r:id="Rbc8d1764e6764518"/>
        <p:sld r:id="R15e84b3a50844ed7"/>
        <p:sld r:id="R7de5c47be7944323"/>
        <p:sld r:id="R6c649aa8b3c44087"/>
        <p:sld r:id="R6c32bbec66d24c70"/>
        <p:sld r:id="R1670939d066f4cd2"/>
        <p:sld r:id="R6669e2bd430149fc"/>
        <p:sld r:id="Rbb52a47f2528411b"/>
        <p:sld r:id="R4d27588023d54ce2"/>
        <p:sld r:id="R076b0f5effdc42db"/>
        <p:sld r:id="R3524dcbb4ecc40f7"/>
        <p:sld r:id="R1b9abeb7ff2741e5"/>
      </p:sldLst>
    </p:custShow>
  </p:custShow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94e4bbe1eda4f09" /><Relationship Type="http://schemas.openxmlformats.org/officeDocument/2006/relationships/slideMaster" Target="/ppt/slideMasters/slideMaster1.xml" Id="Refa7ac0cc97a48c2" /><Relationship Type="http://schemas.openxmlformats.org/officeDocument/2006/relationships/notesMaster" Target="/ppt/notesMasters/notesMaster1.xml" Id="Rec55973790414bd7" /><Relationship Type="http://schemas.openxmlformats.org/officeDocument/2006/relationships/presProps" Target="/ppt/presProps.xml" Id="Rdfb4ce262d50467c" /><Relationship Type="http://schemas.openxmlformats.org/officeDocument/2006/relationships/viewProps" Target="/ppt/viewProps.xml" Id="R3b874d07531d4d49" /><Relationship Type="http://schemas.openxmlformats.org/officeDocument/2006/relationships/tableStyles" Target="/ppt/tableStyles.xml" Id="Rfc5d69747e184c48" /><Relationship Type="http://schemas.openxmlformats.org/officeDocument/2006/relationships/slide" Target="/ppt/slides/slide1.xml" Id="Rddbd6892e136425b" /><Relationship Type="http://schemas.openxmlformats.org/officeDocument/2006/relationships/slide" Target="/ppt/slides/slide2.xml" Id="R18429f226bd04b5a" /><Relationship Type="http://schemas.openxmlformats.org/officeDocument/2006/relationships/slide" Target="/ppt/slides/slide3.xml" Id="Rbc8d1764e6764518" /><Relationship Type="http://schemas.openxmlformats.org/officeDocument/2006/relationships/slide" Target="/ppt/slides/slide4.xml" Id="R15e84b3a50844ed7" /><Relationship Type="http://schemas.openxmlformats.org/officeDocument/2006/relationships/slide" Target="/ppt/slides/slide5.xml" Id="R7de5c47be7944323" /><Relationship Type="http://schemas.openxmlformats.org/officeDocument/2006/relationships/slide" Target="/ppt/slides/slide6.xml" Id="R6c649aa8b3c44087" /><Relationship Type="http://schemas.openxmlformats.org/officeDocument/2006/relationships/slide" Target="/ppt/slides/slide7.xml" Id="R6c32bbec66d24c70" /><Relationship Type="http://schemas.openxmlformats.org/officeDocument/2006/relationships/slide" Target="/ppt/slides/slide8.xml" Id="R1670939d066f4cd2" /><Relationship Type="http://schemas.openxmlformats.org/officeDocument/2006/relationships/slide" Target="/ppt/slides/slide9.xml" Id="R6669e2bd430149fc" /><Relationship Type="http://schemas.openxmlformats.org/officeDocument/2006/relationships/slide" Target="/ppt/slides/slide10.xml" Id="Rbb52a47f2528411b" /><Relationship Type="http://schemas.openxmlformats.org/officeDocument/2006/relationships/slide" Target="/ppt/slides/slide11.xml" Id="R4d27588023d54ce2" /><Relationship Type="http://schemas.openxmlformats.org/officeDocument/2006/relationships/slide" Target="/ppt/slides/slide12.xml" Id="R076b0f5effdc42db" /><Relationship Type="http://schemas.openxmlformats.org/officeDocument/2006/relationships/slide" Target="/ppt/slides/slide13.xml" Id="R3524dcbb4ecc40f7" /><Relationship Type="http://schemas.openxmlformats.org/officeDocument/2006/relationships/slide" Target="/ppt/slides/slide14.xml" Id="R1b9abeb7ff2741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a566e4546a4a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안전반장 4분 발표">
  <a:themeElements>
    <a:clrScheme name="안전반장 4분 발표">
      <a:dk1>
        <a:srgbClr val="1F2937"/>
      </a:dk1>
      <a:lt1>
        <a:srgbClr val="F8FAFC"/>
      </a:lt1>
      <a:dk2>
        <a:srgbClr val="555D68"/>
      </a:dk2>
      <a:lt2>
        <a:srgbClr val="E2E5E8"/>
      </a:lt2>
      <a:accent1>
        <a:srgbClr val="1D4ED8"/>
      </a:accent1>
      <a:accent2>
        <a:srgbClr val="DC2626"/>
      </a:accent2>
      <a:accent3>
        <a:srgbClr val="15803D"/>
      </a:accent3>
      <a:accent4>
        <a:srgbClr val="F59E0B"/>
      </a:accent4>
      <a:accent5>
        <a:srgbClr val="6D28D9"/>
      </a:accent5>
      <a:accent6>
        <a:srgbClr val="6B7280"/>
      </a:accent6>
      <a:hlink>
        <a:srgbClr val="0563C1"/>
      </a:hlink>
      <a:folHlink>
        <a:srgbClr val="954F72"/>
      </a:folHlink>
    </a:clrScheme>
    <a:fontScheme name="안전반장 4분 발표">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안전반장 4분 발표">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37a61ca765443c" /><Relationship Type="http://schemas.openxmlformats.org/officeDocument/2006/relationships/notesMaster" Target="/ppt/notesMasters/notesMaster1.xml" Id="R25369777e45b42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9b8a28cc3b42c4" /><Relationship Type="http://schemas.openxmlformats.org/officeDocument/2006/relationships/notesMaster" Target="/ppt/notesMasters/notesMaster1.xml" Id="R10da00daeae44a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4ceb87884a44d8" /><Relationship Type="http://schemas.openxmlformats.org/officeDocument/2006/relationships/notesMaster" Target="/ppt/notesMasters/notesMaster1.xml" Id="Re46272259b8b42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681279022e4cfb" /><Relationship Type="http://schemas.openxmlformats.org/officeDocument/2006/relationships/notesMaster" Target="/ppt/notesMasters/notesMaster1.xml" Id="R64330e34423042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9600a5fef44ae9" /><Relationship Type="http://schemas.openxmlformats.org/officeDocument/2006/relationships/notesMaster" Target="/ppt/notesMasters/notesMaster1.xml" Id="R5194018a32314f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010d0fdceb44d4" /><Relationship Type="http://schemas.openxmlformats.org/officeDocument/2006/relationships/notesMaster" Target="/ppt/notesMasters/notesMaster1.xml" Id="R7931a749ad3a42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edd0399d454af8" /><Relationship Type="http://schemas.openxmlformats.org/officeDocument/2006/relationships/notesMaster" Target="/ppt/notesMasters/notesMaster1.xml" Id="R1588297df23147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67ae69ca2842f5" /><Relationship Type="http://schemas.openxmlformats.org/officeDocument/2006/relationships/notesMaster" Target="/ppt/notesMasters/notesMaster1.xml" Id="R26cd9d241def47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81122b244c4f12" /><Relationship Type="http://schemas.openxmlformats.org/officeDocument/2006/relationships/notesMaster" Target="/ppt/notesMasters/notesMaster1.xml" Id="R7e6127619ef64a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2d39b240804cc6" /><Relationship Type="http://schemas.openxmlformats.org/officeDocument/2006/relationships/notesMaster" Target="/ppt/notesMasters/notesMaster1.xml" Id="R58d6c7166fe34e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397dc76b1142f6" /><Relationship Type="http://schemas.openxmlformats.org/officeDocument/2006/relationships/notesMaster" Target="/ppt/notesMasters/notesMaster1.xml" Id="Reba2d48dc5d54f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7bde57cf4244ac" /><Relationship Type="http://schemas.openxmlformats.org/officeDocument/2006/relationships/notesMaster" Target="/ppt/notesMasters/notesMaster1.xml" Id="Rbe7aeea5351a4d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b48175809e4949" /><Relationship Type="http://schemas.openxmlformats.org/officeDocument/2006/relationships/notesMaster" Target="/ppt/notesMasters/notesMaster1.xml" Id="R747f0ebff8aa48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4052a7391f0420d" /><Relationship Type="http://schemas.openxmlformats.org/officeDocument/2006/relationships/notesMaster" Target="/ppt/notesMasters/notesMaster1.xml" Id="Rd84dfdb5ea2f4d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10초</a:t>
            </a:r>
            <a:endParaRPr/>
          </a:p>
          <a:p xmlns:a="http://schemas.openxmlformats.org/drawingml/2006/main">
            <a:r>
              <a:t>10분: 15초</a:t>
            </a:r>
            <a:endParaRPr/>
          </a:p>
          <a:p xmlns:a="http://schemas.openxmlformats.org/drawingml/2006/main">
            <a:r>
              <a:t/>
            </a:r>
            <a:endParaRPr/>
          </a:p>
          <a:p xmlns:a="http://schemas.openxmlformats.org/drawingml/2006/main">
            <a:r>
              <a:t>안전반장은 작은 건설 현장의 작업 전 안전 공유와 조치 사진 검토를 연결하는 앱입니다.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30초</a:t>
            </a:r>
            <a:endParaRPr/>
          </a:p>
          <a:p xmlns:a="http://schemas.openxmlformats.org/drawingml/2006/main">
            <a:r>
              <a:t>10분: 40초</a:t>
            </a:r>
            <a:endParaRPr/>
          </a:p>
          <a:p xmlns:a="http://schemas.openxmlformats.org/drawingml/2006/main">
            <a:r>
              <a:t/>
            </a:r>
            <a:endParaRPr/>
          </a:p>
          <a:p xmlns:a="http://schemas.openxmlformats.org/drawingml/2006/main">
            <a:r>
              <a:t>2024년 재해조사 대상 사고사망자 589명 중 소규모 사업장·현장이 339명입니다. 약 58%이며 건설업은 50억 미만, 다른 업종은 50인 미만 기준입니다. TBM 미실시율을 뜻하는 수치는 아닙니다. 현장의 안전 공유와 흩어진 기록을 하나의 흐름으로 묶고자 했습니다.</a:t>
            </a:r>
            <a:endParaRPr/>
          </a:p>
          <a:p xmlns:a="http://schemas.openxmlformats.org/drawingml/2006/main">
            <a:r>
              <a:t>출처: https://www.moel.go.kr/news/enews/report/enewsView.do?news_seq=17595 (2025-03-11 발표, 2024 잠정 통계;50인(억)미만339/589)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건너뜀 (10분 전용)</a:t>
            </a:r>
            <a:endParaRPr/>
          </a:p>
          <a:p xmlns:a="http://schemas.openxmlformats.org/drawingml/2006/main">
            <a:r>
              <a:t>10분: 35초</a:t>
            </a:r>
            <a:endParaRPr/>
          </a:p>
          <a:p xmlns:a="http://schemas.openxmlformats.org/drawingml/2006/main">
            <a:r>
              <a:t/>
            </a:r>
            <a:endParaRPr/>
          </a:p>
          <a:p xmlns:a="http://schemas.openxmlformats.org/drawingml/2006/main">
            <a:r>
              <a:t>JSA는 작업을 단계별로 살펴 위험과 조치를 정리하는 방식이고 TBM은 작업 전에 그 내용을 함께 확인하는 회의입니다. 이 자료는 법률 준수나 면책을 보장하지 않습니다. 법적 의무 범위는 현장별로 확인해야 합니다.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건너뜀 (10분 전용)</a:t>
            </a:r>
            <a:endParaRPr/>
          </a:p>
          <a:p xmlns:a="http://schemas.openxmlformats.org/drawingml/2006/main">
            <a:r>
              <a:t>10분: 35초</a:t>
            </a:r>
            <a:endParaRPr/>
          </a:p>
          <a:p xmlns:a="http://schemas.openxmlformats.org/drawingml/2006/main">
            <a:r>
              <a:t/>
            </a:r>
            <a:endParaRPr/>
          </a:p>
          <a:p xmlns:a="http://schemas.openxmlformats.org/drawingml/2006/main">
            <a:r>
              <a:t>표는 팀이 조사한 범위의 비교이며 대시는 기능 없음이 아니라 확인하지 못함입니다. 경쟁 제품의 전체 기능을 평가한 표는 아닙니다. 안전반장은 조치 사진 검토와 불확실한 결과의 관리자 확인에 집중합니다. 원본 경쟁 조사 자료는 별도 재검증이 필요합니다.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25초</a:t>
            </a:r>
            <a:endParaRPr/>
          </a:p>
          <a:p xmlns:a="http://schemas.openxmlformats.org/drawingml/2006/main">
            <a:r>
              <a:t>10분: 35초</a:t>
            </a:r>
            <a:endParaRPr/>
          </a:p>
          <a:p xmlns:a="http://schemas.openxmlformats.org/drawingml/2006/main">
            <a:r>
              <a:t/>
            </a:r>
            <a:endParaRPr/>
          </a:p>
          <a:p xmlns:a="http://schemas.openxmlformats.org/drawingml/2006/main">
            <a:r>
              <a:t>반장은 작업을 등록하고 안전 수칙을 전달합니다. 근로자는 맡은 작업을 확인하고 사진이나 마감 내용을 보고합니다. 반장은 보고를 검토해 다음 작업에 이어갑니다. 아래 사용 구성은 가격제나 출시 상품을 뜻하지 않습니다.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45초</a:t>
            </a:r>
          </a:p>
          <a:p xmlns:a="http://schemas.openxmlformats.org/drawingml/2006/main">
            <a:r>
              <a:t>10분: 55초</a:t>
            </a:r>
          </a:p>
          <a:p xmlns:a="http://schemas.openxmlformats.org/drawingml/2006/main">
            <a:r>
              <a:t/>
            </a:r>
          </a:p>
          <a:p xmlns:a="http://schemas.openxmlformats.org/drawingml/2006/main">
            <a:r>
              <a:t>같은 작업 하나를 따라가겠습니다. 2층 각파이프 용접, 옆에 합판이라고 입력합니다. 현장 조건을 확인한 뒤 필수·권장 수칙과 근거를 볼 수 있습니다. 미확인 조건은 현장에서 다시 확인해야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건너뜀 (10분 전용)</a:t>
            </a:r>
          </a:p>
          <a:p xmlns:a="http://schemas.openxmlformats.org/drawingml/2006/main">
            <a:r>
              <a:t>10분: 40초</a:t>
            </a:r>
          </a:p>
          <a:p xmlns:a="http://schemas.openxmlformats.org/drawingml/2006/main">
            <a:r>
              <a:t/>
            </a:r>
          </a:p>
          <a:p xmlns:a="http://schemas.openxmlformats.org/drawingml/2006/main">
            <a:r>
              <a:t>TBM 기록을 저장하면 필수 수칙과 비교해 빠진 내용을 표시합니다. 현재 누락 점검은 규칙과 표현 별칭 비교입니다. 녹음된 회의의 의미를 완전히 이해한다고 설명하지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45초</a:t>
            </a:r>
          </a:p>
          <a:p xmlns:a="http://schemas.openxmlformats.org/drawingml/2006/main">
            <a:r>
              <a:t>10분: 60초</a:t>
            </a:r>
          </a:p>
          <a:p xmlns:a="http://schemas.openxmlformats.org/drawingml/2006/main">
            <a:r>
              <a:t/>
            </a:r>
          </a:p>
          <a:p xmlns:a="http://schemas.openxmlformats.org/drawingml/2006/main">
            <a:r>
              <a:t>사진의 중요한 결과는 애매한 사진을 확인됨으로 단정하지 않는 것입니다. 캡처는 mock 동작 시연이며 실제 사진 AI 분석 결과가 아닙니다. 실제 API 모드에서는 확인됨 후보를 한 번 더 검증하고, 불확실한 결과는 관리자 확인으로 연결합니다. 사진 밖의 상황과 현장의 안전 전체를 보장하지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40초</a:t>
            </a:r>
          </a:p>
          <a:p xmlns:a="http://schemas.openxmlformats.org/drawingml/2006/main">
            <a:r>
              <a:t>10분: 45초</a:t>
            </a:r>
          </a:p>
          <a:p xmlns:a="http://schemas.openxmlformats.org/drawingml/2006/main">
            <a:r>
              <a:t/>
            </a:r>
          </a:p>
          <a:p xmlns:a="http://schemas.openxmlformats.org/drawingml/2006/main">
            <a:r>
              <a:t>근로자는 작업 내용과 위험하거나 확인이 필요한 점을 보고합니다. 반장은 검토함에서 그 보고를 확인합니다. 제출과 검토를 연결해 다음 TBM에 남길 내용을 정리할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건너뜀 (10분 전용)</a:t>
            </a:r>
          </a:p>
          <a:p xmlns:a="http://schemas.openxmlformats.org/drawingml/2006/main">
            <a:r>
              <a:t>10분: 35초</a:t>
            </a:r>
          </a:p>
          <a:p xmlns:a="http://schemas.openxmlformats.org/drawingml/2006/main">
            <a:r>
              <a:t/>
            </a:r>
          </a:p>
          <a:p xmlns:a="http://schemas.openxmlformats.org/drawingml/2006/main">
            <a:r>
              <a:t>입력한 작업과 현장 조건은 JSA 초안으로도 이어집니다. 화면은 자동 작성 초안이며 책임자의 현장 검토가 필요합니다. 작업 내용과 위험요인, 감소 대책을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건너뜀 (10분 전용)</a:t>
            </a:r>
          </a:p>
          <a:p xmlns:a="http://schemas.openxmlformats.org/drawingml/2006/main">
            <a:r>
              <a:t>10분: 50초</a:t>
            </a:r>
          </a:p>
          <a:p xmlns:a="http://schemas.openxmlformats.org/drawingml/2006/main">
            <a:r>
              <a:t/>
            </a:r>
          </a:p>
          <a:p xmlns:a="http://schemas.openxmlformats.org/drawingml/2006/main">
            <a:r>
              <a:t>작업 문장에서 조건을 추출한 뒤 규칙으로 수칙과 근거를 붙입니다. 사진은 1차 판정에서 확인됨인 경우에 추가 검증합니다. TBM 누락은 규칙 비교입니다. 불명확한 결과와 관리자 판단을 분리해서 기록합니다.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건너뜀 (10분 전용)</a:t>
            </a:r>
          </a:p>
          <a:p xmlns:a="http://schemas.openxmlformats.org/drawingml/2006/main">
            <a:r>
              <a:t>10분: 50초</a:t>
            </a:r>
          </a:p>
          <a:p xmlns:a="http://schemas.openxmlformats.org/drawingml/2006/main">
            <a:r>
              <a:t/>
            </a:r>
          </a:p>
          <a:p xmlns:a="http://schemas.openxmlformats.org/drawingml/2006/main">
            <a:r>
              <a:t>화면 캡처는 mock이고 이 수치는 별도로 이미 실행된 실제 API 개발 실험입니다. release 단계는 작업10건과 사진88건으로98회 실행했습니다. 작업 조건 점검28개가 통과했습니다. 사진 확인됨은8건이었으나 사진 라벨은 사람 검수 전 후보입니다. 정확도나 오승인율을 입증한 수치로 쓰지 않습니다. 중앙 실행시간은 약1.75초이며 이 실험 환경에 한정합니다. 본선 전 사람 검수 데이터와 실제 현장 검증이 필요합니다.</a:t>
            </a:r>
          </a:p>
          <a:p xmlns:a="http://schemas.openxmlformats.org/drawingml/2006/main">
            <a:r>
              <a:t>근거: docs/validation/live-ai-fixes/summary.json release 단계. photo_labels=unreviewed candidates. 기존 저장 결과를 사용했으며 이 작업에서 실제 API 호출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건너뜀 (10분 전용)</a:t>
            </a:r>
          </a:p>
          <a:p xmlns:a="http://schemas.openxmlformats.org/drawingml/2006/main">
            <a:r>
              <a:t>10분: 50초</a:t>
            </a:r>
          </a:p>
          <a:p xmlns:a="http://schemas.openxmlformats.org/drawingml/2006/main">
            <a:r>
              <a:t/>
            </a:r>
          </a:p>
          <a:p xmlns:a="http://schemas.openxmlformats.org/drawingml/2006/main">
            <a:r>
              <a:t>먼저 반장 단독 사용으로 작업 등록과 기록 확인 과정을 검증하고, 근로자 참여를 붙이는 현장 파일럿을 제안합니다. 등록·확인에 걸리는 시간과 누락 조치의 처리 여부를 비교하겠습니다. 고객 수, 비용 절감률, 사고 감소 효과는 아직 측정하지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30초</a:t>
            </a:r>
          </a:p>
          <a:p xmlns:a="http://schemas.openxmlformats.org/drawingml/2006/main">
            <a:r>
              <a:t>10분: 25초</a:t>
            </a:r>
          </a:p>
          <a:p xmlns:a="http://schemas.openxmlformats.org/drawingml/2006/main">
            <a:r>
              <a:t/>
            </a:r>
          </a:p>
          <a:p xmlns:a="http://schemas.openxmlformats.org/drawingml/2006/main">
            <a:r>
              <a:t>작업 전에 함께 확인하고, 작업 뒤에 조치 내용을 남기는 흐름입니다. 안전반장은 사진에 보이는 조치 확인을 돕고 확인이 어려운 것은 사람이 판단하도록 연결합니다.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b6fba07c024f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007decdc9c41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9cacac7a7b4050" /><Relationship Type="http://schemas.openxmlformats.org/officeDocument/2006/relationships/image" Target="/ppt/media/image.png" Id="Rf566d9d8afd748f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 and body">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7FC9890-AB35-4356-A6BA-8BD5EF17D175}"/>
              </a:ext>
            </a:extLst>
          </p:cNvPr>
          <p:cNvSpPr>
            <a:spLocks xmlns:a="http://schemas.openxmlformats.org/drawingml/2006/main" noGrp="1"/>
          </p:cNvSpPr>
          <p:nvPr>
            <p:ph type="title" idx="0"/>
          </p:nvPr>
        </p:nvSpPr>
        <p:spPr>
          <a:xfrm xmlns:a="http://schemas.openxmlformats.org/drawingml/2006/main">
            <a:off x="812772" y="1229287"/>
            <a:ext cx="10566452" cy="45715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000">
                <a:solidFill>
                  <a:srgbClr val="1F2937"/>
                </a:solidFill>
                <a:latin typeface="Pretendard"/>
                <a:ea typeface="Pretendard"/>
                <a:cs typeface="Pretendard"/>
              </a:defRPr>
            </a:lvl1pPr>
          </a:lstStyle>
          <a:p xmlns:a="http://schemas.openxmlformats.org/drawingml/2006/main">
            <a:pPr marL="0" indent="0" algn="l">
              <a:lnSpc>
                <a:spcPct val="115000"/>
              </a:lnSpc>
              <a:buNone/>
            </a:pPr>
            <a:endParaRPr sz="3000"/>
          </a:p>
        </p:txBody>
      </p:sp>
      <p:sp>
        <p:nvSpPr>
          <p:cNvPr id="3" name="Text Placeholder 2">
            <a:extLst xmlns:a="http://schemas.openxmlformats.org/drawingml/2006/main">
              <a:ext uri="{FF2B5EF4-FFF2-40B4-BE49-F238E27FC236}">
                <a16:creationId xmlns:a16="http://schemas.microsoft.com/office/drawing/2014/main" id="{A1ACFFA6-803D-424D-87F1-B7D71E3B092E}"/>
              </a:ext>
            </a:extLst>
          </p:cNvPr>
          <p:cNvSpPr>
            <a:spLocks xmlns:a="http://schemas.openxmlformats.org/drawingml/2006/main" noGrp="1"/>
          </p:cNvSpPr>
          <p:nvPr>
            <p:ph type="body" idx="101"/>
          </p:nvPr>
        </p:nvSpPr>
        <p:spPr>
          <a:xfrm xmlns:a="http://schemas.openxmlformats.org/drawingml/2006/main">
            <a:off x="812772" y="1991240"/>
            <a:ext cx="10566428" cy="4053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F2937"/>
                </a:solidFill>
                <a:latin typeface="Noto Sans KR"/>
                <a:ea typeface="Noto Sans KR"/>
                <a:cs typeface="Noto Sans KR"/>
              </a:defRPr>
            </a:lvl1pPr>
          </a:lstStyle>
          <a:p xmlns:a="http://schemas.openxmlformats.org/drawingml/2006/main">
            <a:pPr marL="0" indent="0" algn="l">
              <a:lnSpc>
                <a:spcPct val="140000"/>
              </a:lnSpc>
              <a:buNone/>
            </a:pPr>
            <a:endParaRPr sz="1600"/>
          </a:p>
        </p:txBody>
      </p:sp>
    </p:spTree>
  </p:cSld>
</p:sldLayout>
</file>

<file path=ppt/slideLayouts/slideLayout3.xml><?xml version="1.0" encoding="utf-8"?>
<p:sldLayout xmlns:p="http://schemas.openxmlformats.org/presentationml/2006/main" preserve="1">
  <p:cSld name="Slide background 1">
    <p:bg>
      <p:bgPr>
        <a:blipFill xmlns:a="http://schemas.openxmlformats.org/drawingml/2006/main" rotWithShape="1">
          <a:blip xmlns:r="http://schemas.openxmlformats.org/officeDocument/2006/relationships" r:embed="Rf566d9d8afd748fa">
            <a:lum/>
          </a:blip>
          <a:srcRect l="0" t="0" r="0" b="0"/>
          <a:stretch>
            <a:fillRect l="0" t="0" r="0" b="0"/>
          </a:stretch>
        </a:blip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3963969-F851-4634-A7F9-50BE2F466A1B}"/>
              </a:ext>
            </a:extLst>
          </p:cNvPr>
          <p:cNvSpPr>
            <a:spLocks xmlns:a="http://schemas.openxmlformats.org/drawingml/2006/main" noGrp="1"/>
          </p:cNvSpPr>
          <p:nvPr>
            <p:ph type="title" idx="0"/>
          </p:nvPr>
        </p:nvSpPr>
        <p:spPr>
          <a:xfrm xmlns:a="http://schemas.openxmlformats.org/drawingml/2006/main">
            <a:off x="812772" y="1229287"/>
            <a:ext cx="10566452" cy="45715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000">
                <a:solidFill>
                  <a:srgbClr val="1F2937"/>
                </a:solidFill>
                <a:latin typeface="Pretendard"/>
                <a:ea typeface="Pretendard"/>
                <a:cs typeface="Pretendard"/>
              </a:defRPr>
            </a:lvl1pPr>
          </a:lstStyle>
          <a:p xmlns:a="http://schemas.openxmlformats.org/drawingml/2006/main">
            <a:pPr marL="0" indent="0" algn="l">
              <a:lnSpc>
                <a:spcPct val="115000"/>
              </a:lnSpc>
              <a:buNone/>
            </a:pPr>
            <a:endParaRPr sz="3000"/>
          </a:p>
        </p:txBody>
      </p:sp>
      <p:sp>
        <p:nvSpPr>
          <p:cNvPr id="3" name="Text Placeholder 2">
            <a:extLst xmlns:a="http://schemas.openxmlformats.org/drawingml/2006/main">
              <a:ext uri="{FF2B5EF4-FFF2-40B4-BE49-F238E27FC236}">
                <a16:creationId xmlns:a16="http://schemas.microsoft.com/office/drawing/2014/main" id="{307C648A-C1D4-442D-8FE5-56D14B1DEF6C}"/>
              </a:ext>
            </a:extLst>
          </p:cNvPr>
          <p:cNvSpPr>
            <a:spLocks xmlns:a="http://schemas.openxmlformats.org/drawingml/2006/main" noGrp="1"/>
          </p:cNvSpPr>
          <p:nvPr>
            <p:ph type="body" idx="101"/>
          </p:nvPr>
        </p:nvSpPr>
        <p:spPr>
          <a:xfrm xmlns:a="http://schemas.openxmlformats.org/drawingml/2006/main">
            <a:off x="812772" y="1991240"/>
            <a:ext cx="10566428" cy="4053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F2937"/>
                </a:solidFill>
                <a:latin typeface="Noto Sans KR"/>
                <a:ea typeface="Noto Sans KR"/>
                <a:cs typeface="Noto Sans KR"/>
              </a:defRPr>
            </a:lvl1pPr>
          </a:lstStyle>
          <a:p xmlns:a="http://schemas.openxmlformats.org/drawingml/2006/main">
            <a:pPr marL="0" indent="0" algn="l">
              <a:lnSpc>
                <a:spcPct val="140000"/>
              </a:lnSpc>
              <a:buNone/>
            </a:pPr>
            <a:endParaRPr sz="16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cbfca698f140d1" /><Relationship Type="http://schemas.openxmlformats.org/officeDocument/2006/relationships/slideLayout" Target="/ppt/slideLayouts/slideLayout1.xml" Id="Ra563ad809ac7414f" /><Relationship Type="http://schemas.openxmlformats.org/officeDocument/2006/relationships/slideLayout" Target="/ppt/slideLayouts/slideLayout2.xml" Id="R095bf196b43446c1" /><Relationship Type="http://schemas.openxmlformats.org/officeDocument/2006/relationships/slideLayout" Target="/ppt/slideLayouts/slideLayout3.xml" Id="R4d0a4d25de3e4ec0" /></Relationships>
</file>

<file path=ppt/slideMasters/slideMaster1.xml><?xml version="1.0" encoding="utf-8"?>
<p:sldMaster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158902A-D75D-498C-9082-9B7A4A74A1D2}"/>
              </a:ext>
            </a:extLst>
          </p:cNvPr>
          <p:cNvSpPr>
            <a:spLocks xmlns:a="http://schemas.openxmlformats.org/drawingml/2006/main" noGrp="1"/>
          </p:cNvSpPr>
          <p:nvPr>
            <p:ph type="title" idx="0"/>
          </p:nvPr>
        </p:nvSpPr>
        <p:spPr>
          <a:xfrm xmlns:a="http://schemas.openxmlformats.org/drawingml/2006/main">
            <a:off x="812772" y="1229287"/>
            <a:ext cx="10566452" cy="45715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000">
                <a:solidFill>
                  <a:srgbClr val="1F2937"/>
                </a:solidFill>
                <a:latin typeface="Pretendard"/>
                <a:ea typeface="Pretendard"/>
                <a:cs typeface="Pretendard"/>
              </a:defRPr>
            </a:lvl1pPr>
          </a:lstStyle>
          <a:p xmlns:a="http://schemas.openxmlformats.org/drawingml/2006/main">
            <a:pPr marL="0" indent="0" algn="l">
              <a:lnSpc>
                <a:spcPct val="115000"/>
              </a:lnSpc>
              <a:buNone/>
            </a:pPr>
            <a:endParaRPr sz="3000"/>
          </a:p>
        </p:txBody>
      </p:sp>
      <p:sp>
        <p:nvSpPr>
          <p:cNvPr id="3" name="Text Placeholder 2">
            <a:extLst xmlns:a="http://schemas.openxmlformats.org/drawingml/2006/main">
              <a:ext uri="{FF2B5EF4-FFF2-40B4-BE49-F238E27FC236}">
                <a16:creationId xmlns:a16="http://schemas.microsoft.com/office/drawing/2014/main" id="{D5353041-99CD-4B48-AB47-AD782B95DB57}"/>
              </a:ext>
            </a:extLst>
          </p:cNvPr>
          <p:cNvSpPr>
            <a:spLocks xmlns:a="http://schemas.openxmlformats.org/drawingml/2006/main" noGrp="1"/>
          </p:cNvSpPr>
          <p:nvPr>
            <p:ph type="body" idx="101"/>
          </p:nvPr>
        </p:nvSpPr>
        <p:spPr>
          <a:xfrm xmlns:a="http://schemas.openxmlformats.org/drawingml/2006/main">
            <a:off x="812772" y="1991240"/>
            <a:ext cx="10566428" cy="4053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F2937"/>
                </a:solidFill>
                <a:latin typeface="Noto Sans KR"/>
                <a:ea typeface="Noto Sans KR"/>
                <a:cs typeface="Noto Sans KR"/>
              </a:defRPr>
            </a:lvl1pPr>
          </a:lstStyle>
          <a:p xmlns:a="http://schemas.openxmlformats.org/drawingml/2006/main">
            <a:pPr marL="0" indent="0" algn="l">
              <a:lnSpc>
                <a:spcPct val="140000"/>
              </a:lnSpc>
              <a:buNone/>
            </a:pPr>
            <a:endParaRPr sz="16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63ad809ac7414f"/>
    <p:sldLayoutId xmlns:r="http://schemas.openxmlformats.org/officeDocument/2006/relationships" id="2147483650" r:id="R095bf196b43446c1"/>
    <p:sldLayoutId xmlns:r="http://schemas.openxmlformats.org/officeDocument/2006/relationships" id="2147483651" r:id="R4d0a4d25de3e4ec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안전반장 4분 발표">
  <a:themeElements>
    <a:clrScheme name="안전반장 4분 발표">
      <a:dk1>
        <a:srgbClr val="1F2937"/>
      </a:dk1>
      <a:lt1>
        <a:srgbClr val="F8FAFC"/>
      </a:lt1>
      <a:dk2>
        <a:srgbClr val="555D68"/>
      </a:dk2>
      <a:lt2>
        <a:srgbClr val="E2E5E8"/>
      </a:lt2>
      <a:accent1>
        <a:srgbClr val="1D4ED8"/>
      </a:accent1>
      <a:accent2>
        <a:srgbClr val="DC2626"/>
      </a:accent2>
      <a:accent3>
        <a:srgbClr val="15803D"/>
      </a:accent3>
      <a:accent4>
        <a:srgbClr val="F59E0B"/>
      </a:accent4>
      <a:accent5>
        <a:srgbClr val="6D28D9"/>
      </a:accent5>
      <a:accent6>
        <a:srgbClr val="6B7280"/>
      </a:accent6>
      <a:hlink>
        <a:srgbClr val="0563C1"/>
      </a:hlink>
      <a:folHlink>
        <a:srgbClr val="954F72"/>
      </a:folHlink>
    </a:clrScheme>
    <a:fontScheme name="안전반장 4분 발표">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안전반장 4분 발표">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9e031af8680443af" /><Relationship Type="http://schemas.openxmlformats.org/officeDocument/2006/relationships/image" Target="/ppt/media/image2.png" Id="R21ea131052254a00" /><Relationship Type="http://schemas.openxmlformats.org/officeDocument/2006/relationships/notesSlide" Target="/ppt/notesSlides/notesSlide1.xml" Id="R758b7076cf214b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212288ddf9df4eca" /><Relationship Type="http://schemas.openxmlformats.org/officeDocument/2006/relationships/notesSlide" Target="/ppt/notesSlides/notesSlide2.xml" Id="R85c2714bfc5541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67b00fa27e7946d9" /><Relationship Type="http://schemas.openxmlformats.org/officeDocument/2006/relationships/notesSlide" Target="/ppt/notesSlides/notesSlide3.xml" Id="Rc5626dffc2c341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27e92711f6b448ae" /><Relationship Type="http://schemas.openxmlformats.org/officeDocument/2006/relationships/image" Target="/ppt/media/image3.png" Id="Rafa298a562a746eb" /><Relationship Type="http://schemas.openxmlformats.org/officeDocument/2006/relationships/image" Target="/ppt/media/image4.png" Id="Rfbb63fa6848449d1" /><Relationship Type="http://schemas.openxmlformats.org/officeDocument/2006/relationships/image" Target="/ppt/media/image5.png" Id="R0ee2dbb10bb94791" /><Relationship Type="http://schemas.openxmlformats.org/officeDocument/2006/relationships/notesSlide" Target="/ppt/notesSlides/notesSlide4.xml" Id="R652e482f5eac43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42ce2294638d4584" /><Relationship Type="http://schemas.openxmlformats.org/officeDocument/2006/relationships/image" Target="/ppt/media/image6.png" Id="R7b3614ce88244f92" /><Relationship Type="http://schemas.openxmlformats.org/officeDocument/2006/relationships/image" Target="/ppt/media/image7.png" Id="Rc7d26f5dc8a44063" /><Relationship Type="http://schemas.openxmlformats.org/officeDocument/2006/relationships/notesSlide" Target="/ppt/notesSlides/notesSlide5.xml" Id="R19820a59ce864f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37d4815543c340aa" /><Relationship Type="http://schemas.openxmlformats.org/officeDocument/2006/relationships/image" Target="/ppt/media/image8.png" Id="Reac5dd80cd564ecc" /><Relationship Type="http://schemas.openxmlformats.org/officeDocument/2006/relationships/image" Target="/ppt/media/image9.png" Id="Rc7355fa870e44087" /><Relationship Type="http://schemas.openxmlformats.org/officeDocument/2006/relationships/notesSlide" Target="/ppt/notesSlides/notesSlide6.xml" Id="R15ea0a4ecbb744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13a6cc23c4b44cea" /><Relationship Type="http://schemas.openxmlformats.org/officeDocument/2006/relationships/image" Target="/ppt/media/image10.png" Id="Radb497d0212a4410" /><Relationship Type="http://schemas.openxmlformats.org/officeDocument/2006/relationships/notesSlide" Target="/ppt/notesSlides/notesSlide7.xml" Id="Rf57f4217490843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c7a5862a1bc44c43" /><Relationship Type="http://schemas.openxmlformats.org/officeDocument/2006/relationships/image" Target="/ppt/media/image11.png" Id="R27b5b554815840a4" /><Relationship Type="http://schemas.openxmlformats.org/officeDocument/2006/relationships/image" Target="/ppt/media/image12.png" Id="Rad5fd512ed29452b" /><Relationship Type="http://schemas.openxmlformats.org/officeDocument/2006/relationships/notesSlide" Target="/ppt/notesSlides/notesSlide8.xml" Id="R7dad6f6c863f49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c0602e11fbe34184" /><Relationship Type="http://schemas.openxmlformats.org/officeDocument/2006/relationships/image" Target="/ppt/media/image13.png" Id="R689ef7b468b24d93" /><Relationship Type="http://schemas.openxmlformats.org/officeDocument/2006/relationships/image" Target="/ppt/media/image14.png" Id="R173a9cd97a3c4d98" /><Relationship Type="http://schemas.openxmlformats.org/officeDocument/2006/relationships/notesSlide" Target="/ppt/notesSlides/notesSlide9.xml" Id="R562f226249724a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bc9f26805a7f4040" /><Relationship Type="http://schemas.openxmlformats.org/officeDocument/2006/relationships/image" Target="/ppt/media/image15.png" Id="R7c7e6e23fb024068" /><Relationship Type="http://schemas.openxmlformats.org/officeDocument/2006/relationships/image" Target="/ppt/media/image16.png" Id="R53328cb080c54e4e" /><Relationship Type="http://schemas.openxmlformats.org/officeDocument/2006/relationships/notesSlide" Target="/ppt/notesSlides/notesSlide10.xml" Id="R563d0f2742394b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615e3b94a5924d20" /><Relationship Type="http://schemas.openxmlformats.org/officeDocument/2006/relationships/notesSlide" Target="/ppt/notesSlides/notesSlide11.xml" Id="R19063fe663fe4a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bfeee2e3f9574f36" /><Relationship Type="http://schemas.openxmlformats.org/officeDocument/2006/relationships/notesSlide" Target="/ppt/notesSlides/notesSlide12.xml" Id="R536f78b12fcc44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667d6137f71f4cc6" /><Relationship Type="http://schemas.openxmlformats.org/officeDocument/2006/relationships/notesSlide" Target="/ppt/notesSlides/notesSlide13.xml" Id="Rd5ec65b9e53944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36ae6a712f17451d" /><Relationship Type="http://schemas.openxmlformats.org/officeDocument/2006/relationships/notesSlide" Target="/ppt/notesSlides/notesSlide14.xml" Id="Rd59ebe2fb52a48c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BA9B11A-795D-4128-AB4A-9C94BBEC859C}"/>
              </a:ext>
            </a:extLst>
          </p:cNvPr>
          <p:cNvPicPr>
            <a:picLocks xmlns:a="http://schemas.openxmlformats.org/drawingml/2006/main" noChangeAspect="1"/>
          </p:cNvPicPr>
          <p:nvPr/>
        </p:nvPicPr>
        <p:blipFill>
          <a:blip xmlns:r="http://schemas.openxmlformats.org/officeDocument/2006/relationships" xmlns:a="http://schemas.openxmlformats.org/drawingml/2006/main" r:embed="R21ea131052254a00"/>
          <a:srcRect xmlns:a="http://schemas.openxmlformats.org/drawingml/2006/main" l="0" t="0" r="0" b="0"/>
          <a:stretch xmlns:a="http://schemas.openxmlformats.org/drawingml/2006/main"/>
        </p:blipFill>
        <p:spPr>
          <a:xfrm xmlns:a="http://schemas.openxmlformats.org/drawingml/2006/main">
            <a:off x="9093250" y="2095462"/>
            <a:ext cx="2285974" cy="2285974"/>
          </a:xfrm>
          <a:prstGeom xmlns:a="http://schemas.openxmlformats.org/drawingml/2006/main" prst="roundRect">
            <a:avLst>
              <a:gd name="adj" fmla="val 25000"/>
            </a:avLst>
          </a:prstGeom>
          <a:effectLst xmlns:a="http://schemas.openxmlformats.org/drawingml/2006/main">
            <a:outerShdw blurRad="304800" dist="127000" dir="5400000" sx="100000" sy="100000" kx="0" ky="0" algn="bl" rotWithShape="0">
              <a:srgbClr val="1D4ED8">
                <a:alpha val="28000"/>
              </a:srgbClr>
            </a:outerShdw>
          </a:effectLst>
        </p:spPr>
      </p:pic>
      <p:sp>
        <p:nvSpPr>
          <p:cNvPr id="3" name="Shape 0">
            <a:extLst xmlns:a="http://schemas.openxmlformats.org/drawingml/2006/main">
              <a:ext uri="{FF2B5EF4-FFF2-40B4-BE49-F238E27FC236}">
                <a16:creationId xmlns:a16="http://schemas.microsoft.com/office/drawing/2014/main" id="{55FF59C5-50E4-4FD6-A737-29CA339CB0E5}"/>
              </a:ext>
            </a:extLst>
          </p:cNvPr>
          <p:cNvSpPr>
            <a:spLocks xmlns:a="http://schemas.openxmlformats.org/drawingml/2006/main" noGrp="1"/>
          </p:cNvSpPr>
          <p:nvPr/>
        </p:nvSpPr>
        <p:spPr>
          <a:xfrm xmlns:a="http://schemas.openxmlformats.org/drawingml/2006/main">
            <a:off x="812772" y="868645"/>
            <a:ext cx="101576" cy="101576"/>
          </a:xfrm>
          <a:prstGeom xmlns:a="http://schemas.openxmlformats.org/drawingml/2006/main" prst="roundRect">
            <a:avLst>
              <a:gd name="adj" fmla="val 50000"/>
            </a:avLst>
          </a:prstGeom>
          <a:solidFill xmlns:a="http://schemas.openxmlformats.org/drawingml/2006/main">
            <a:srgbClr val="1D4ED8"/>
          </a:solidFill>
        </p:spPr>
      </p:sp>
      <p:sp>
        <p:nvSpPr>
          <p:cNvPr id="4" name="Shape 1">
            <a:extLst xmlns:a="http://schemas.openxmlformats.org/drawingml/2006/main">
              <a:ext uri="{FF2B5EF4-FFF2-40B4-BE49-F238E27FC236}">
                <a16:creationId xmlns:a16="http://schemas.microsoft.com/office/drawing/2014/main" id="{F7BB05F1-7F98-4BB8-9411-B23F296F212F}"/>
              </a:ext>
            </a:extLst>
          </p:cNvPr>
          <p:cNvSpPr>
            <a:spLocks xmlns:a="http://schemas.openxmlformats.org/drawingml/2006/main" noGrp="1"/>
          </p:cNvSpPr>
          <p:nvPr/>
        </p:nvSpPr>
        <p:spPr>
          <a:xfrm xmlns:a="http://schemas.openxmlformats.org/drawingml/2006/main">
            <a:off x="990520" y="868645"/>
            <a:ext cx="101576" cy="101576"/>
          </a:xfrm>
          <a:prstGeom xmlns:a="http://schemas.openxmlformats.org/drawingml/2006/main" prst="roundRect">
            <a:avLst>
              <a:gd name="adj" fmla="val 50000"/>
            </a:avLst>
          </a:prstGeom>
          <a:solidFill xmlns:a="http://schemas.openxmlformats.org/drawingml/2006/main">
            <a:srgbClr val="15803D"/>
          </a:solidFill>
        </p:spPr>
      </p:sp>
      <p:sp>
        <p:nvSpPr>
          <p:cNvPr id="5" name="Shape 2">
            <a:extLst xmlns:a="http://schemas.openxmlformats.org/drawingml/2006/main">
              <a:ext uri="{FF2B5EF4-FFF2-40B4-BE49-F238E27FC236}">
                <a16:creationId xmlns:a16="http://schemas.microsoft.com/office/drawing/2014/main" id="{AEC02015-C137-44EF-A4D9-61AD1EAB19E8}"/>
              </a:ext>
            </a:extLst>
          </p:cNvPr>
          <p:cNvSpPr>
            <a:spLocks xmlns:a="http://schemas.openxmlformats.org/drawingml/2006/main" noGrp="1"/>
          </p:cNvSpPr>
          <p:nvPr/>
        </p:nvSpPr>
        <p:spPr>
          <a:xfrm xmlns:a="http://schemas.openxmlformats.org/drawingml/2006/main">
            <a:off x="1168268" y="868645"/>
            <a:ext cx="101576" cy="101576"/>
          </a:xfrm>
          <a:prstGeom xmlns:a="http://schemas.openxmlformats.org/drawingml/2006/main" prst="roundRect">
            <a:avLst>
              <a:gd name="adj" fmla="val 50000"/>
            </a:avLst>
          </a:prstGeom>
          <a:solidFill xmlns:a="http://schemas.openxmlformats.org/drawingml/2006/main">
            <a:srgbClr val="F59E0B"/>
          </a:solidFill>
        </p:spPr>
      </p:sp>
      <p:sp>
        <p:nvSpPr>
          <p:cNvPr id="6" name="Shape 3">
            <a:extLst xmlns:a="http://schemas.openxmlformats.org/drawingml/2006/main">
              <a:ext uri="{FF2B5EF4-FFF2-40B4-BE49-F238E27FC236}">
                <a16:creationId xmlns:a16="http://schemas.microsoft.com/office/drawing/2014/main" id="{C6484D10-8DFD-4414-A7E8-60C6079CD52F}"/>
              </a:ext>
            </a:extLst>
          </p:cNvPr>
          <p:cNvSpPr>
            <a:spLocks xmlns:a="http://schemas.openxmlformats.org/drawingml/2006/main" noGrp="1"/>
          </p:cNvSpPr>
          <p:nvPr/>
        </p:nvSpPr>
        <p:spPr>
          <a:xfrm xmlns:a="http://schemas.openxmlformats.org/drawingml/2006/main">
            <a:off x="1346015" y="868645"/>
            <a:ext cx="101576" cy="101576"/>
          </a:xfrm>
          <a:prstGeom xmlns:a="http://schemas.openxmlformats.org/drawingml/2006/main" prst="roundRect">
            <a:avLst>
              <a:gd name="adj" fmla="val 50000"/>
            </a:avLst>
          </a:prstGeom>
          <a:solidFill xmlns:a="http://schemas.openxmlformats.org/drawingml/2006/main">
            <a:srgbClr val="6D28D9"/>
          </a:solidFill>
        </p:spPr>
      </p:sp>
      <p:sp>
        <p:nvSpPr>
          <p:cNvPr id="7" name="Shape 4">
            <a:extLst xmlns:a="http://schemas.openxmlformats.org/drawingml/2006/main">
              <a:ext uri="{FF2B5EF4-FFF2-40B4-BE49-F238E27FC236}">
                <a16:creationId xmlns:a16="http://schemas.microsoft.com/office/drawing/2014/main" id="{B219AADC-EA78-4583-A2B1-08F986E51D39}"/>
              </a:ext>
            </a:extLst>
          </p:cNvPr>
          <p:cNvSpPr>
            <a:spLocks xmlns:a="http://schemas.openxmlformats.org/drawingml/2006/main" noGrp="1"/>
          </p:cNvSpPr>
          <p:nvPr/>
        </p:nvSpPr>
        <p:spPr>
          <a:xfrm xmlns:a="http://schemas.openxmlformats.org/drawingml/2006/main">
            <a:off x="1523763" y="868645"/>
            <a:ext cx="101576" cy="101576"/>
          </a:xfrm>
          <a:prstGeom xmlns:a="http://schemas.openxmlformats.org/drawingml/2006/main" prst="roundRect">
            <a:avLst>
              <a:gd name="adj" fmla="val 50000"/>
            </a:avLst>
          </a:prstGeom>
          <a:solidFill xmlns:a="http://schemas.openxmlformats.org/drawingml/2006/main">
            <a:srgbClr val="DC2626"/>
          </a:solidFill>
        </p:spPr>
      </p:sp>
      <p:sp>
        <p:nvSpPr>
          <p:cNvPr id="8" name="Text 5">
            <a:extLst xmlns:a="http://schemas.openxmlformats.org/drawingml/2006/main">
              <a:ext uri="{FF2B5EF4-FFF2-40B4-BE49-F238E27FC236}">
                <a16:creationId xmlns:a16="http://schemas.microsoft.com/office/drawing/2014/main" id="{87EB2075-6295-434D-9468-03EF50E934CD}"/>
              </a:ext>
            </a:extLst>
          </p:cNvPr>
          <p:cNvSpPr>
            <a:spLocks xmlns:a="http://schemas.openxmlformats.org/drawingml/2006/main" noGrp="1"/>
          </p:cNvSpPr>
          <p:nvPr/>
        </p:nvSpPr>
        <p:spPr>
          <a:xfrm xmlns:a="http://schemas.openxmlformats.org/drawingml/2006/main">
            <a:off x="1803128" y="812772"/>
            <a:ext cx="3787371"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1D4ED8"/>
                </a:solidFill>
                <a:latin typeface="Noto Sans KR"/>
                <a:ea typeface="Noto Sans KR"/>
                <a:cs typeface="Noto Sans KR"/>
              </a:rPr>
              <a:t>TRACK 1 · AI SAFETY &amp; RESILIENCE</a:t>
            </a:r>
            <a:endParaRPr sz="1200"/>
          </a:p>
        </p:txBody>
      </p:sp>
      <p:sp>
        <p:nvSpPr>
          <p:cNvPr id="9" name="Text 6">
            <a:extLst xmlns:a="http://schemas.openxmlformats.org/drawingml/2006/main">
              <a:ext uri="{FF2B5EF4-FFF2-40B4-BE49-F238E27FC236}">
                <a16:creationId xmlns:a16="http://schemas.microsoft.com/office/drawing/2014/main" id="{A2C3FA47-FDB6-4C1A-97F1-619355CE2E46}"/>
              </a:ext>
            </a:extLst>
          </p:cNvPr>
          <p:cNvSpPr>
            <a:spLocks xmlns:a="http://schemas.openxmlformats.org/drawingml/2006/main" noGrp="1"/>
          </p:cNvSpPr>
          <p:nvPr>
            <p:ph type="title" idx="0"/>
          </p:nvPr>
        </p:nvSpPr>
        <p:spPr>
          <a:xfrm xmlns:a="http://schemas.openxmlformats.org/drawingml/2006/main">
            <a:off x="812772" y="3289175"/>
            <a:ext cx="10883445" cy="14223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1000"/>
              </a:lnSpc>
              <a:buNone/>
            </a:pPr>
            <a:r>
              <a:rPr sz="11000" b="1" i="0" spc="-300">
                <a:solidFill>
                  <a:srgbClr val="1F2937"/>
                </a:solidFill>
                <a:latin typeface="Pretendard"/>
                <a:ea typeface="Pretendard"/>
                <a:cs typeface="Pretendard"/>
              </a:rPr>
              <a:t>안전반장</a:t>
            </a:r>
            <a:endParaRPr sz="11000"/>
          </a:p>
        </p:txBody>
      </p:sp>
      <p:sp>
        <p:nvSpPr>
          <p:cNvPr id="10" name="Text 7">
            <a:extLst xmlns:a="http://schemas.openxmlformats.org/drawingml/2006/main">
              <a:ext uri="{FF2B5EF4-FFF2-40B4-BE49-F238E27FC236}">
                <a16:creationId xmlns:a16="http://schemas.microsoft.com/office/drawing/2014/main" id="{7ECAA3EA-3B8B-4B18-A310-D57181D9B4BA}"/>
              </a:ext>
            </a:extLst>
          </p:cNvPr>
          <p:cNvSpPr>
            <a:spLocks xmlns:a="http://schemas.openxmlformats.org/drawingml/2006/main" noGrp="1"/>
          </p:cNvSpPr>
          <p:nvPr/>
        </p:nvSpPr>
        <p:spPr>
          <a:xfrm xmlns:a="http://schemas.openxmlformats.org/drawingml/2006/main">
            <a:off x="812772" y="4889357"/>
            <a:ext cx="10883445" cy="66540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520"/>
              </a:lnSpc>
              <a:buNone/>
            </a:pPr>
            <a:r>
              <a:rPr sz="1800">
                <a:solidFill>
                  <a:srgbClr val="6B7280"/>
                </a:solidFill>
                <a:latin typeface="Noto Sans KR"/>
                <a:ea typeface="Noto Sans KR"/>
                <a:cs typeface="Noto Sans KR"/>
              </a:rPr>
              <a:t>건설·공사 현장의 관리자와 근로자를 위한</a:t>
            </a:r>
            <a:endParaRPr sz="1800"/>
          </a:p>
          <a:p xmlns:a="http://schemas.openxmlformats.org/drawingml/2006/main">
            <a:pPr marL="0" indent="0" algn="l">
              <a:lnSpc>
                <a:spcPts val="2520"/>
              </a:lnSpc>
              <a:buNone/>
            </a:pPr>
            <a:r>
              <a:rPr sz="1800">
                <a:solidFill>
                  <a:srgbClr val="6B7280"/>
                </a:solidFill>
                <a:latin typeface="Noto Sans KR"/>
                <a:ea typeface="Noto Sans KR"/>
                <a:cs typeface="Noto Sans KR"/>
              </a:rPr>
              <a:t>안전 관리 스마트폰 앱</a:t>
            </a:r>
            <a:endParaRPr sz="1800"/>
          </a:p>
        </p:txBody>
      </p:sp>
      <p:sp>
        <p:nvSpPr>
          <p:cNvPr id="11" name="Shape 8">
            <a:extLst xmlns:a="http://schemas.openxmlformats.org/drawingml/2006/main">
              <a:ext uri="{FF2B5EF4-FFF2-40B4-BE49-F238E27FC236}">
                <a16:creationId xmlns:a16="http://schemas.microsoft.com/office/drawing/2014/main" id="{4916329E-3C41-4BE0-A9CF-2A588A1C157A}"/>
              </a:ext>
            </a:extLst>
          </p:cNvPr>
          <p:cNvSpPr>
            <a:spLocks xmlns:a="http://schemas.openxmlformats.org/drawingml/2006/main" noGrp="1"/>
          </p:cNvSpPr>
          <p:nvPr/>
        </p:nvSpPr>
        <p:spPr>
          <a:xfrm xmlns:a="http://schemas.openxmlformats.org/drawingml/2006/main">
            <a:off x="812772" y="5735731"/>
            <a:ext cx="10566452" cy="0"/>
          </a:xfrm>
          <a:prstGeom xmlns:a="http://schemas.openxmlformats.org/drawingml/2006/main" prst="line">
            <a:avLst/>
          </a:prstGeom>
          <a:noFill xmlns:a="http://schemas.openxmlformats.org/drawingml/2006/main"/>
          <a:ln xmlns:a="http://schemas.openxmlformats.org/drawingml/2006/main" w="6350">
            <a:solidFill>
              <a:srgbClr val="D0D5DD"/>
            </a:solidFill>
            <a:prstDash val="solid"/>
          </a:ln>
        </p:spPr>
      </p:sp>
      <p:sp>
        <p:nvSpPr>
          <p:cNvPr id="12" name="Text 9">
            <a:extLst xmlns:a="http://schemas.openxmlformats.org/drawingml/2006/main">
              <a:ext uri="{FF2B5EF4-FFF2-40B4-BE49-F238E27FC236}">
                <a16:creationId xmlns:a16="http://schemas.microsoft.com/office/drawing/2014/main" id="{2ABB2A75-D82C-4431-B3F9-C69844C7D968}"/>
              </a:ext>
            </a:extLst>
          </p:cNvPr>
          <p:cNvSpPr>
            <a:spLocks xmlns:a="http://schemas.openxmlformats.org/drawingml/2006/main" noGrp="1"/>
          </p:cNvSpPr>
          <p:nvPr/>
        </p:nvSpPr>
        <p:spPr>
          <a:xfrm xmlns:a="http://schemas.openxmlformats.org/drawingml/2006/main">
            <a:off x="812772" y="5931426"/>
            <a:ext cx="1089905"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00">
                <a:solidFill>
                  <a:srgbClr val="1D4ED8"/>
                </a:solidFill>
                <a:latin typeface="Noto Sans KR"/>
                <a:ea typeface="Noto Sans KR"/>
                <a:cs typeface="Noto Sans KR"/>
              </a:rPr>
              <a:t>TEAM 0x02</a:t>
            </a:r>
            <a:endParaRPr sz="1200"/>
          </a:p>
        </p:txBody>
      </p:sp>
      <p:sp>
        <p:nvSpPr>
          <p:cNvPr id="13" name="Text 10">
            <a:extLst xmlns:a="http://schemas.openxmlformats.org/drawingml/2006/main">
              <a:ext uri="{FF2B5EF4-FFF2-40B4-BE49-F238E27FC236}">
                <a16:creationId xmlns:a16="http://schemas.microsoft.com/office/drawing/2014/main" id="{79421E40-592E-4E3F-A1DE-1DA8E9D5BD5B}"/>
              </a:ext>
            </a:extLst>
          </p:cNvPr>
          <p:cNvSpPr>
            <a:spLocks xmlns:a="http://schemas.openxmlformats.org/drawingml/2006/main" noGrp="1"/>
          </p:cNvSpPr>
          <p:nvPr/>
        </p:nvSpPr>
        <p:spPr>
          <a:xfrm xmlns:a="http://schemas.openxmlformats.org/drawingml/2006/main">
            <a:off x="9339092" y="5915616"/>
            <a:ext cx="2040133" cy="256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6B7280"/>
                </a:solidFill>
                <a:latin typeface="Noto Sans KR"/>
                <a:ea typeface="Noto Sans KR"/>
                <a:cs typeface="Noto Sans KR"/>
              </a:rPr>
              <a:t>김준이 · 김천지 · 남재은</a:t>
            </a:r>
            <a:endParaRPr sz="1300"/>
          </a:p>
        </p:txBody>
      </p:sp>
    </p:spTree>
    <p:extLst>
      <p:ext uri="{BB962C8B-B14F-4D97-AF65-F5344CB8AC3E}">
        <p14:creationId xmlns:p14="http://schemas.microsoft.com/office/powerpoint/2010/main" val="135207115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E33908C-1E4D-40B6-9FAC-8171AB38BBB4}"/>
              </a:ext>
            </a:extLst>
          </p:cNvPr>
          <p:cNvSpPr>
            <a:spLocks xmlns:a="http://schemas.openxmlformats.org/drawingml/2006/main" noGrp="1"/>
          </p:cNvSpPr>
          <p:nvPr/>
        </p:nvSpPr>
        <p:spPr>
          <a:xfrm xmlns:a="http://schemas.openxmlformats.org/drawingml/2006/main">
            <a:off x="812772" y="868645"/>
            <a:ext cx="101576" cy="101576"/>
          </a:xfrm>
          <a:prstGeom xmlns:a="http://schemas.openxmlformats.org/drawingml/2006/main" prst="roundRect">
            <a:avLst>
              <a:gd name="adj" fmla="val 50000"/>
            </a:avLst>
          </a:prstGeom>
          <a:solidFill xmlns:a="http://schemas.openxmlformats.org/drawingml/2006/main">
            <a:srgbClr val="1D4ED8"/>
          </a:solidFill>
        </p:spPr>
      </p:sp>
      <p:sp>
        <p:nvSpPr>
          <p:cNvPr id="3" name="Text 1">
            <a:extLst xmlns:a="http://schemas.openxmlformats.org/drawingml/2006/main">
              <a:ext uri="{FF2B5EF4-FFF2-40B4-BE49-F238E27FC236}">
                <a16:creationId xmlns:a16="http://schemas.microsoft.com/office/drawing/2014/main" id="{4AC35D76-4AA3-47AA-88A6-CC53CB048AD9}"/>
              </a:ext>
            </a:extLst>
          </p:cNvPr>
          <p:cNvSpPr>
            <a:spLocks xmlns:a="http://schemas.openxmlformats.org/drawingml/2006/main" noGrp="1"/>
          </p:cNvSpPr>
          <p:nvPr/>
        </p:nvSpPr>
        <p:spPr>
          <a:xfrm xmlns:a="http://schemas.openxmlformats.org/drawingml/2006/main">
            <a:off x="1015924" y="812772"/>
            <a:ext cx="1034321"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1D4ED8"/>
                </a:solidFill>
                <a:latin typeface="Noto Sans KR"/>
                <a:ea typeface="Noto Sans KR"/>
                <a:cs typeface="Noto Sans KR"/>
              </a:rPr>
              <a:t>PROBLEM</a:t>
            </a:r>
            <a:endParaRPr sz="1200"/>
          </a:p>
        </p:txBody>
      </p:sp>
      <p:sp>
        <p:nvSpPr>
          <p:cNvPr id="4" name="Text 2">
            <a:extLst xmlns:a="http://schemas.openxmlformats.org/drawingml/2006/main">
              <a:ext uri="{FF2B5EF4-FFF2-40B4-BE49-F238E27FC236}">
                <a16:creationId xmlns:a16="http://schemas.microsoft.com/office/drawing/2014/main" id="{678B90C9-0E5D-4AB8-B7DE-7BF6D472A20A}"/>
              </a:ext>
            </a:extLst>
          </p:cNvPr>
          <p:cNvSpPr>
            <a:spLocks xmlns:a="http://schemas.openxmlformats.org/drawingml/2006/main" noGrp="1"/>
          </p:cNvSpPr>
          <p:nvPr>
            <p:ph type="title" idx="0"/>
          </p:nvPr>
        </p:nvSpPr>
        <p:spPr>
          <a:xfrm xmlns:a="http://schemas.openxmlformats.org/drawingml/2006/main">
            <a:off x="812772" y="1229287"/>
            <a:ext cx="10883445" cy="48255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600"/>
              </a:lnSpc>
              <a:buNone/>
            </a:pPr>
            <a:r>
              <a:rPr sz="3000" b="1" i="0" spc="-50">
                <a:solidFill>
                  <a:srgbClr val="1F2937"/>
                </a:solidFill>
                <a:latin typeface="Pretendard"/>
                <a:ea typeface="Pretendard"/>
                <a:cs typeface="Pretendard"/>
              </a:rPr>
              <a:t>작은 현장의 안전 관리, 이렇게 어렵습니다</a:t>
            </a:r>
            <a:endParaRPr sz="3000"/>
          </a:p>
        </p:txBody>
      </p:sp>
      <p:sp>
        <p:nvSpPr>
          <p:cNvPr id="5" name="Shape 3">
            <a:extLst xmlns:a="http://schemas.openxmlformats.org/drawingml/2006/main">
              <a:ext uri="{FF2B5EF4-FFF2-40B4-BE49-F238E27FC236}">
                <a16:creationId xmlns:a16="http://schemas.microsoft.com/office/drawing/2014/main" id="{8C58E62C-F67F-41F2-BB72-ADAB8799A75B}"/>
              </a:ext>
            </a:extLst>
          </p:cNvPr>
          <p:cNvSpPr>
            <a:spLocks xmlns:a="http://schemas.openxmlformats.org/drawingml/2006/main" noGrp="1"/>
          </p:cNvSpPr>
          <p:nvPr/>
        </p:nvSpPr>
        <p:spPr>
          <a:xfrm xmlns:a="http://schemas.openxmlformats.org/drawingml/2006/main">
            <a:off x="815947" y="1892808"/>
            <a:ext cx="3422610" cy="2743447"/>
          </a:xfrm>
          <a:prstGeom xmlns:a="http://schemas.openxmlformats.org/drawingml/2006/main" prst="roundRect">
            <a:avLst>
              <a:gd name="adj" fmla="val 4513"/>
            </a:avLst>
          </a:prstGeom>
          <a:solidFill xmlns:a="http://schemas.openxmlformats.org/drawingml/2006/main">
            <a:srgbClr val="FFFFFF"/>
          </a:solidFill>
          <a:ln xmlns:a="http://schemas.openxmlformats.org/drawingml/2006/main" w="6350">
            <a:solidFill>
              <a:srgbClr val="E1E5EA"/>
            </a:solidFill>
            <a:prstDash val="solid"/>
          </a:ln>
          <a:effectLst xmlns:a="http://schemas.openxmlformats.org/drawingml/2006/main">
            <a:outerShdw blurRad="203200" dist="25400" dir="5400000" sx="100000" sy="100000" kx="0" ky="0" algn="bl" rotWithShape="0">
              <a:srgbClr val="000000">
                <a:alpha val="4000"/>
              </a:srgbClr>
            </a:outerShdw>
          </a:effectLst>
        </p:spPr>
      </p:sp>
      <p:sp>
        <p:nvSpPr>
          <p:cNvPr id="6" name="Text 4">
            <a:extLst xmlns:a="http://schemas.openxmlformats.org/drawingml/2006/main">
              <a:ext uri="{FF2B5EF4-FFF2-40B4-BE49-F238E27FC236}">
                <a16:creationId xmlns:a16="http://schemas.microsoft.com/office/drawing/2014/main" id="{A0BAA8E9-7029-40DA-9BB5-A78B2964696E}"/>
              </a:ext>
            </a:extLst>
          </p:cNvPr>
          <p:cNvSpPr>
            <a:spLocks xmlns:a="http://schemas.openxmlformats.org/drawingml/2006/main" noGrp="1"/>
          </p:cNvSpPr>
          <p:nvPr/>
        </p:nvSpPr>
        <p:spPr>
          <a:xfrm xmlns:a="http://schemas.openxmlformats.org/drawingml/2006/main">
            <a:off x="1097407" y="2174269"/>
            <a:ext cx="2945481" cy="11112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550"/>
              </a:lnSpc>
              <a:buNone/>
            </a:pPr>
            <a:r>
              <a:rPr sz="9000" b="1" spc="-250">
                <a:solidFill>
                  <a:srgbClr val="DC2626"/>
                </a:solidFill>
                <a:latin typeface="Pretendard"/>
                <a:ea typeface="Pretendard"/>
                <a:cs typeface="Pretendard"/>
              </a:rPr>
              <a:t>58%</a:t>
            </a:r>
            <a:endParaRPr sz="9000"/>
          </a:p>
        </p:txBody>
      </p:sp>
      <p:sp>
        <p:nvSpPr>
          <p:cNvPr id="7" name="Shape 5">
            <a:extLst xmlns:a="http://schemas.openxmlformats.org/drawingml/2006/main">
              <a:ext uri="{FF2B5EF4-FFF2-40B4-BE49-F238E27FC236}">
                <a16:creationId xmlns:a16="http://schemas.microsoft.com/office/drawing/2014/main" id="{E81A7B94-9462-4E1B-B810-3248B02CDFF7}"/>
              </a:ext>
            </a:extLst>
          </p:cNvPr>
          <p:cNvSpPr>
            <a:spLocks xmlns:a="http://schemas.openxmlformats.org/drawingml/2006/main" noGrp="1"/>
          </p:cNvSpPr>
          <p:nvPr/>
        </p:nvSpPr>
        <p:spPr>
          <a:xfrm xmlns:a="http://schemas.openxmlformats.org/drawingml/2006/main">
            <a:off x="1097407" y="3374405"/>
            <a:ext cx="1269967" cy="76172"/>
          </a:xfrm>
          <a:prstGeom xmlns:a="http://schemas.openxmlformats.org/drawingml/2006/main" prst="rect">
            <a:avLst/>
          </a:prstGeom>
          <a:solidFill xmlns:a="http://schemas.openxmlformats.org/drawingml/2006/main">
            <a:srgbClr val="DC2626"/>
          </a:solidFill>
        </p:spPr>
      </p:sp>
      <p:sp>
        <p:nvSpPr>
          <p:cNvPr id="8" name="Text 6">
            <a:extLst xmlns:a="http://schemas.openxmlformats.org/drawingml/2006/main">
              <a:ext uri="{FF2B5EF4-FFF2-40B4-BE49-F238E27FC236}">
                <a16:creationId xmlns:a16="http://schemas.microsoft.com/office/drawing/2014/main" id="{D04B325F-11A8-4450-A2A9-EFEE04EA28F5}"/>
              </a:ext>
            </a:extLst>
          </p:cNvPr>
          <p:cNvSpPr>
            <a:spLocks xmlns:a="http://schemas.openxmlformats.org/drawingml/2006/main" noGrp="1"/>
          </p:cNvSpPr>
          <p:nvPr/>
        </p:nvSpPr>
        <p:spPr>
          <a:xfrm xmlns:a="http://schemas.openxmlformats.org/drawingml/2006/main">
            <a:off x="1097407" y="3564875"/>
            <a:ext cx="2945481" cy="4877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20"/>
              </a:lnSpc>
              <a:buNone/>
            </a:pPr>
            <a:r>
              <a:rPr sz="1300">
                <a:solidFill>
                  <a:srgbClr val="1F2937"/>
                </a:solidFill>
                <a:latin typeface="Noto Sans KR"/>
                <a:ea typeface="Noto Sans KR"/>
                <a:cs typeface="Noto Sans KR"/>
              </a:rPr>
              <a:t>재해조사 대상 사고사망자 중</a:t>
            </a:r>
            <a:endParaRPr sz="1300"/>
          </a:p>
          <a:p xmlns:a="http://schemas.openxmlformats.org/drawingml/2006/main">
            <a:pPr marL="0" indent="0" algn="l">
              <a:lnSpc>
                <a:spcPts val="1820"/>
              </a:lnSpc>
              <a:buNone/>
            </a:pPr>
            <a:r>
              <a:rPr sz="1300">
                <a:solidFill>
                  <a:srgbClr val="1F2937"/>
                </a:solidFill>
                <a:latin typeface="Noto Sans KR"/>
                <a:ea typeface="Noto Sans KR"/>
                <a:cs typeface="Noto Sans KR"/>
              </a:rPr>
              <a:t>소규모 사업장·현장 비중</a:t>
            </a:r>
          </a:p>
        </p:txBody>
      </p:sp>
      <p:sp>
        <p:nvSpPr>
          <p:cNvPr id="9" name="Text 7">
            <a:extLst xmlns:a="http://schemas.openxmlformats.org/drawingml/2006/main">
              <a:ext uri="{FF2B5EF4-FFF2-40B4-BE49-F238E27FC236}">
                <a16:creationId xmlns:a16="http://schemas.microsoft.com/office/drawing/2014/main" id="{840CE66B-65D4-465C-9FD6-527C58A1A2E7}"/>
              </a:ext>
            </a:extLst>
          </p:cNvPr>
          <p:cNvSpPr>
            <a:spLocks xmlns:a="http://schemas.openxmlformats.org/drawingml/2006/main" noGrp="1"/>
          </p:cNvSpPr>
          <p:nvPr/>
        </p:nvSpPr>
        <p:spPr>
          <a:xfrm xmlns:a="http://schemas.openxmlformats.org/drawingml/2006/main">
            <a:off x="1097407" y="4141474"/>
            <a:ext cx="2945481"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2024 · 589명 중 339명</a:t>
            </a:r>
            <a:endParaRPr sz="1200"/>
          </a:p>
        </p:txBody>
      </p:sp>
      <p:sp>
        <p:nvSpPr>
          <p:cNvPr id="10" name="Shape 8">
            <a:extLst xmlns:a="http://schemas.openxmlformats.org/drawingml/2006/main">
              <a:ext uri="{FF2B5EF4-FFF2-40B4-BE49-F238E27FC236}">
                <a16:creationId xmlns:a16="http://schemas.microsoft.com/office/drawing/2014/main" id="{C2C8F211-BA08-49B8-8F5E-C266EA6501E2}"/>
              </a:ext>
            </a:extLst>
          </p:cNvPr>
          <p:cNvSpPr>
            <a:spLocks xmlns:a="http://schemas.openxmlformats.org/drawingml/2006/main" noGrp="1"/>
          </p:cNvSpPr>
          <p:nvPr/>
        </p:nvSpPr>
        <p:spPr>
          <a:xfrm xmlns:a="http://schemas.openxmlformats.org/drawingml/2006/main">
            <a:off x="4448101" y="1892808"/>
            <a:ext cx="6927948" cy="2743447"/>
          </a:xfrm>
          <a:prstGeom xmlns:a="http://schemas.openxmlformats.org/drawingml/2006/main" prst="roundRect">
            <a:avLst>
              <a:gd name="adj" fmla="val 4513"/>
            </a:avLst>
          </a:prstGeom>
          <a:solidFill xmlns:a="http://schemas.openxmlformats.org/drawingml/2006/main">
            <a:srgbClr val="FFFFFF"/>
          </a:solidFill>
          <a:ln xmlns:a="http://schemas.openxmlformats.org/drawingml/2006/main" w="6350">
            <a:solidFill>
              <a:srgbClr val="E1E5EA"/>
            </a:solidFill>
            <a:prstDash val="solid"/>
          </a:ln>
          <a:effectLst xmlns:a="http://schemas.openxmlformats.org/drawingml/2006/main">
            <a:outerShdw blurRad="203200" dist="25400" dir="5400000" sx="100000" sy="100000" kx="0" ky="0" algn="bl" rotWithShape="0">
              <a:srgbClr val="000000">
                <a:alpha val="4000"/>
              </a:srgbClr>
            </a:outerShdw>
          </a:effectLst>
        </p:spPr>
      </p:sp>
      <p:sp>
        <p:nvSpPr>
          <p:cNvPr id="11" name="Text 9">
            <a:extLst xmlns:a="http://schemas.openxmlformats.org/drawingml/2006/main">
              <a:ext uri="{FF2B5EF4-FFF2-40B4-BE49-F238E27FC236}">
                <a16:creationId xmlns:a16="http://schemas.microsoft.com/office/drawing/2014/main" id="{318E6A07-F57F-4BA5-AB91-4CE0C95F797C}"/>
              </a:ext>
            </a:extLst>
          </p:cNvPr>
          <p:cNvSpPr>
            <a:spLocks xmlns:a="http://schemas.openxmlformats.org/drawingml/2006/main" noGrp="1"/>
          </p:cNvSpPr>
          <p:nvPr/>
        </p:nvSpPr>
        <p:spPr>
          <a:xfrm xmlns:a="http://schemas.openxmlformats.org/drawingml/2006/main">
            <a:off x="4729561" y="2267939"/>
            <a:ext cx="234065" cy="256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D4ED8"/>
                </a:solidFill>
                <a:latin typeface="Noto Sans KR"/>
                <a:ea typeface="Noto Sans KR"/>
                <a:cs typeface="Noto Sans KR"/>
              </a:rPr>
              <a:t>01</a:t>
            </a:r>
            <a:endParaRPr sz="1300"/>
          </a:p>
        </p:txBody>
      </p:sp>
      <p:sp>
        <p:nvSpPr>
          <p:cNvPr id="12" name="Text 10">
            <a:extLst xmlns:a="http://schemas.openxmlformats.org/drawingml/2006/main">
              <a:ext uri="{FF2B5EF4-FFF2-40B4-BE49-F238E27FC236}">
                <a16:creationId xmlns:a16="http://schemas.microsoft.com/office/drawing/2014/main" id="{1CB45D6B-9489-4482-B39C-A26489ED219B}"/>
              </a:ext>
            </a:extLst>
          </p:cNvPr>
          <p:cNvSpPr>
            <a:spLocks xmlns:a="http://schemas.openxmlformats.org/drawingml/2006/main" noGrp="1"/>
          </p:cNvSpPr>
          <p:nvPr/>
        </p:nvSpPr>
        <p:spPr>
          <a:xfrm xmlns:a="http://schemas.openxmlformats.org/drawingml/2006/main">
            <a:off x="5116019" y="2106991"/>
            <a:ext cx="3896910" cy="327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75"/>
              </a:lnSpc>
              <a:buNone/>
            </a:pPr>
            <a:r>
              <a:rPr sz="1900" b="1">
                <a:solidFill>
                  <a:srgbClr val="1F2937"/>
                </a:solidFill>
                <a:latin typeface="Pretendard"/>
                <a:ea typeface="Pretendard"/>
                <a:cs typeface="Pretendard"/>
              </a:rPr>
              <a:t>TBM을 하지 않는 현장이 있습니다</a:t>
            </a:r>
            <a:endParaRPr sz="1900"/>
          </a:p>
        </p:txBody>
      </p:sp>
      <p:sp>
        <p:nvSpPr>
          <p:cNvPr id="13" name="Text 11">
            <a:extLst xmlns:a="http://schemas.openxmlformats.org/drawingml/2006/main">
              <a:ext uri="{FF2B5EF4-FFF2-40B4-BE49-F238E27FC236}">
                <a16:creationId xmlns:a16="http://schemas.microsoft.com/office/drawing/2014/main" id="{95A93FE5-7585-4F45-9B5A-3213C992D52C}"/>
              </a:ext>
            </a:extLst>
          </p:cNvPr>
          <p:cNvSpPr>
            <a:spLocks xmlns:a="http://schemas.openxmlformats.org/drawingml/2006/main" noGrp="1"/>
          </p:cNvSpPr>
          <p:nvPr/>
        </p:nvSpPr>
        <p:spPr>
          <a:xfrm xmlns:a="http://schemas.openxmlformats.org/drawingml/2006/main">
            <a:off x="5116019" y="2446717"/>
            <a:ext cx="3344848"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작업 전 안전 공유가 빠집니다.</a:t>
            </a:r>
            <a:endParaRPr sz="1200"/>
          </a:p>
        </p:txBody>
      </p:sp>
      <p:sp>
        <p:nvSpPr>
          <p:cNvPr id="14" name="Shape 12">
            <a:extLst xmlns:a="http://schemas.openxmlformats.org/drawingml/2006/main">
              <a:ext uri="{FF2B5EF4-FFF2-40B4-BE49-F238E27FC236}">
                <a16:creationId xmlns:a16="http://schemas.microsoft.com/office/drawing/2014/main" id="{55187B3F-A592-460A-A969-835576B2A8C6}"/>
              </a:ext>
            </a:extLst>
          </p:cNvPr>
          <p:cNvSpPr>
            <a:spLocks xmlns:a="http://schemas.openxmlformats.org/drawingml/2006/main" noGrp="1"/>
          </p:cNvSpPr>
          <p:nvPr/>
        </p:nvSpPr>
        <p:spPr>
          <a:xfrm xmlns:a="http://schemas.openxmlformats.org/drawingml/2006/main">
            <a:off x="4729561" y="2824573"/>
            <a:ext cx="6365028" cy="0"/>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15" name="Text 13">
            <a:extLst xmlns:a="http://schemas.openxmlformats.org/drawingml/2006/main">
              <a:ext uri="{FF2B5EF4-FFF2-40B4-BE49-F238E27FC236}">
                <a16:creationId xmlns:a16="http://schemas.microsoft.com/office/drawing/2014/main" id="{5ED519C8-EC85-4705-BF01-8458FA8634C5}"/>
              </a:ext>
            </a:extLst>
          </p:cNvPr>
          <p:cNvSpPr>
            <a:spLocks xmlns:a="http://schemas.openxmlformats.org/drawingml/2006/main" noGrp="1"/>
          </p:cNvSpPr>
          <p:nvPr/>
        </p:nvSpPr>
        <p:spPr>
          <a:xfrm xmlns:a="http://schemas.openxmlformats.org/drawingml/2006/main">
            <a:off x="4729561" y="3148936"/>
            <a:ext cx="234065" cy="256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D4ED8"/>
                </a:solidFill>
                <a:latin typeface="Noto Sans KR"/>
                <a:ea typeface="Noto Sans KR"/>
                <a:cs typeface="Noto Sans KR"/>
              </a:rPr>
              <a:t>02</a:t>
            </a:r>
            <a:endParaRPr sz="1300"/>
          </a:p>
        </p:txBody>
      </p:sp>
      <p:sp>
        <p:nvSpPr>
          <p:cNvPr id="16" name="Text 14">
            <a:extLst xmlns:a="http://schemas.openxmlformats.org/drawingml/2006/main">
              <a:ext uri="{FF2B5EF4-FFF2-40B4-BE49-F238E27FC236}">
                <a16:creationId xmlns:a16="http://schemas.microsoft.com/office/drawing/2014/main" id="{65A22155-F4C1-45E4-85B6-1E3B53ADD90C}"/>
              </a:ext>
            </a:extLst>
          </p:cNvPr>
          <p:cNvSpPr>
            <a:spLocks xmlns:a="http://schemas.openxmlformats.org/drawingml/2006/main" noGrp="1"/>
          </p:cNvSpPr>
          <p:nvPr/>
        </p:nvSpPr>
        <p:spPr>
          <a:xfrm xmlns:a="http://schemas.openxmlformats.org/drawingml/2006/main">
            <a:off x="5116019" y="2987988"/>
            <a:ext cx="3085558" cy="327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75"/>
              </a:lnSpc>
              <a:buNone/>
            </a:pPr>
            <a:r>
              <a:rPr sz="1900" b="1">
                <a:solidFill>
                  <a:srgbClr val="1F2937"/>
                </a:solidFill>
                <a:latin typeface="Pretendard"/>
                <a:ea typeface="Pretendard"/>
                <a:cs typeface="Pretendard"/>
              </a:rPr>
              <a:t>조치 내역이 흩어져 있습니다</a:t>
            </a:r>
            <a:endParaRPr sz="1900"/>
          </a:p>
        </p:txBody>
      </p:sp>
      <p:sp>
        <p:nvSpPr>
          <p:cNvPr id="17" name="Text 15">
            <a:extLst xmlns:a="http://schemas.openxmlformats.org/drawingml/2006/main">
              <a:ext uri="{FF2B5EF4-FFF2-40B4-BE49-F238E27FC236}">
                <a16:creationId xmlns:a16="http://schemas.microsoft.com/office/drawing/2014/main" id="{B34085DF-02AB-48F1-B9C4-75F9ABC5C953}"/>
              </a:ext>
            </a:extLst>
          </p:cNvPr>
          <p:cNvSpPr>
            <a:spLocks xmlns:a="http://schemas.openxmlformats.org/drawingml/2006/main" noGrp="1"/>
          </p:cNvSpPr>
          <p:nvPr/>
        </p:nvSpPr>
        <p:spPr>
          <a:xfrm xmlns:a="http://schemas.openxmlformats.org/drawingml/2006/main">
            <a:off x="5116019" y="3327714"/>
            <a:ext cx="3594825"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문자, 카톡, 수기 서류로 나뉘어 보기 어렵습니다.</a:t>
            </a:r>
            <a:endParaRPr sz="1200"/>
          </a:p>
        </p:txBody>
      </p:sp>
      <p:sp>
        <p:nvSpPr>
          <p:cNvPr id="18" name="Shape 16">
            <a:extLst xmlns:a="http://schemas.openxmlformats.org/drawingml/2006/main">
              <a:ext uri="{FF2B5EF4-FFF2-40B4-BE49-F238E27FC236}">
                <a16:creationId xmlns:a16="http://schemas.microsoft.com/office/drawing/2014/main" id="{43A25459-D561-4581-A79F-99199735D1FB}"/>
              </a:ext>
            </a:extLst>
          </p:cNvPr>
          <p:cNvSpPr>
            <a:spLocks xmlns:a="http://schemas.openxmlformats.org/drawingml/2006/main" noGrp="1"/>
          </p:cNvSpPr>
          <p:nvPr/>
        </p:nvSpPr>
        <p:spPr>
          <a:xfrm xmlns:a="http://schemas.openxmlformats.org/drawingml/2006/main">
            <a:off x="4729561" y="3705571"/>
            <a:ext cx="6365028" cy="0"/>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19" name="Text 17">
            <a:extLst xmlns:a="http://schemas.openxmlformats.org/drawingml/2006/main">
              <a:ext uri="{FF2B5EF4-FFF2-40B4-BE49-F238E27FC236}">
                <a16:creationId xmlns:a16="http://schemas.microsoft.com/office/drawing/2014/main" id="{FFFB4BEF-3D11-41AE-BE93-21697CFCA86D}"/>
              </a:ext>
            </a:extLst>
          </p:cNvPr>
          <p:cNvSpPr>
            <a:spLocks xmlns:a="http://schemas.openxmlformats.org/drawingml/2006/main" noGrp="1"/>
          </p:cNvSpPr>
          <p:nvPr/>
        </p:nvSpPr>
        <p:spPr>
          <a:xfrm xmlns:a="http://schemas.openxmlformats.org/drawingml/2006/main">
            <a:off x="4729561" y="4029935"/>
            <a:ext cx="234065" cy="256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D4ED8"/>
                </a:solidFill>
                <a:latin typeface="Noto Sans KR"/>
                <a:ea typeface="Noto Sans KR"/>
                <a:cs typeface="Noto Sans KR"/>
              </a:rPr>
              <a:t>03</a:t>
            </a:r>
            <a:endParaRPr sz="1300"/>
          </a:p>
        </p:txBody>
      </p:sp>
      <p:sp>
        <p:nvSpPr>
          <p:cNvPr id="20" name="Text 18">
            <a:extLst xmlns:a="http://schemas.openxmlformats.org/drawingml/2006/main">
              <a:ext uri="{FF2B5EF4-FFF2-40B4-BE49-F238E27FC236}">
                <a16:creationId xmlns:a16="http://schemas.microsoft.com/office/drawing/2014/main" id="{B5DB8577-78B3-40F0-A443-5B863CB85F94}"/>
              </a:ext>
            </a:extLst>
          </p:cNvPr>
          <p:cNvSpPr>
            <a:spLocks xmlns:a="http://schemas.openxmlformats.org/drawingml/2006/main" noGrp="1"/>
          </p:cNvSpPr>
          <p:nvPr/>
        </p:nvSpPr>
        <p:spPr>
          <a:xfrm xmlns:a="http://schemas.openxmlformats.org/drawingml/2006/main">
            <a:off x="5116019" y="3868986"/>
            <a:ext cx="4279481" cy="327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75"/>
              </a:lnSpc>
              <a:buNone/>
            </a:pPr>
            <a:r>
              <a:rPr sz="1900" b="1">
                <a:solidFill>
                  <a:srgbClr val="1F2937"/>
                </a:solidFill>
                <a:latin typeface="Pretendard"/>
                <a:ea typeface="Pretendard"/>
                <a:cs typeface="Pretendard"/>
              </a:rPr>
              <a:t>작업별로 지킬 안전을 알기 어렵습니다</a:t>
            </a:r>
            <a:endParaRPr sz="1900"/>
          </a:p>
        </p:txBody>
      </p:sp>
      <p:sp>
        <p:nvSpPr>
          <p:cNvPr id="21" name="Text 19">
            <a:extLst xmlns:a="http://schemas.openxmlformats.org/drawingml/2006/main">
              <a:ext uri="{FF2B5EF4-FFF2-40B4-BE49-F238E27FC236}">
                <a16:creationId xmlns:a16="http://schemas.microsoft.com/office/drawing/2014/main" id="{F19E1433-29B3-4967-9959-038E58871418}"/>
              </a:ext>
            </a:extLst>
          </p:cNvPr>
          <p:cNvSpPr>
            <a:spLocks xmlns:a="http://schemas.openxmlformats.org/drawingml/2006/main" noGrp="1"/>
          </p:cNvSpPr>
          <p:nvPr/>
        </p:nvSpPr>
        <p:spPr>
          <a:xfrm xmlns:a="http://schemas.openxmlformats.org/drawingml/2006/main">
            <a:off x="5116019" y="4208711"/>
            <a:ext cx="3673221"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어느 작업에 어떤 수칙이 필요한지 찾기 힘듭니다.</a:t>
            </a:r>
            <a:endParaRPr sz="1200"/>
          </a:p>
        </p:txBody>
      </p:sp>
      <p:sp>
        <p:nvSpPr>
          <p:cNvPr id="22" name="Shape 20">
            <a:extLst xmlns:a="http://schemas.openxmlformats.org/drawingml/2006/main">
              <a:ext uri="{FF2B5EF4-FFF2-40B4-BE49-F238E27FC236}">
                <a16:creationId xmlns:a16="http://schemas.microsoft.com/office/drawing/2014/main" id="{BFF422E0-7184-44A4-BE9B-4A84361826DD}"/>
              </a:ext>
            </a:extLst>
          </p:cNvPr>
          <p:cNvSpPr>
            <a:spLocks xmlns:a="http://schemas.openxmlformats.org/drawingml/2006/main" noGrp="1"/>
          </p:cNvSpPr>
          <p:nvPr/>
        </p:nvSpPr>
        <p:spPr>
          <a:xfrm xmlns:a="http://schemas.openxmlformats.org/drawingml/2006/main">
            <a:off x="812772" y="5306160"/>
            <a:ext cx="10566452" cy="535837"/>
          </a:xfrm>
          <a:prstGeom xmlns:a="http://schemas.openxmlformats.org/drawingml/2006/main" prst="roundRect">
            <a:avLst>
              <a:gd name="adj" fmla="val 23701"/>
            </a:avLst>
          </a:prstGeom>
          <a:solidFill xmlns:a="http://schemas.openxmlformats.org/drawingml/2006/main">
            <a:srgbClr val="DBEAFE"/>
          </a:solidFill>
        </p:spPr>
      </p:sp>
      <p:sp>
        <p:nvSpPr>
          <p:cNvPr id="23" name="Text 21">
            <a:extLst xmlns:a="http://schemas.openxmlformats.org/drawingml/2006/main">
              <a:ext uri="{FF2B5EF4-FFF2-40B4-BE49-F238E27FC236}">
                <a16:creationId xmlns:a16="http://schemas.microsoft.com/office/drawing/2014/main" id="{E38F7283-4705-4305-8455-5D66B6056538}"/>
              </a:ext>
            </a:extLst>
          </p:cNvPr>
          <p:cNvSpPr>
            <a:spLocks xmlns:a="http://schemas.openxmlformats.org/drawingml/2006/main" noGrp="1"/>
          </p:cNvSpPr>
          <p:nvPr/>
        </p:nvSpPr>
        <p:spPr>
          <a:xfrm xmlns:a="http://schemas.openxmlformats.org/drawingml/2006/main">
            <a:off x="990561" y="5433140"/>
            <a:ext cx="606285" cy="281876"/>
          </a:xfrm>
          <a:prstGeom xmlns:a="http://schemas.openxmlformats.org/drawingml/2006/main" prst="roundRect">
            <a:avLst>
              <a:gd name="adj" fmla="val 50000"/>
            </a:avLst>
          </a:prstGeom>
          <a:solidFill xmlns:a="http://schemas.openxmlformats.org/drawingml/2006/main">
            <a:srgbClr val="1D4ED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820"/>
              </a:lnSpc>
              <a:buNone/>
            </a:pPr>
            <a:r>
              <a:rPr sz="1300" b="1">
                <a:solidFill>
                  <a:srgbClr val="FFFFFF"/>
                </a:solidFill>
                <a:latin typeface="Noto Sans KR"/>
                <a:ea typeface="Noto Sans KR"/>
                <a:cs typeface="Noto Sans KR"/>
              </a:rPr>
              <a:t>TBM</a:t>
            </a:r>
            <a:endParaRPr sz="1300"/>
          </a:p>
        </p:txBody>
      </p:sp>
      <p:sp>
        <p:nvSpPr>
          <p:cNvPr id="24" name="Text 22">
            <a:extLst xmlns:a="http://schemas.openxmlformats.org/drawingml/2006/main">
              <a:ext uri="{FF2B5EF4-FFF2-40B4-BE49-F238E27FC236}">
                <a16:creationId xmlns:a16="http://schemas.microsoft.com/office/drawing/2014/main" id="{0E3B52A7-6006-4B03-9AD0-61522B3A91EB}"/>
              </a:ext>
            </a:extLst>
          </p:cNvPr>
          <p:cNvSpPr>
            <a:spLocks xmlns:a="http://schemas.openxmlformats.org/drawingml/2006/main" noGrp="1"/>
          </p:cNvSpPr>
          <p:nvPr/>
        </p:nvSpPr>
        <p:spPr>
          <a:xfrm xmlns:a="http://schemas.openxmlformats.org/drawingml/2006/main">
            <a:off x="1749231" y="5467397"/>
            <a:ext cx="8427387"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1F2937"/>
                </a:solidFill>
                <a:latin typeface="Noto Sans KR"/>
                <a:ea typeface="Noto Sans KR"/>
                <a:cs typeface="Noto Sans KR"/>
              </a:rPr>
              <a:t>Tool Box Meeting · 작업 시작 전 5~10분, 반장과 근로자가 모여 오늘 할 일과 조심할 점을 나누는 짧은 안전 회의</a:t>
            </a:r>
            <a:endParaRPr sz="1200"/>
          </a:p>
        </p:txBody>
      </p:sp>
      <p:sp>
        <p:nvSpPr>
          <p:cNvPr id="25" name="Text 23">
            <a:extLst xmlns:a="http://schemas.openxmlformats.org/drawingml/2006/main">
              <a:ext uri="{FF2B5EF4-FFF2-40B4-BE49-F238E27FC236}">
                <a16:creationId xmlns:a16="http://schemas.microsoft.com/office/drawing/2014/main" id="{14A3FEC1-B78A-4916-ACCD-80E0F52D4630}"/>
              </a:ext>
            </a:extLst>
          </p:cNvPr>
          <p:cNvSpPr>
            <a:spLocks xmlns:a="http://schemas.openxmlformats.org/drawingml/2006/main" noGrp="1"/>
          </p:cNvSpPr>
          <p:nvPr/>
        </p:nvSpPr>
        <p:spPr>
          <a:xfrm xmlns:a="http://schemas.openxmlformats.org/drawingml/2006/main">
            <a:off x="812772" y="6238254"/>
            <a:ext cx="6986284"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출처: 고용노동부 재해조사 대상 사고사망 통계(잠정치). 건설업은 공사금액 50억 원 미만 기준.</a:t>
            </a:r>
            <a:endParaRPr sz="1200"/>
          </a:p>
        </p:txBody>
      </p:sp>
      <p:sp>
        <p:nvSpPr>
          <p:cNvPr id="26" name="Text 24">
            <a:extLst xmlns:a="http://schemas.openxmlformats.org/drawingml/2006/main">
              <a:ext uri="{FF2B5EF4-FFF2-40B4-BE49-F238E27FC236}">
                <a16:creationId xmlns:a16="http://schemas.microsoft.com/office/drawing/2014/main" id="{1F42830A-1BA6-4990-95F1-757BD254A531}"/>
              </a:ext>
            </a:extLst>
          </p:cNvPr>
          <p:cNvSpPr>
            <a:spLocks xmlns:a="http://schemas.openxmlformats.org/drawingml/2006/main" noGrp="1"/>
          </p:cNvSpPr>
          <p:nvPr/>
        </p:nvSpPr>
        <p:spPr>
          <a:xfrm xmlns:a="http://schemas.openxmlformats.org/drawingml/2006/main">
            <a:off x="10819540" y="6238254"/>
            <a:ext cx="559602"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r">
              <a:lnSpc>
                <a:spcPts val="1680"/>
              </a:lnSpc>
              <a:buNone/>
            </a:pPr>
            <a:r>
              <a:rPr sz="1200">
                <a:solidFill>
                  <a:srgbClr val="6B7280"/>
                </a:solidFill>
                <a:latin typeface="Noto Sans KR"/>
                <a:ea typeface="Noto Sans KR"/>
                <a:cs typeface="Noto Sans KR"/>
              </a:rPr>
              <a:t>02 / 14</a:t>
            </a:r>
            <a:endParaRPr sz="1200"/>
          </a:p>
        </p:txBody>
      </p:sp>
    </p:spTree>
    <p:extLst>
      <p:ext uri="{BB962C8B-B14F-4D97-AF65-F5344CB8AC3E}">
        <p14:creationId xmlns:p14="http://schemas.microsoft.com/office/powerpoint/2010/main" val="188995941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04ABE32-367B-49D2-BB3F-A288779A679D}"/>
              </a:ext>
            </a:extLst>
          </p:cNvPr>
          <p:cNvSpPr>
            <a:spLocks xmlns:a="http://schemas.openxmlformats.org/drawingml/2006/main" noGrp="1"/>
          </p:cNvSpPr>
          <p:nvPr/>
        </p:nvSpPr>
        <p:spPr>
          <a:xfrm xmlns:a="http://schemas.openxmlformats.org/drawingml/2006/main">
            <a:off x="812772" y="868645"/>
            <a:ext cx="101576" cy="101576"/>
          </a:xfrm>
          <a:prstGeom xmlns:a="http://schemas.openxmlformats.org/drawingml/2006/main" prst="roundRect">
            <a:avLst>
              <a:gd name="adj" fmla="val 50000"/>
            </a:avLst>
          </a:prstGeom>
          <a:solidFill xmlns:a="http://schemas.openxmlformats.org/drawingml/2006/main">
            <a:srgbClr val="1D4ED8"/>
          </a:solidFill>
        </p:spPr>
      </p:sp>
      <p:sp>
        <p:nvSpPr>
          <p:cNvPr id="3" name="Text 1">
            <a:extLst xmlns:a="http://schemas.openxmlformats.org/drawingml/2006/main">
              <a:ext uri="{FF2B5EF4-FFF2-40B4-BE49-F238E27FC236}">
                <a16:creationId xmlns:a16="http://schemas.microsoft.com/office/drawing/2014/main" id="{021B0FB7-C097-4218-9656-DAAC1C8A5C52}"/>
              </a:ext>
            </a:extLst>
          </p:cNvPr>
          <p:cNvSpPr>
            <a:spLocks xmlns:a="http://schemas.openxmlformats.org/drawingml/2006/main" noGrp="1"/>
          </p:cNvSpPr>
          <p:nvPr/>
        </p:nvSpPr>
        <p:spPr>
          <a:xfrm xmlns:a="http://schemas.openxmlformats.org/drawingml/2006/main">
            <a:off x="1015924" y="812772"/>
            <a:ext cx="1377661"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1D4ED8"/>
                </a:solidFill>
                <a:latin typeface="Noto Sans KR"/>
                <a:ea typeface="Noto Sans KR"/>
                <a:cs typeface="Noto Sans KR"/>
              </a:rPr>
              <a:t>REGULATION</a:t>
            </a:r>
            <a:endParaRPr sz="1200"/>
          </a:p>
        </p:txBody>
      </p:sp>
      <p:sp>
        <p:nvSpPr>
          <p:cNvPr id="4" name="Text 2">
            <a:extLst xmlns:a="http://schemas.openxmlformats.org/drawingml/2006/main">
              <a:ext uri="{FF2B5EF4-FFF2-40B4-BE49-F238E27FC236}">
                <a16:creationId xmlns:a16="http://schemas.microsoft.com/office/drawing/2014/main" id="{689E606F-5BBA-4753-9431-EDAA9ECB2B46}"/>
              </a:ext>
            </a:extLst>
          </p:cNvPr>
          <p:cNvSpPr>
            <a:spLocks xmlns:a="http://schemas.openxmlformats.org/drawingml/2006/main" noGrp="1"/>
          </p:cNvSpPr>
          <p:nvPr>
            <p:ph type="title" idx="0"/>
          </p:nvPr>
        </p:nvSpPr>
        <p:spPr>
          <a:xfrm xmlns:a="http://schemas.openxmlformats.org/drawingml/2006/main">
            <a:off x="812772" y="1229288"/>
            <a:ext cx="10883445" cy="48255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600"/>
              </a:lnSpc>
              <a:buNone/>
            </a:pPr>
            <a:r>
              <a:rPr sz="3000" b="1" i="0" spc="-50">
                <a:solidFill>
                  <a:srgbClr val="1F2937"/>
                </a:solidFill>
                <a:latin typeface="Pretendard"/>
                <a:ea typeface="Pretendard"/>
                <a:cs typeface="Pretendard"/>
              </a:rPr>
              <a:t>위험을 평가하고, 작업 전에 함께 확인합니다</a:t>
            </a:r>
            <a:endParaRPr sz="3000"/>
          </a:p>
        </p:txBody>
      </p:sp>
      <p:sp>
        <p:nvSpPr>
          <p:cNvPr id="5" name="Shape 3">
            <a:extLst xmlns:a="http://schemas.openxmlformats.org/drawingml/2006/main">
              <a:ext uri="{FF2B5EF4-FFF2-40B4-BE49-F238E27FC236}">
                <a16:creationId xmlns:a16="http://schemas.microsoft.com/office/drawing/2014/main" id="{B4B6F323-E681-4727-A1DE-C0FC9B456798}"/>
              </a:ext>
            </a:extLst>
          </p:cNvPr>
          <p:cNvSpPr>
            <a:spLocks xmlns:a="http://schemas.openxmlformats.org/drawingml/2006/main" noGrp="1"/>
          </p:cNvSpPr>
          <p:nvPr/>
        </p:nvSpPr>
        <p:spPr>
          <a:xfrm xmlns:a="http://schemas.openxmlformats.org/drawingml/2006/main">
            <a:off x="815947" y="1892808"/>
            <a:ext cx="5175259" cy="1821276"/>
          </a:xfrm>
          <a:prstGeom xmlns:a="http://schemas.openxmlformats.org/drawingml/2006/main" prst="roundRect">
            <a:avLst>
              <a:gd name="adj" fmla="val 6799"/>
            </a:avLst>
          </a:prstGeom>
          <a:solidFill xmlns:a="http://schemas.openxmlformats.org/drawingml/2006/main">
            <a:srgbClr val="FFFFFF"/>
          </a:solidFill>
          <a:ln xmlns:a="http://schemas.openxmlformats.org/drawingml/2006/main" w="6350">
            <a:solidFill>
              <a:srgbClr val="E1E5EA"/>
            </a:solidFill>
            <a:prstDash val="solid"/>
          </a:ln>
          <a:effectLst xmlns:a="http://schemas.openxmlformats.org/drawingml/2006/main">
            <a:outerShdw blurRad="203200" dist="25400" dir="5400000" sx="100000" sy="100000" kx="0" ky="0" algn="bl" rotWithShape="0">
              <a:srgbClr val="000000">
                <a:alpha val="4000"/>
              </a:srgbClr>
            </a:outerShdw>
          </a:effectLst>
        </p:spPr>
      </p:sp>
      <p:sp>
        <p:nvSpPr>
          <p:cNvPr id="6" name="Text 4">
            <a:extLst xmlns:a="http://schemas.openxmlformats.org/drawingml/2006/main">
              <a:ext uri="{FF2B5EF4-FFF2-40B4-BE49-F238E27FC236}">
                <a16:creationId xmlns:a16="http://schemas.microsoft.com/office/drawing/2014/main" id="{464F34B6-B841-4419-9B48-48366B92E01E}"/>
              </a:ext>
            </a:extLst>
          </p:cNvPr>
          <p:cNvSpPr>
            <a:spLocks xmlns:a="http://schemas.openxmlformats.org/drawingml/2006/main" noGrp="1"/>
          </p:cNvSpPr>
          <p:nvPr/>
        </p:nvSpPr>
        <p:spPr>
          <a:xfrm xmlns:a="http://schemas.openxmlformats.org/drawingml/2006/main">
            <a:off x="1072003" y="2148864"/>
            <a:ext cx="575240" cy="299622"/>
          </a:xfrm>
          <a:prstGeom xmlns:a="http://schemas.openxmlformats.org/drawingml/2006/main" prst="roundRect">
            <a:avLst>
              <a:gd name="adj" fmla="val 50000"/>
            </a:avLst>
          </a:prstGeom>
          <a:solidFill xmlns:a="http://schemas.openxmlformats.org/drawingml/2006/main">
            <a:srgbClr val="1D4ED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960"/>
              </a:lnSpc>
              <a:buNone/>
            </a:pPr>
            <a:r>
              <a:rPr sz="1400" b="1">
                <a:solidFill>
                  <a:srgbClr val="FFFFFF"/>
                </a:solidFill>
                <a:latin typeface="Noto Sans KR"/>
                <a:ea typeface="Noto Sans KR"/>
                <a:cs typeface="Noto Sans KR"/>
              </a:rPr>
              <a:t>JSA</a:t>
            </a:r>
            <a:endParaRPr sz="1400"/>
          </a:p>
        </p:txBody>
      </p:sp>
      <p:sp>
        <p:nvSpPr>
          <p:cNvPr id="7" name="Text 5">
            <a:extLst xmlns:a="http://schemas.openxmlformats.org/drawingml/2006/main">
              <a:ext uri="{FF2B5EF4-FFF2-40B4-BE49-F238E27FC236}">
                <a16:creationId xmlns:a16="http://schemas.microsoft.com/office/drawing/2014/main" id="{42948164-B41A-44CF-B349-CD4AFA0E4EA0}"/>
              </a:ext>
            </a:extLst>
          </p:cNvPr>
          <p:cNvSpPr>
            <a:spLocks xmlns:a="http://schemas.openxmlformats.org/drawingml/2006/main" noGrp="1"/>
          </p:cNvSpPr>
          <p:nvPr/>
        </p:nvSpPr>
        <p:spPr>
          <a:xfrm xmlns:a="http://schemas.openxmlformats.org/drawingml/2006/main">
            <a:off x="1748819" y="2203214"/>
            <a:ext cx="1009468"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작업안전분석</a:t>
            </a:r>
            <a:endParaRPr sz="1200"/>
          </a:p>
        </p:txBody>
      </p:sp>
      <p:sp>
        <p:nvSpPr>
          <p:cNvPr id="8" name="Text 6">
            <a:extLst xmlns:a="http://schemas.openxmlformats.org/drawingml/2006/main">
              <a:ext uri="{FF2B5EF4-FFF2-40B4-BE49-F238E27FC236}">
                <a16:creationId xmlns:a16="http://schemas.microsoft.com/office/drawing/2014/main" id="{CF8E1668-98FA-4F68-A4F5-8C983542E92C}"/>
              </a:ext>
            </a:extLst>
          </p:cNvPr>
          <p:cNvSpPr>
            <a:spLocks xmlns:a="http://schemas.openxmlformats.org/drawingml/2006/main" noGrp="1"/>
          </p:cNvSpPr>
          <p:nvPr/>
        </p:nvSpPr>
        <p:spPr>
          <a:xfrm xmlns:a="http://schemas.openxmlformats.org/drawingml/2006/main">
            <a:off x="1072003" y="2575468"/>
            <a:ext cx="2573681" cy="5409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30"/>
              </a:lnSpc>
              <a:buNone/>
            </a:pPr>
            <a:r>
              <a:rPr sz="1400">
                <a:solidFill>
                  <a:srgbClr val="1F2937"/>
                </a:solidFill>
                <a:latin typeface="Noto Sans KR"/>
                <a:ea typeface="Noto Sans KR"/>
                <a:cs typeface="Noto Sans KR"/>
              </a:rPr>
              <a:t>작업을 단계별로 나눠 위험을 찾고,</a:t>
            </a:r>
            <a:endParaRPr sz="1400"/>
          </a:p>
          <a:p xmlns:a="http://schemas.openxmlformats.org/drawingml/2006/main">
            <a:pPr marL="0" indent="0" algn="l">
              <a:lnSpc>
                <a:spcPts val="2030"/>
              </a:lnSpc>
              <a:buNone/>
            </a:pPr>
            <a:r>
              <a:rPr sz="1400">
                <a:solidFill>
                  <a:srgbClr val="1F2937"/>
                </a:solidFill>
                <a:latin typeface="Noto Sans KR"/>
                <a:ea typeface="Noto Sans KR"/>
                <a:cs typeface="Noto Sans KR"/>
              </a:rPr>
              <a:t>막는 방법을 정해 두는 서류</a:t>
            </a:r>
            <a:endParaRPr sz="1400"/>
          </a:p>
        </p:txBody>
      </p:sp>
      <p:sp>
        <p:nvSpPr>
          <p:cNvPr id="9" name="Shape 7">
            <a:extLst xmlns:a="http://schemas.openxmlformats.org/drawingml/2006/main">
              <a:ext uri="{FF2B5EF4-FFF2-40B4-BE49-F238E27FC236}">
                <a16:creationId xmlns:a16="http://schemas.microsoft.com/office/drawing/2014/main" id="{284D4441-B0BA-448E-A68E-DB596ACD66C7}"/>
              </a:ext>
            </a:extLst>
          </p:cNvPr>
          <p:cNvSpPr>
            <a:spLocks xmlns:a="http://schemas.openxmlformats.org/drawingml/2006/main" noGrp="1"/>
          </p:cNvSpPr>
          <p:nvPr/>
        </p:nvSpPr>
        <p:spPr>
          <a:xfrm xmlns:a="http://schemas.openxmlformats.org/drawingml/2006/main">
            <a:off x="1091053" y="3218027"/>
            <a:ext cx="0" cy="240003"/>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10" name="Text 8">
            <a:extLst xmlns:a="http://schemas.openxmlformats.org/drawingml/2006/main">
              <a:ext uri="{FF2B5EF4-FFF2-40B4-BE49-F238E27FC236}">
                <a16:creationId xmlns:a16="http://schemas.microsoft.com/office/drawing/2014/main" id="{9E9CFA00-F9A7-4DD5-B64F-8EE8F1C6F08E}"/>
              </a:ext>
            </a:extLst>
          </p:cNvPr>
          <p:cNvSpPr>
            <a:spLocks xmlns:a="http://schemas.openxmlformats.org/drawingml/2006/main" noGrp="1"/>
          </p:cNvSpPr>
          <p:nvPr/>
        </p:nvSpPr>
        <p:spPr>
          <a:xfrm xmlns:a="http://schemas.openxmlformats.org/drawingml/2006/main">
            <a:off x="1235895" y="3218027"/>
            <a:ext cx="2482820" cy="2654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90"/>
              </a:lnSpc>
              <a:buNone/>
            </a:pPr>
            <a:r>
              <a:rPr sz="1400" b="1">
                <a:solidFill>
                  <a:srgbClr val="1F2937"/>
                </a:solidFill>
                <a:latin typeface="Noto Sans KR"/>
                <a:ea typeface="Noto Sans KR"/>
                <a:cs typeface="Noto Sans KR"/>
              </a:rPr>
              <a:t>작업별 위험과 조치를 미리 정리</a:t>
            </a:r>
            <a:endParaRPr sz="1400"/>
          </a:p>
        </p:txBody>
      </p:sp>
      <p:sp>
        <p:nvSpPr>
          <p:cNvPr id="11" name="Shape 9">
            <a:extLst xmlns:a="http://schemas.openxmlformats.org/drawingml/2006/main">
              <a:ext uri="{FF2B5EF4-FFF2-40B4-BE49-F238E27FC236}">
                <a16:creationId xmlns:a16="http://schemas.microsoft.com/office/drawing/2014/main" id="{5959539D-4302-4800-938D-090513AEBB50}"/>
              </a:ext>
            </a:extLst>
          </p:cNvPr>
          <p:cNvSpPr>
            <a:spLocks xmlns:a="http://schemas.openxmlformats.org/drawingml/2006/main" noGrp="1"/>
          </p:cNvSpPr>
          <p:nvPr/>
        </p:nvSpPr>
        <p:spPr>
          <a:xfrm xmlns:a="http://schemas.openxmlformats.org/drawingml/2006/main">
            <a:off x="6200749" y="1892808"/>
            <a:ext cx="5175300" cy="1821276"/>
          </a:xfrm>
          <a:prstGeom xmlns:a="http://schemas.openxmlformats.org/drawingml/2006/main" prst="roundRect">
            <a:avLst>
              <a:gd name="adj" fmla="val 6799"/>
            </a:avLst>
          </a:prstGeom>
          <a:solidFill xmlns:a="http://schemas.openxmlformats.org/drawingml/2006/main">
            <a:srgbClr val="FFFFFF"/>
          </a:solidFill>
          <a:ln xmlns:a="http://schemas.openxmlformats.org/drawingml/2006/main" w="6350">
            <a:solidFill>
              <a:srgbClr val="E1E5EA"/>
            </a:solidFill>
            <a:prstDash val="solid"/>
          </a:ln>
          <a:effectLst xmlns:a="http://schemas.openxmlformats.org/drawingml/2006/main">
            <a:outerShdw blurRad="203200" dist="25400" dir="5400000" sx="100000" sy="100000" kx="0" ky="0" algn="bl" rotWithShape="0">
              <a:srgbClr val="000000">
                <a:alpha val="4000"/>
              </a:srgbClr>
            </a:outerShdw>
          </a:effectLst>
        </p:spPr>
      </p:sp>
      <p:sp>
        <p:nvSpPr>
          <p:cNvPr id="12" name="Text 10">
            <a:extLst xmlns:a="http://schemas.openxmlformats.org/drawingml/2006/main">
              <a:ext uri="{FF2B5EF4-FFF2-40B4-BE49-F238E27FC236}">
                <a16:creationId xmlns:a16="http://schemas.microsoft.com/office/drawing/2014/main" id="{27B7E06F-4A26-49E4-931F-932551C1502B}"/>
              </a:ext>
            </a:extLst>
          </p:cNvPr>
          <p:cNvSpPr>
            <a:spLocks xmlns:a="http://schemas.openxmlformats.org/drawingml/2006/main" noGrp="1"/>
          </p:cNvSpPr>
          <p:nvPr/>
        </p:nvSpPr>
        <p:spPr>
          <a:xfrm xmlns:a="http://schemas.openxmlformats.org/drawingml/2006/main">
            <a:off x="6456805" y="2148864"/>
            <a:ext cx="633378" cy="299622"/>
          </a:xfrm>
          <a:prstGeom xmlns:a="http://schemas.openxmlformats.org/drawingml/2006/main" prst="roundRect">
            <a:avLst>
              <a:gd name="adj" fmla="val 50000"/>
            </a:avLst>
          </a:prstGeom>
          <a:solidFill xmlns:a="http://schemas.openxmlformats.org/drawingml/2006/main">
            <a:srgbClr val="1D4ED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960"/>
              </a:lnSpc>
              <a:buNone/>
            </a:pPr>
            <a:r>
              <a:rPr sz="1400" b="1">
                <a:solidFill>
                  <a:srgbClr val="FFFFFF"/>
                </a:solidFill>
                <a:latin typeface="Noto Sans KR"/>
                <a:ea typeface="Noto Sans KR"/>
                <a:cs typeface="Noto Sans KR"/>
              </a:rPr>
              <a:t>TBM</a:t>
            </a:r>
            <a:endParaRPr sz="1400"/>
          </a:p>
        </p:txBody>
      </p:sp>
      <p:sp>
        <p:nvSpPr>
          <p:cNvPr id="13" name="Text 11">
            <a:extLst xmlns:a="http://schemas.openxmlformats.org/drawingml/2006/main">
              <a:ext uri="{FF2B5EF4-FFF2-40B4-BE49-F238E27FC236}">
                <a16:creationId xmlns:a16="http://schemas.microsoft.com/office/drawing/2014/main" id="{E93CF8CD-BA14-4226-9229-282C3BA0F7BC}"/>
              </a:ext>
            </a:extLst>
          </p:cNvPr>
          <p:cNvSpPr>
            <a:spLocks xmlns:a="http://schemas.openxmlformats.org/drawingml/2006/main" noGrp="1"/>
          </p:cNvSpPr>
          <p:nvPr/>
        </p:nvSpPr>
        <p:spPr>
          <a:xfrm xmlns:a="http://schemas.openxmlformats.org/drawingml/2006/main">
            <a:off x="7191759" y="2203214"/>
            <a:ext cx="1596097"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작업 전 안전점검회의</a:t>
            </a:r>
            <a:endParaRPr sz="1200"/>
          </a:p>
        </p:txBody>
      </p:sp>
      <p:sp>
        <p:nvSpPr>
          <p:cNvPr id="14" name="Text 12">
            <a:extLst xmlns:a="http://schemas.openxmlformats.org/drawingml/2006/main">
              <a:ext uri="{FF2B5EF4-FFF2-40B4-BE49-F238E27FC236}">
                <a16:creationId xmlns:a16="http://schemas.microsoft.com/office/drawing/2014/main" id="{3E32E5B0-83DD-4609-85D3-D22C3055D9FA}"/>
              </a:ext>
            </a:extLst>
          </p:cNvPr>
          <p:cNvSpPr>
            <a:spLocks xmlns:a="http://schemas.openxmlformats.org/drawingml/2006/main" noGrp="1"/>
          </p:cNvSpPr>
          <p:nvPr/>
        </p:nvSpPr>
        <p:spPr>
          <a:xfrm xmlns:a="http://schemas.openxmlformats.org/drawingml/2006/main">
            <a:off x="6456805" y="2575468"/>
            <a:ext cx="2313246" cy="5409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30"/>
              </a:lnSpc>
              <a:buNone/>
            </a:pPr>
            <a:r>
              <a:rPr sz="1400">
                <a:solidFill>
                  <a:srgbClr val="1F2937"/>
                </a:solidFill>
                <a:latin typeface="Noto Sans KR"/>
                <a:ea typeface="Noto Sans KR"/>
                <a:cs typeface="Noto Sans KR"/>
              </a:rPr>
              <a:t>작업 시작 전 5~10분,</a:t>
            </a:r>
            <a:endParaRPr sz="1400"/>
          </a:p>
          <a:p xmlns:a="http://schemas.openxmlformats.org/drawingml/2006/main">
            <a:pPr marL="0" indent="0" algn="l">
              <a:lnSpc>
                <a:spcPts val="2030"/>
              </a:lnSpc>
              <a:buNone/>
            </a:pPr>
            <a:r>
              <a:rPr sz="1400">
                <a:solidFill>
                  <a:srgbClr val="1F2937"/>
                </a:solidFill>
                <a:latin typeface="Noto Sans KR"/>
                <a:ea typeface="Noto Sans KR"/>
                <a:cs typeface="Noto Sans KR"/>
              </a:rPr>
              <a:t>위험을 근로자에게 알리는 회의</a:t>
            </a:r>
            <a:endParaRPr sz="1400"/>
          </a:p>
        </p:txBody>
      </p:sp>
      <p:sp>
        <p:nvSpPr>
          <p:cNvPr id="15" name="Shape 13">
            <a:extLst xmlns:a="http://schemas.openxmlformats.org/drawingml/2006/main">
              <a:ext uri="{FF2B5EF4-FFF2-40B4-BE49-F238E27FC236}">
                <a16:creationId xmlns:a16="http://schemas.microsoft.com/office/drawing/2014/main" id="{A2D061E4-DFA0-4D79-98E9-54D55EDACBDA}"/>
              </a:ext>
            </a:extLst>
          </p:cNvPr>
          <p:cNvSpPr>
            <a:spLocks xmlns:a="http://schemas.openxmlformats.org/drawingml/2006/main" noGrp="1"/>
          </p:cNvSpPr>
          <p:nvPr/>
        </p:nvSpPr>
        <p:spPr>
          <a:xfrm xmlns:a="http://schemas.openxmlformats.org/drawingml/2006/main">
            <a:off x="6475855" y="3218027"/>
            <a:ext cx="0" cy="240003"/>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16" name="Text 14">
            <a:extLst xmlns:a="http://schemas.openxmlformats.org/drawingml/2006/main">
              <a:ext uri="{FF2B5EF4-FFF2-40B4-BE49-F238E27FC236}">
                <a16:creationId xmlns:a16="http://schemas.microsoft.com/office/drawing/2014/main" id="{FB564381-6961-4F29-B62F-A4CBC861E499}"/>
              </a:ext>
            </a:extLst>
          </p:cNvPr>
          <p:cNvSpPr>
            <a:spLocks xmlns:a="http://schemas.openxmlformats.org/drawingml/2006/main" noGrp="1"/>
          </p:cNvSpPr>
          <p:nvPr/>
        </p:nvSpPr>
        <p:spPr>
          <a:xfrm xmlns:a="http://schemas.openxmlformats.org/drawingml/2006/main">
            <a:off x="6620697" y="3218027"/>
            <a:ext cx="2187271" cy="2654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90"/>
              </a:lnSpc>
              <a:buNone/>
            </a:pPr>
            <a:r>
              <a:rPr sz="1400" b="1">
                <a:solidFill>
                  <a:srgbClr val="1F2937"/>
                </a:solidFill>
                <a:latin typeface="Noto Sans KR"/>
                <a:ea typeface="Noto Sans KR"/>
                <a:cs typeface="Noto Sans KR"/>
              </a:rPr>
              <a:t>위험을 공유하고 내용을 기록</a:t>
            </a:r>
            <a:endParaRPr sz="1400"/>
          </a:p>
        </p:txBody>
      </p:sp>
      <p:sp>
        <p:nvSpPr>
          <p:cNvPr id="17" name="Shape 15">
            <a:extLst xmlns:a="http://schemas.openxmlformats.org/drawingml/2006/main">
              <a:ext uri="{FF2B5EF4-FFF2-40B4-BE49-F238E27FC236}">
                <a16:creationId xmlns:a16="http://schemas.microsoft.com/office/drawing/2014/main" id="{23196560-A108-4E57-B206-59FD6681345B}"/>
              </a:ext>
            </a:extLst>
          </p:cNvPr>
          <p:cNvSpPr>
            <a:spLocks xmlns:a="http://schemas.openxmlformats.org/drawingml/2006/main" noGrp="1"/>
          </p:cNvSpPr>
          <p:nvPr/>
        </p:nvSpPr>
        <p:spPr>
          <a:xfrm xmlns:a="http://schemas.openxmlformats.org/drawingml/2006/main">
            <a:off x="812772" y="4513728"/>
            <a:ext cx="10566452" cy="1328269"/>
          </a:xfrm>
          <a:prstGeom xmlns:a="http://schemas.openxmlformats.org/drawingml/2006/main" prst="roundRect">
            <a:avLst>
              <a:gd name="adj" fmla="val 9561"/>
            </a:avLst>
          </a:prstGeom>
          <a:solidFill xmlns:a="http://schemas.openxmlformats.org/drawingml/2006/main">
            <a:srgbClr val="DBEAFE"/>
          </a:solidFill>
        </p:spPr>
      </p:sp>
      <p:sp>
        <p:nvSpPr>
          <p:cNvPr id="18" name="Text 16">
            <a:extLst xmlns:a="http://schemas.openxmlformats.org/drawingml/2006/main">
              <a:ext uri="{FF2B5EF4-FFF2-40B4-BE49-F238E27FC236}">
                <a16:creationId xmlns:a16="http://schemas.microsoft.com/office/drawing/2014/main" id="{99978779-EA0F-437D-879D-E0897B8E027D}"/>
              </a:ext>
            </a:extLst>
          </p:cNvPr>
          <p:cNvSpPr>
            <a:spLocks xmlns:a="http://schemas.openxmlformats.org/drawingml/2006/main" noGrp="1"/>
          </p:cNvSpPr>
          <p:nvPr/>
        </p:nvSpPr>
        <p:spPr>
          <a:xfrm xmlns:a="http://schemas.openxmlformats.org/drawingml/2006/main">
            <a:off x="1092137" y="4742324"/>
            <a:ext cx="10307954"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b="1" spc="100">
                <a:solidFill>
                  <a:srgbClr val="1D4ED8"/>
                </a:solidFill>
                <a:latin typeface="Noto Sans KR"/>
                <a:ea typeface="Noto Sans KR"/>
                <a:cs typeface="Noto Sans KR"/>
              </a:rPr>
              <a:t>기록이 남아야 다음 작업에 이어집니다</a:t>
            </a:r>
            <a:endParaRPr sz="1200"/>
          </a:p>
        </p:txBody>
      </p:sp>
      <p:sp>
        <p:nvSpPr>
          <p:cNvPr id="19" name="Text 17">
            <a:extLst xmlns:a="http://schemas.openxmlformats.org/drawingml/2006/main">
              <a:ext uri="{FF2B5EF4-FFF2-40B4-BE49-F238E27FC236}">
                <a16:creationId xmlns:a16="http://schemas.microsoft.com/office/drawing/2014/main" id="{2925485B-C0FA-4A9C-AFE8-EB104BFE986D}"/>
              </a:ext>
            </a:extLst>
          </p:cNvPr>
          <p:cNvSpPr>
            <a:spLocks xmlns:a="http://schemas.openxmlformats.org/drawingml/2006/main" noGrp="1"/>
          </p:cNvSpPr>
          <p:nvPr/>
        </p:nvSpPr>
        <p:spPr>
          <a:xfrm xmlns:a="http://schemas.openxmlformats.org/drawingml/2006/main">
            <a:off x="1092137" y="5044540"/>
            <a:ext cx="10307954" cy="59425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240"/>
              </a:lnSpc>
              <a:buNone/>
            </a:pPr>
            <a:r>
              <a:rPr sz="1400" b="1">
                <a:solidFill>
                  <a:srgbClr val="1F2937"/>
                </a:solidFill>
                <a:latin typeface="Noto Sans KR"/>
                <a:ea typeface="Noto Sans KR"/>
                <a:cs typeface="Noto Sans KR"/>
              </a:rPr>
              <a:t>위험성평가와 작업 전 공유 내용을 한곳에 모읍니다.</a:t>
            </a:r>
            <a:endParaRPr sz="1400"/>
          </a:p>
          <a:p xmlns:a="http://schemas.openxmlformats.org/drawingml/2006/main">
            <a:pPr marL="0" indent="0" algn="l">
              <a:lnSpc>
                <a:spcPts val="2240"/>
              </a:lnSpc>
              <a:buNone/>
            </a:pPr>
            <a:r>
              <a:rPr sz="1400" b="1">
                <a:solidFill>
                  <a:srgbClr val="1F2937"/>
                </a:solidFill>
                <a:latin typeface="Noto Sans KR"/>
                <a:ea typeface="Noto Sans KR"/>
                <a:cs typeface="Noto Sans KR"/>
              </a:rPr>
              <a:t>무엇을 확인했고 어떤 조치가 남았는지 다시 볼 수 있습니다.</a:t>
            </a:r>
          </a:p>
        </p:txBody>
      </p:sp>
      <p:sp>
        <p:nvSpPr>
          <p:cNvPr id="20" name="Text 18">
            <a:extLst xmlns:a="http://schemas.openxmlformats.org/drawingml/2006/main">
              <a:ext uri="{FF2B5EF4-FFF2-40B4-BE49-F238E27FC236}">
                <a16:creationId xmlns:a16="http://schemas.microsoft.com/office/drawing/2014/main" id="{95BB19BF-5B6F-4945-AFF6-92678D0BA452}"/>
              </a:ext>
            </a:extLst>
          </p:cNvPr>
          <p:cNvSpPr>
            <a:spLocks xmlns:a="http://schemas.openxmlformats.org/drawingml/2006/main" noGrp="1"/>
          </p:cNvSpPr>
          <p:nvPr/>
        </p:nvSpPr>
        <p:spPr>
          <a:xfrm xmlns:a="http://schemas.openxmlformats.org/drawingml/2006/main">
            <a:off x="812772" y="6238253"/>
            <a:ext cx="7792238"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참고: 고용노동부·안전보건공단(KOSHA) 위험성평가·TBM 안내. 현장 검토가 필요합니다.</a:t>
            </a:r>
            <a:endParaRPr sz="1200"/>
          </a:p>
        </p:txBody>
      </p:sp>
      <p:sp>
        <p:nvSpPr>
          <p:cNvPr id="21" name="Text 19">
            <a:extLst xmlns:a="http://schemas.openxmlformats.org/drawingml/2006/main">
              <a:ext uri="{FF2B5EF4-FFF2-40B4-BE49-F238E27FC236}">
                <a16:creationId xmlns:a16="http://schemas.microsoft.com/office/drawing/2014/main" id="{322C126D-9D60-48F2-9AD5-AEE86EA49483}"/>
              </a:ext>
            </a:extLst>
          </p:cNvPr>
          <p:cNvSpPr>
            <a:spLocks xmlns:a="http://schemas.openxmlformats.org/drawingml/2006/main" noGrp="1"/>
          </p:cNvSpPr>
          <p:nvPr/>
        </p:nvSpPr>
        <p:spPr>
          <a:xfrm xmlns:a="http://schemas.openxmlformats.org/drawingml/2006/main">
            <a:off x="10819540" y="6238253"/>
            <a:ext cx="559602"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r">
              <a:lnSpc>
                <a:spcPts val="1680"/>
              </a:lnSpc>
              <a:buNone/>
            </a:pPr>
            <a:r>
              <a:rPr sz="1200">
                <a:solidFill>
                  <a:srgbClr val="6B7280"/>
                </a:solidFill>
                <a:latin typeface="Noto Sans KR"/>
                <a:ea typeface="Noto Sans KR"/>
                <a:cs typeface="Noto Sans KR"/>
              </a:rPr>
              <a:t>03 / 14</a:t>
            </a:r>
            <a:endParaRPr sz="1200"/>
          </a:p>
        </p:txBody>
      </p:sp>
    </p:spTree>
    <p:extLst>
      <p:ext uri="{BB962C8B-B14F-4D97-AF65-F5344CB8AC3E}">
        <p14:creationId xmlns:p14="http://schemas.microsoft.com/office/powerpoint/2010/main" val="162987686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9F7B7C9-A0FC-4B65-81A6-720B2D8233FB}"/>
              </a:ext>
            </a:extLst>
          </p:cNvPr>
          <p:cNvSpPr>
            <a:spLocks xmlns:a="http://schemas.openxmlformats.org/drawingml/2006/main" noGrp="1"/>
          </p:cNvSpPr>
          <p:nvPr/>
        </p:nvSpPr>
        <p:spPr>
          <a:xfrm xmlns:a="http://schemas.openxmlformats.org/drawingml/2006/main">
            <a:off x="812772" y="868646"/>
            <a:ext cx="101576" cy="101576"/>
          </a:xfrm>
          <a:prstGeom xmlns:a="http://schemas.openxmlformats.org/drawingml/2006/main" prst="roundRect">
            <a:avLst>
              <a:gd name="adj" fmla="val 50000"/>
            </a:avLst>
          </a:prstGeom>
          <a:solidFill xmlns:a="http://schemas.openxmlformats.org/drawingml/2006/main">
            <a:srgbClr val="1D4ED8"/>
          </a:solidFill>
        </p:spPr>
      </p:sp>
      <p:sp>
        <p:nvSpPr>
          <p:cNvPr id="3" name="Text 1">
            <a:extLst xmlns:a="http://schemas.openxmlformats.org/drawingml/2006/main">
              <a:ext uri="{FF2B5EF4-FFF2-40B4-BE49-F238E27FC236}">
                <a16:creationId xmlns:a16="http://schemas.microsoft.com/office/drawing/2014/main" id="{98A30108-91D6-4F98-8C92-0C1547EADE4F}"/>
              </a:ext>
            </a:extLst>
          </p:cNvPr>
          <p:cNvSpPr>
            <a:spLocks xmlns:a="http://schemas.openxmlformats.org/drawingml/2006/main" noGrp="1"/>
          </p:cNvSpPr>
          <p:nvPr/>
        </p:nvSpPr>
        <p:spPr>
          <a:xfrm xmlns:a="http://schemas.openxmlformats.org/drawingml/2006/main">
            <a:off x="1015924" y="812774"/>
            <a:ext cx="1536510"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1D4ED8"/>
                </a:solidFill>
                <a:latin typeface="Noto Sans KR"/>
                <a:ea typeface="Noto Sans KR"/>
                <a:cs typeface="Noto Sans KR"/>
              </a:rPr>
              <a:t>COMPETITORS</a:t>
            </a:r>
            <a:endParaRPr sz="1200"/>
          </a:p>
        </p:txBody>
      </p:sp>
      <p:sp>
        <p:nvSpPr>
          <p:cNvPr id="4" name="Text 2">
            <a:extLst xmlns:a="http://schemas.openxmlformats.org/drawingml/2006/main">
              <a:ext uri="{FF2B5EF4-FFF2-40B4-BE49-F238E27FC236}">
                <a16:creationId xmlns:a16="http://schemas.microsoft.com/office/drawing/2014/main" id="{9EFB6EA0-67BF-45C2-92E8-BC9B130FBBC2}"/>
              </a:ext>
            </a:extLst>
          </p:cNvPr>
          <p:cNvSpPr>
            <a:spLocks xmlns:a="http://schemas.openxmlformats.org/drawingml/2006/main" noGrp="1"/>
          </p:cNvSpPr>
          <p:nvPr>
            <p:ph type="title" idx="0"/>
          </p:nvPr>
        </p:nvSpPr>
        <p:spPr>
          <a:xfrm xmlns:a="http://schemas.openxmlformats.org/drawingml/2006/main">
            <a:off x="812772" y="1165757"/>
            <a:ext cx="10883445" cy="48255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600"/>
              </a:lnSpc>
              <a:buNone/>
            </a:pPr>
            <a:r>
              <a:rPr sz="3000" b="1" i="0" spc="-50">
                <a:solidFill>
                  <a:srgbClr val="1F2937"/>
                </a:solidFill>
                <a:latin typeface="Pretendard"/>
                <a:ea typeface="Pretendard"/>
                <a:cs typeface="Pretendard"/>
              </a:rPr>
              <a:t>타 서비스 분석: 기록하는 앱 vs 확인하는 앱</a:t>
            </a:r>
            <a:endParaRPr sz="3000"/>
          </a:p>
        </p:txBody>
      </p:sp>
      <p:sp>
        <p:nvSpPr>
          <p:cNvPr id="5" name="Shape 3">
            <a:extLst xmlns:a="http://schemas.openxmlformats.org/drawingml/2006/main">
              <a:ext uri="{FF2B5EF4-FFF2-40B4-BE49-F238E27FC236}">
                <a16:creationId xmlns:a16="http://schemas.microsoft.com/office/drawing/2014/main" id="{2E179EBE-47E6-4C5C-8D00-3053679386EB}"/>
              </a:ext>
            </a:extLst>
          </p:cNvPr>
          <p:cNvSpPr>
            <a:spLocks xmlns:a="http://schemas.openxmlformats.org/drawingml/2006/main" noGrp="1"/>
          </p:cNvSpPr>
          <p:nvPr/>
        </p:nvSpPr>
        <p:spPr>
          <a:xfrm xmlns:a="http://schemas.openxmlformats.org/drawingml/2006/main">
            <a:off x="815947" y="1765746"/>
            <a:ext cx="10560102" cy="2512832"/>
          </a:xfrm>
          <a:prstGeom xmlns:a="http://schemas.openxmlformats.org/drawingml/2006/main" prst="roundRect">
            <a:avLst>
              <a:gd name="adj" fmla="val 4928"/>
            </a:avLst>
          </a:prstGeom>
          <a:solidFill xmlns:a="http://schemas.openxmlformats.org/drawingml/2006/main">
            <a:srgbClr val="FFFFFF"/>
          </a:solidFill>
          <a:ln xmlns:a="http://schemas.openxmlformats.org/drawingml/2006/main" w="6350">
            <a:solidFill>
              <a:srgbClr val="E1E5EA"/>
            </a:solidFill>
            <a:prstDash val="solid"/>
          </a:ln>
          <a:effectLst xmlns:a="http://schemas.openxmlformats.org/drawingml/2006/main">
            <a:outerShdw blurRad="203200" dist="25400" dir="5400000" sx="100000" sy="100000" kx="0" ky="0" algn="bl" rotWithShape="0">
              <a:srgbClr val="000000">
                <a:alpha val="4000"/>
              </a:srgbClr>
            </a:outerShdw>
          </a:effectLst>
        </p:spPr>
      </p:sp>
      <p:sp>
        <p:nvSpPr>
          <p:cNvPr id="6" name="Shape 4">
            <a:extLst xmlns:a="http://schemas.openxmlformats.org/drawingml/2006/main">
              <a:ext uri="{FF2B5EF4-FFF2-40B4-BE49-F238E27FC236}">
                <a16:creationId xmlns:a16="http://schemas.microsoft.com/office/drawing/2014/main" id="{D188F3E9-175A-467B-AEA2-B14E0AA3C1AB}"/>
              </a:ext>
            </a:extLst>
          </p:cNvPr>
          <p:cNvSpPr>
            <a:spLocks xmlns:a="http://schemas.openxmlformats.org/drawingml/2006/main" noGrp="1"/>
          </p:cNvSpPr>
          <p:nvPr/>
        </p:nvSpPr>
        <p:spPr>
          <a:xfrm xmlns:a="http://schemas.openxmlformats.org/drawingml/2006/main">
            <a:off x="818043" y="1767842"/>
            <a:ext cx="10555911" cy="639101"/>
          </a:xfrm>
          <a:custGeom xmlns:a="http://schemas.openxmlformats.org/drawingml/2006/main">
            <a:rect l="l" t="t" r="r" b="b"/>
            <a:pathLst>
              <a:path w="10555911" h="639101">
                <a:moveTo>
                  <a:pt x="0" y="626401"/>
                </a:moveTo>
                <a:lnTo>
                  <a:pt x="10555911" y="626401"/>
                </a:lnTo>
                <a:lnTo>
                  <a:pt x="10555911" y="639101"/>
                </a:lnTo>
                <a:lnTo>
                  <a:pt x="0" y="639101"/>
                </a:lnTo>
                <a:lnTo>
                  <a:pt x="0" y="626401"/>
                </a:lnTo>
                <a:close/>
              </a:path>
            </a:pathLst>
          </a:custGeom>
          <a:solidFill xmlns:a="http://schemas.openxmlformats.org/drawingml/2006/main">
            <a:srgbClr val="9CA3AF"/>
          </a:solidFill>
        </p:spPr>
      </p:sp>
      <p:sp>
        <p:nvSpPr>
          <p:cNvPr id="7" name="Text 5">
            <a:extLst xmlns:a="http://schemas.openxmlformats.org/drawingml/2006/main">
              <a:ext uri="{FF2B5EF4-FFF2-40B4-BE49-F238E27FC236}">
                <a16:creationId xmlns:a16="http://schemas.microsoft.com/office/drawing/2014/main" id="{0A0744D8-389C-44D9-970C-B204ACD0F70A}"/>
              </a:ext>
            </a:extLst>
          </p:cNvPr>
          <p:cNvSpPr>
            <a:spLocks xmlns:a="http://schemas.openxmlformats.org/drawingml/2006/main" noGrp="1"/>
          </p:cNvSpPr>
          <p:nvPr/>
        </p:nvSpPr>
        <p:spPr>
          <a:xfrm xmlns:a="http://schemas.openxmlformats.org/drawingml/2006/main">
            <a:off x="1046640" y="1975441"/>
            <a:ext cx="1427861"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국내 서비스와 비교</a:t>
            </a:r>
            <a:endParaRPr sz="1200"/>
          </a:p>
        </p:txBody>
      </p:sp>
      <p:sp>
        <p:nvSpPr>
          <p:cNvPr id="8" name="Text 6">
            <a:extLst xmlns:a="http://schemas.openxmlformats.org/drawingml/2006/main">
              <a:ext uri="{FF2B5EF4-FFF2-40B4-BE49-F238E27FC236}">
                <a16:creationId xmlns:a16="http://schemas.microsoft.com/office/drawing/2014/main" id="{3ACA7D5F-ED25-4B66-81ED-A4D02E7E9CB3}"/>
              </a:ext>
            </a:extLst>
          </p:cNvPr>
          <p:cNvSpPr>
            <a:spLocks xmlns:a="http://schemas.openxmlformats.org/drawingml/2006/main" noGrp="1"/>
          </p:cNvSpPr>
          <p:nvPr/>
        </p:nvSpPr>
        <p:spPr>
          <a:xfrm xmlns:a="http://schemas.openxmlformats.org/drawingml/2006/main">
            <a:off x="4120023" y="1767842"/>
            <a:ext cx="1650990" cy="628560"/>
          </a:xfrm>
          <a:prstGeom xmlns:a="http://schemas.openxmlformats.org/drawingml/2006/main" prst="rect">
            <a:avLst/>
          </a:prstGeom>
          <a:solidFill xmlns:a="http://schemas.openxmlformats.org/drawingml/2006/main">
            <a:srgbClr val="1D4ED8"/>
          </a:solidFill>
        </p:spPr>
        <p:txBody>
          <a:bodyPr xmlns:a="http://schemas.openxmlformats.org/drawingml/2006/main" wrap="square" lIns="0" tIns="101600" rIns="0" bIns="101600" anchor="ctr">
            <a:normAutofit/>
          </a:bodyPr>
          <a:lstStyle xmlns:a="http://schemas.openxmlformats.org/drawingml/2006/main"/>
          <a:p xmlns:a="http://schemas.openxmlformats.org/drawingml/2006/main">
            <a:pPr marL="0" indent="0" algn="ctr">
              <a:lnSpc>
                <a:spcPts val="1960"/>
              </a:lnSpc>
              <a:buNone/>
            </a:pPr>
            <a:r>
              <a:rPr sz="1400" b="1">
                <a:solidFill>
                  <a:srgbClr val="FFFFFF"/>
                </a:solidFill>
                <a:latin typeface="Noto Sans KR"/>
                <a:ea typeface="Noto Sans KR"/>
                <a:cs typeface="Noto Sans KR"/>
              </a:rPr>
              <a:t>안전반장</a:t>
            </a:r>
            <a:endParaRPr sz="1400"/>
          </a:p>
        </p:txBody>
      </p:sp>
      <p:sp>
        <p:nvSpPr>
          <p:cNvPr id="9" name="Shape 7">
            <a:extLst xmlns:a="http://schemas.openxmlformats.org/drawingml/2006/main">
              <a:ext uri="{FF2B5EF4-FFF2-40B4-BE49-F238E27FC236}">
                <a16:creationId xmlns:a16="http://schemas.microsoft.com/office/drawing/2014/main" id="{1497FDE6-FD67-4665-9F4A-C34B3CD40103}"/>
              </a:ext>
            </a:extLst>
          </p:cNvPr>
          <p:cNvSpPr>
            <a:spLocks xmlns:a="http://schemas.openxmlformats.org/drawingml/2006/main" noGrp="1"/>
          </p:cNvSpPr>
          <p:nvPr/>
        </p:nvSpPr>
        <p:spPr>
          <a:xfrm xmlns:a="http://schemas.openxmlformats.org/drawingml/2006/main">
            <a:off x="5774188" y="1767842"/>
            <a:ext cx="0" cy="628560"/>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10" name="Text 8">
            <a:extLst xmlns:a="http://schemas.openxmlformats.org/drawingml/2006/main">
              <a:ext uri="{FF2B5EF4-FFF2-40B4-BE49-F238E27FC236}">
                <a16:creationId xmlns:a16="http://schemas.microsoft.com/office/drawing/2014/main" id="{911270B6-7CB3-4063-B017-22B134AE1F45}"/>
              </a:ext>
            </a:extLst>
          </p:cNvPr>
          <p:cNvSpPr>
            <a:spLocks xmlns:a="http://schemas.openxmlformats.org/drawingml/2006/main" noGrp="1"/>
          </p:cNvSpPr>
          <p:nvPr/>
        </p:nvSpPr>
        <p:spPr>
          <a:xfrm xmlns:a="http://schemas.openxmlformats.org/drawingml/2006/main">
            <a:off x="6379497" y="1869418"/>
            <a:ext cx="655949" cy="24003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90"/>
              </a:lnSpc>
              <a:buNone/>
            </a:pPr>
            <a:r>
              <a:rPr sz="1300" b="1">
                <a:solidFill>
                  <a:srgbClr val="1F2937"/>
                </a:solidFill>
                <a:latin typeface="Noto Sans KR"/>
                <a:ea typeface="Noto Sans KR"/>
                <a:cs typeface="Noto Sans KR"/>
              </a:rPr>
              <a:t>TBM AI</a:t>
            </a:r>
            <a:endParaRPr sz="1300"/>
          </a:p>
        </p:txBody>
      </p:sp>
      <p:sp>
        <p:nvSpPr>
          <p:cNvPr id="11" name="Text 9">
            <a:extLst xmlns:a="http://schemas.openxmlformats.org/drawingml/2006/main">
              <a:ext uri="{FF2B5EF4-FFF2-40B4-BE49-F238E27FC236}">
                <a16:creationId xmlns:a16="http://schemas.microsoft.com/office/drawing/2014/main" id="{8CA21E50-50CE-4C2B-BE79-92F45BA25975}"/>
              </a:ext>
            </a:extLst>
          </p:cNvPr>
          <p:cNvSpPr>
            <a:spLocks xmlns:a="http://schemas.openxmlformats.org/drawingml/2006/main" noGrp="1"/>
          </p:cNvSpPr>
          <p:nvPr/>
        </p:nvSpPr>
        <p:spPr>
          <a:xfrm xmlns:a="http://schemas.openxmlformats.org/drawingml/2006/main">
            <a:off x="5777363" y="2096739"/>
            <a:ext cx="1860217" cy="223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200">
                <a:solidFill>
                  <a:srgbClr val="6B7280"/>
                </a:solidFill>
                <a:latin typeface="Noto Sans KR"/>
                <a:ea typeface="Noto Sans KR"/>
                <a:cs typeface="Noto Sans KR"/>
              </a:rPr>
              <a:t>직접 사용 · TBM 녹음 기록</a:t>
            </a:r>
            <a:endParaRPr sz="1200"/>
          </a:p>
        </p:txBody>
      </p:sp>
      <p:sp>
        <p:nvSpPr>
          <p:cNvPr id="12" name="Shape 10">
            <a:extLst xmlns:a="http://schemas.openxmlformats.org/drawingml/2006/main">
              <a:ext uri="{FF2B5EF4-FFF2-40B4-BE49-F238E27FC236}">
                <a16:creationId xmlns:a16="http://schemas.microsoft.com/office/drawing/2014/main" id="{4BDB77C4-45BA-476C-9E0C-0F2825AB2C4A}"/>
              </a:ext>
            </a:extLst>
          </p:cNvPr>
          <p:cNvSpPr>
            <a:spLocks xmlns:a="http://schemas.openxmlformats.org/drawingml/2006/main" noGrp="1"/>
          </p:cNvSpPr>
          <p:nvPr/>
        </p:nvSpPr>
        <p:spPr>
          <a:xfrm xmlns:a="http://schemas.openxmlformats.org/drawingml/2006/main">
            <a:off x="7641835" y="1767842"/>
            <a:ext cx="0" cy="628560"/>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13" name="Text 11">
            <a:extLst xmlns:a="http://schemas.openxmlformats.org/drawingml/2006/main">
              <a:ext uri="{FF2B5EF4-FFF2-40B4-BE49-F238E27FC236}">
                <a16:creationId xmlns:a16="http://schemas.microsoft.com/office/drawing/2014/main" id="{BA3219EA-C5BF-4840-ADA7-DC2D57767BC7}"/>
              </a:ext>
            </a:extLst>
          </p:cNvPr>
          <p:cNvSpPr>
            <a:spLocks xmlns:a="http://schemas.openxmlformats.org/drawingml/2006/main" noGrp="1"/>
          </p:cNvSpPr>
          <p:nvPr/>
        </p:nvSpPr>
        <p:spPr>
          <a:xfrm xmlns:a="http://schemas.openxmlformats.org/drawingml/2006/main">
            <a:off x="8028317" y="1869418"/>
            <a:ext cx="1093562" cy="24003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90"/>
              </a:lnSpc>
              <a:buNone/>
            </a:pPr>
            <a:r>
              <a:rPr sz="1300" b="1">
                <a:solidFill>
                  <a:srgbClr val="1F2937"/>
                </a:solidFill>
                <a:latin typeface="Noto Sans KR"/>
                <a:ea typeface="Noto Sans KR"/>
                <a:cs typeface="Noto Sans KR"/>
              </a:rPr>
              <a:t>세이프티스냅</a:t>
            </a:r>
            <a:endParaRPr sz="1300"/>
          </a:p>
        </p:txBody>
      </p:sp>
      <p:sp>
        <p:nvSpPr>
          <p:cNvPr id="14" name="Text 12">
            <a:extLst xmlns:a="http://schemas.openxmlformats.org/drawingml/2006/main">
              <a:ext uri="{FF2B5EF4-FFF2-40B4-BE49-F238E27FC236}">
                <a16:creationId xmlns:a16="http://schemas.microsoft.com/office/drawing/2014/main" id="{1F2D5D74-9591-49E7-B1FC-A666CF526512}"/>
              </a:ext>
            </a:extLst>
          </p:cNvPr>
          <p:cNvSpPr>
            <a:spLocks xmlns:a="http://schemas.openxmlformats.org/drawingml/2006/main" noGrp="1"/>
          </p:cNvSpPr>
          <p:nvPr/>
        </p:nvSpPr>
        <p:spPr>
          <a:xfrm xmlns:a="http://schemas.openxmlformats.org/drawingml/2006/main">
            <a:off x="7649983" y="2096739"/>
            <a:ext cx="1850272" cy="223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200">
                <a:solidFill>
                  <a:srgbClr val="6B7280"/>
                </a:solidFill>
                <a:latin typeface="Noto Sans KR"/>
                <a:ea typeface="Noto Sans KR"/>
                <a:cs typeface="Noto Sans KR"/>
              </a:rPr>
              <a:t>직접 사용 · 사진 위험 분석</a:t>
            </a:r>
            <a:endParaRPr sz="1200"/>
          </a:p>
        </p:txBody>
      </p:sp>
      <p:sp>
        <p:nvSpPr>
          <p:cNvPr id="15" name="Shape 13">
            <a:extLst xmlns:a="http://schemas.openxmlformats.org/drawingml/2006/main">
              <a:ext uri="{FF2B5EF4-FFF2-40B4-BE49-F238E27FC236}">
                <a16:creationId xmlns:a16="http://schemas.microsoft.com/office/drawing/2014/main" id="{A8243686-730A-4A7B-B4EB-C2A6BCF7FEF2}"/>
              </a:ext>
            </a:extLst>
          </p:cNvPr>
          <p:cNvSpPr>
            <a:spLocks xmlns:a="http://schemas.openxmlformats.org/drawingml/2006/main" noGrp="1"/>
          </p:cNvSpPr>
          <p:nvPr/>
        </p:nvSpPr>
        <p:spPr>
          <a:xfrm xmlns:a="http://schemas.openxmlformats.org/drawingml/2006/main">
            <a:off x="9506307" y="1767842"/>
            <a:ext cx="1867647" cy="628560"/>
          </a:xfrm>
          <a:custGeom xmlns:a="http://schemas.openxmlformats.org/drawingml/2006/main">
            <a:rect l="l" t="t" r="r" b="b"/>
            <a:pathLst>
              <a:path w="1867647" h="628560">
                <a:moveTo>
                  <a:pt x="0" y="0"/>
                </a:moveTo>
                <a:lnTo>
                  <a:pt x="6350" y="0"/>
                </a:lnTo>
                <a:lnTo>
                  <a:pt x="6350" y="628560"/>
                </a:lnTo>
                <a:lnTo>
                  <a:pt x="0" y="628560"/>
                </a:lnTo>
                <a:lnTo>
                  <a:pt x="0" y="0"/>
                </a:lnTo>
                <a:close/>
              </a:path>
            </a:pathLst>
          </a:custGeom>
          <a:solidFill xmlns:a="http://schemas.openxmlformats.org/drawingml/2006/main">
            <a:srgbClr val="E1E5EA"/>
          </a:solidFill>
        </p:spPr>
      </p:sp>
      <p:sp>
        <p:nvSpPr>
          <p:cNvPr id="16" name="Text 14">
            <a:extLst xmlns:a="http://schemas.openxmlformats.org/drawingml/2006/main">
              <a:ext uri="{FF2B5EF4-FFF2-40B4-BE49-F238E27FC236}">
                <a16:creationId xmlns:a16="http://schemas.microsoft.com/office/drawing/2014/main" id="{BF667B7D-AB1B-40DB-8468-F5ED12B55F35}"/>
              </a:ext>
            </a:extLst>
          </p:cNvPr>
          <p:cNvSpPr>
            <a:spLocks xmlns:a="http://schemas.openxmlformats.org/drawingml/2006/main" noGrp="1"/>
          </p:cNvSpPr>
          <p:nvPr/>
        </p:nvSpPr>
        <p:spPr>
          <a:xfrm xmlns:a="http://schemas.openxmlformats.org/drawingml/2006/main">
            <a:off x="9713695" y="1869418"/>
            <a:ext cx="1458099" cy="24003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90"/>
              </a:lnSpc>
              <a:buNone/>
            </a:pPr>
            <a:r>
              <a:rPr sz="1300" b="1">
                <a:solidFill>
                  <a:srgbClr val="1F2937"/>
                </a:solidFill>
                <a:latin typeface="Noto Sans KR"/>
                <a:ea typeface="Noto Sans KR"/>
                <a:cs typeface="Noto Sans KR"/>
              </a:rPr>
              <a:t>스마트위험성평가</a:t>
            </a:r>
            <a:endParaRPr sz="1300"/>
          </a:p>
        </p:txBody>
      </p:sp>
      <p:sp>
        <p:nvSpPr>
          <p:cNvPr id="17" name="Text 15">
            <a:extLst xmlns:a="http://schemas.openxmlformats.org/drawingml/2006/main">
              <a:ext uri="{FF2B5EF4-FFF2-40B4-BE49-F238E27FC236}">
                <a16:creationId xmlns:a16="http://schemas.microsoft.com/office/drawing/2014/main" id="{B6975795-C3C8-43D0-B7F6-9CB1D8E66004}"/>
              </a:ext>
            </a:extLst>
          </p:cNvPr>
          <p:cNvSpPr>
            <a:spLocks xmlns:a="http://schemas.openxmlformats.org/drawingml/2006/main" noGrp="1"/>
          </p:cNvSpPr>
          <p:nvPr/>
        </p:nvSpPr>
        <p:spPr>
          <a:xfrm xmlns:a="http://schemas.openxmlformats.org/drawingml/2006/main">
            <a:off x="9552525" y="2096739"/>
            <a:ext cx="1780482" cy="223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200">
                <a:solidFill>
                  <a:srgbClr val="6B7280"/>
                </a:solidFill>
                <a:latin typeface="Noto Sans KR"/>
                <a:ea typeface="Noto Sans KR"/>
                <a:cs typeface="Noto Sans KR"/>
              </a:rPr>
              <a:t>공개 자료 · 평가서 작성</a:t>
            </a:r>
            <a:endParaRPr sz="1200"/>
          </a:p>
        </p:txBody>
      </p:sp>
      <p:sp>
        <p:nvSpPr>
          <p:cNvPr id="18" name="Shape 16">
            <a:extLst xmlns:a="http://schemas.openxmlformats.org/drawingml/2006/main">
              <a:ext uri="{FF2B5EF4-FFF2-40B4-BE49-F238E27FC236}">
                <a16:creationId xmlns:a16="http://schemas.microsoft.com/office/drawing/2014/main" id="{C73C93AA-A98A-41A8-A9B8-F1D985C81D81}"/>
              </a:ext>
            </a:extLst>
          </p:cNvPr>
          <p:cNvSpPr>
            <a:spLocks xmlns:a="http://schemas.openxmlformats.org/drawingml/2006/main" noGrp="1"/>
          </p:cNvSpPr>
          <p:nvPr/>
        </p:nvSpPr>
        <p:spPr>
          <a:xfrm xmlns:a="http://schemas.openxmlformats.org/drawingml/2006/main">
            <a:off x="818043" y="3028705"/>
            <a:ext cx="10555911" cy="0"/>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19" name="Text 17">
            <a:extLst xmlns:a="http://schemas.openxmlformats.org/drawingml/2006/main">
              <a:ext uri="{FF2B5EF4-FFF2-40B4-BE49-F238E27FC236}">
                <a16:creationId xmlns:a16="http://schemas.microsoft.com/office/drawing/2014/main" id="{B6A9DB89-7753-484D-B38A-825FF4A11EBB}"/>
              </a:ext>
            </a:extLst>
          </p:cNvPr>
          <p:cNvSpPr>
            <a:spLocks xmlns:a="http://schemas.openxmlformats.org/drawingml/2006/main" noGrp="1"/>
          </p:cNvSpPr>
          <p:nvPr/>
        </p:nvSpPr>
        <p:spPr>
          <a:xfrm xmlns:a="http://schemas.openxmlformats.org/drawingml/2006/main">
            <a:off x="1046640" y="2495837"/>
            <a:ext cx="2930129" cy="2565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400" b="1">
                <a:solidFill>
                  <a:srgbClr val="1F2937"/>
                </a:solidFill>
                <a:latin typeface="Noto Sans KR"/>
                <a:ea typeface="Noto Sans KR"/>
                <a:cs typeface="Noto Sans KR"/>
              </a:rPr>
              <a:t>조치 사진 AI 판정</a:t>
            </a:r>
            <a:endParaRPr sz="1400"/>
          </a:p>
        </p:txBody>
      </p:sp>
      <p:sp>
        <p:nvSpPr>
          <p:cNvPr id="20" name="Text 18">
            <a:extLst xmlns:a="http://schemas.openxmlformats.org/drawingml/2006/main">
              <a:ext uri="{FF2B5EF4-FFF2-40B4-BE49-F238E27FC236}">
                <a16:creationId xmlns:a16="http://schemas.microsoft.com/office/drawing/2014/main" id="{B87C0FAF-9A29-4348-A7AC-DC60EF4575B0}"/>
              </a:ext>
            </a:extLst>
          </p:cNvPr>
          <p:cNvSpPr>
            <a:spLocks xmlns:a="http://schemas.openxmlformats.org/drawingml/2006/main" noGrp="1"/>
          </p:cNvSpPr>
          <p:nvPr/>
        </p:nvSpPr>
        <p:spPr>
          <a:xfrm xmlns:a="http://schemas.openxmlformats.org/drawingml/2006/main">
            <a:off x="1046640" y="2739628"/>
            <a:ext cx="2930129" cy="223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560"/>
              </a:lnSpc>
              <a:buNone/>
            </a:pPr>
            <a:r>
              <a:rPr sz="1200">
                <a:solidFill>
                  <a:srgbClr val="6B7280"/>
                </a:solidFill>
                <a:latin typeface="Noto Sans KR"/>
                <a:ea typeface="Noto Sans KR"/>
                <a:cs typeface="Noto Sans KR"/>
              </a:rPr>
              <a:t>사진에 보이는 조치 확인 보조</a:t>
            </a:r>
            <a:endParaRPr sz="1200"/>
          </a:p>
        </p:txBody>
      </p:sp>
      <p:sp>
        <p:nvSpPr>
          <p:cNvPr id="21" name="Shape 19">
            <a:extLst xmlns:a="http://schemas.openxmlformats.org/drawingml/2006/main">
              <a:ext uri="{FF2B5EF4-FFF2-40B4-BE49-F238E27FC236}">
                <a16:creationId xmlns:a16="http://schemas.microsoft.com/office/drawing/2014/main" id="{3AE576D9-D14B-4B9A-9109-331CC8C777E6}"/>
              </a:ext>
            </a:extLst>
          </p:cNvPr>
          <p:cNvSpPr>
            <a:spLocks xmlns:a="http://schemas.openxmlformats.org/drawingml/2006/main" noGrp="1"/>
          </p:cNvSpPr>
          <p:nvPr/>
        </p:nvSpPr>
        <p:spPr>
          <a:xfrm xmlns:a="http://schemas.openxmlformats.org/drawingml/2006/main">
            <a:off x="4120023" y="2406943"/>
            <a:ext cx="1650990" cy="619667"/>
          </a:xfrm>
          <a:prstGeom xmlns:a="http://schemas.openxmlformats.org/drawingml/2006/main" prst="rect">
            <a:avLst/>
          </a:prstGeom>
          <a:solidFill xmlns:a="http://schemas.openxmlformats.org/drawingml/2006/main">
            <a:srgbClr val="1D4ED8"/>
          </a:solidFill>
        </p:spPr>
      </p:sp>
      <p:pic>
        <p:nvPicPr>
          <p:cNvPr id="22" name="Image 0">
            <a:extLst xmlns:a="http://schemas.openxmlformats.org/drawingml/2006/main">
              <a:ext uri="{FF2B5EF4-FFF2-40B4-BE49-F238E27FC236}">
                <a16:creationId xmlns:a16="http://schemas.microsoft.com/office/drawing/2014/main" id="{B8F7AC64-09C0-433D-816C-6CD6F680D622}"/>
              </a:ext>
            </a:extLst>
          </p:cNvPr>
          <p:cNvPicPr>
            <a:picLocks xmlns:a="http://schemas.openxmlformats.org/drawingml/2006/main" noChangeAspect="1"/>
          </p:cNvPicPr>
          <p:nvPr/>
        </p:nvPicPr>
        <p:blipFill>
          <a:blip xmlns:r="http://schemas.openxmlformats.org/officeDocument/2006/relationships" xmlns:a="http://schemas.openxmlformats.org/drawingml/2006/main" r:embed="Rafa298a562a746eb"/>
          <a:srcRect xmlns:a="http://schemas.openxmlformats.org/drawingml/2006/main" l="0" t="0" r="0" b="0"/>
          <a:stretch xmlns:a="http://schemas.openxmlformats.org/drawingml/2006/main"/>
        </p:blipFill>
        <p:spPr>
          <a:xfrm xmlns:a="http://schemas.openxmlformats.org/drawingml/2006/main">
            <a:off x="4793133" y="2564392"/>
            <a:ext cx="304769" cy="304769"/>
          </a:xfrm>
          <a:prstGeom xmlns:a="http://schemas.openxmlformats.org/drawingml/2006/main" prst="rect">
            <a:avLst/>
          </a:prstGeom>
        </p:spPr>
      </p:pic>
      <p:sp>
        <p:nvSpPr>
          <p:cNvPr id="23" name="Shape 20">
            <a:extLst xmlns:a="http://schemas.openxmlformats.org/drawingml/2006/main">
              <a:ext uri="{FF2B5EF4-FFF2-40B4-BE49-F238E27FC236}">
                <a16:creationId xmlns:a16="http://schemas.microsoft.com/office/drawing/2014/main" id="{0C12A77C-99CF-42D6-9F35-DAB6777B6058}"/>
              </a:ext>
            </a:extLst>
          </p:cNvPr>
          <p:cNvSpPr>
            <a:spLocks xmlns:a="http://schemas.openxmlformats.org/drawingml/2006/main" noGrp="1"/>
          </p:cNvSpPr>
          <p:nvPr/>
        </p:nvSpPr>
        <p:spPr>
          <a:xfrm xmlns:a="http://schemas.openxmlformats.org/drawingml/2006/main">
            <a:off x="5774188" y="2406943"/>
            <a:ext cx="0" cy="619667"/>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24" name="Text 21">
            <a:extLst xmlns:a="http://schemas.openxmlformats.org/drawingml/2006/main">
              <a:ext uri="{FF2B5EF4-FFF2-40B4-BE49-F238E27FC236}">
                <a16:creationId xmlns:a16="http://schemas.microsoft.com/office/drawing/2014/main" id="{50AA400A-EBE4-4175-83CA-859EF5CF7CC4}"/>
              </a:ext>
            </a:extLst>
          </p:cNvPr>
          <p:cNvSpPr>
            <a:spLocks xmlns:a="http://schemas.openxmlformats.org/drawingml/2006/main" noGrp="1"/>
          </p:cNvSpPr>
          <p:nvPr/>
        </p:nvSpPr>
        <p:spPr>
          <a:xfrm xmlns:a="http://schemas.openxmlformats.org/drawingml/2006/main">
            <a:off x="6633647" y="2601201"/>
            <a:ext cx="198408" cy="256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9CA3AF"/>
                </a:solidFill>
                <a:latin typeface="Noto Sans KR"/>
                <a:ea typeface="Noto Sans KR"/>
                <a:cs typeface="Noto Sans KR"/>
              </a:rPr>
              <a:t>—</a:t>
            </a:r>
            <a:endParaRPr sz="1300"/>
          </a:p>
        </p:txBody>
      </p:sp>
      <p:sp>
        <p:nvSpPr>
          <p:cNvPr id="25" name="Shape 22">
            <a:extLst xmlns:a="http://schemas.openxmlformats.org/drawingml/2006/main">
              <a:ext uri="{FF2B5EF4-FFF2-40B4-BE49-F238E27FC236}">
                <a16:creationId xmlns:a16="http://schemas.microsoft.com/office/drawing/2014/main" id="{6551C214-BBFD-49F0-9038-DA662FD2FF24}"/>
              </a:ext>
            </a:extLst>
          </p:cNvPr>
          <p:cNvSpPr>
            <a:spLocks xmlns:a="http://schemas.openxmlformats.org/drawingml/2006/main" noGrp="1"/>
          </p:cNvSpPr>
          <p:nvPr/>
        </p:nvSpPr>
        <p:spPr>
          <a:xfrm xmlns:a="http://schemas.openxmlformats.org/drawingml/2006/main">
            <a:off x="7641835" y="2406943"/>
            <a:ext cx="0" cy="619667"/>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26" name="Text 23">
            <a:extLst xmlns:a="http://schemas.openxmlformats.org/drawingml/2006/main">
              <a:ext uri="{FF2B5EF4-FFF2-40B4-BE49-F238E27FC236}">
                <a16:creationId xmlns:a16="http://schemas.microsoft.com/office/drawing/2014/main" id="{B4F3EC3A-41E3-4881-A166-34DE810B34C7}"/>
              </a:ext>
            </a:extLst>
          </p:cNvPr>
          <p:cNvSpPr>
            <a:spLocks xmlns:a="http://schemas.openxmlformats.org/drawingml/2006/main" noGrp="1"/>
          </p:cNvSpPr>
          <p:nvPr/>
        </p:nvSpPr>
        <p:spPr>
          <a:xfrm xmlns:a="http://schemas.openxmlformats.org/drawingml/2006/main">
            <a:off x="8044181" y="2610095"/>
            <a:ext cx="1112674"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 위험요인 찾기</a:t>
            </a:r>
            <a:endParaRPr sz="1200"/>
          </a:p>
        </p:txBody>
      </p:sp>
      <p:sp>
        <p:nvSpPr>
          <p:cNvPr id="27" name="Shape 24">
            <a:extLst xmlns:a="http://schemas.openxmlformats.org/drawingml/2006/main">
              <a:ext uri="{FF2B5EF4-FFF2-40B4-BE49-F238E27FC236}">
                <a16:creationId xmlns:a16="http://schemas.microsoft.com/office/drawing/2014/main" id="{94C5A90F-1FA2-4941-A1AF-D24520D88CE8}"/>
              </a:ext>
            </a:extLst>
          </p:cNvPr>
          <p:cNvSpPr>
            <a:spLocks xmlns:a="http://schemas.openxmlformats.org/drawingml/2006/main" noGrp="1"/>
          </p:cNvSpPr>
          <p:nvPr/>
        </p:nvSpPr>
        <p:spPr>
          <a:xfrm xmlns:a="http://schemas.openxmlformats.org/drawingml/2006/main">
            <a:off x="9509482" y="2406943"/>
            <a:ext cx="0" cy="619667"/>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28" name="Text 25">
            <a:extLst xmlns:a="http://schemas.openxmlformats.org/drawingml/2006/main">
              <a:ext uri="{FF2B5EF4-FFF2-40B4-BE49-F238E27FC236}">
                <a16:creationId xmlns:a16="http://schemas.microsoft.com/office/drawing/2014/main" id="{B7BC9BA6-FF0D-49CD-B65E-664BC5B81703}"/>
              </a:ext>
            </a:extLst>
          </p:cNvPr>
          <p:cNvSpPr>
            <a:spLocks xmlns:a="http://schemas.openxmlformats.org/drawingml/2006/main" noGrp="1"/>
          </p:cNvSpPr>
          <p:nvPr/>
        </p:nvSpPr>
        <p:spPr>
          <a:xfrm xmlns:a="http://schemas.openxmlformats.org/drawingml/2006/main">
            <a:off x="10368941" y="2601201"/>
            <a:ext cx="198408" cy="256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9CA3AF"/>
                </a:solidFill>
                <a:latin typeface="Noto Sans KR"/>
                <a:ea typeface="Noto Sans KR"/>
                <a:cs typeface="Noto Sans KR"/>
              </a:rPr>
              <a:t>—</a:t>
            </a:r>
            <a:endParaRPr sz="1300"/>
          </a:p>
        </p:txBody>
      </p:sp>
      <p:sp>
        <p:nvSpPr>
          <p:cNvPr id="29" name="Shape 26">
            <a:extLst xmlns:a="http://schemas.openxmlformats.org/drawingml/2006/main">
              <a:ext uri="{FF2B5EF4-FFF2-40B4-BE49-F238E27FC236}">
                <a16:creationId xmlns:a16="http://schemas.microsoft.com/office/drawing/2014/main" id="{4F9011AB-4550-4B19-B64A-7F76C8092C43}"/>
              </a:ext>
            </a:extLst>
          </p:cNvPr>
          <p:cNvSpPr>
            <a:spLocks xmlns:a="http://schemas.openxmlformats.org/drawingml/2006/main" noGrp="1"/>
          </p:cNvSpPr>
          <p:nvPr/>
        </p:nvSpPr>
        <p:spPr>
          <a:xfrm xmlns:a="http://schemas.openxmlformats.org/drawingml/2006/main">
            <a:off x="818043" y="3653642"/>
            <a:ext cx="10555911" cy="0"/>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30" name="Text 27">
            <a:extLst xmlns:a="http://schemas.openxmlformats.org/drawingml/2006/main">
              <a:ext uri="{FF2B5EF4-FFF2-40B4-BE49-F238E27FC236}">
                <a16:creationId xmlns:a16="http://schemas.microsoft.com/office/drawing/2014/main" id="{C4FD08A6-C082-4760-ABF8-5F66FAA1F547}"/>
              </a:ext>
            </a:extLst>
          </p:cNvPr>
          <p:cNvSpPr>
            <a:spLocks xmlns:a="http://schemas.openxmlformats.org/drawingml/2006/main" noGrp="1"/>
          </p:cNvSpPr>
          <p:nvPr/>
        </p:nvSpPr>
        <p:spPr>
          <a:xfrm xmlns:a="http://schemas.openxmlformats.org/drawingml/2006/main">
            <a:off x="1046640" y="3120774"/>
            <a:ext cx="2930129" cy="2565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400" b="1">
                <a:solidFill>
                  <a:srgbClr val="1F2937"/>
                </a:solidFill>
                <a:latin typeface="Noto Sans KR"/>
                <a:ea typeface="Noto Sans KR"/>
                <a:cs typeface="Noto Sans KR"/>
              </a:rPr>
              <a:t>TBM 누락 위험 알림</a:t>
            </a:r>
            <a:endParaRPr sz="1400"/>
          </a:p>
        </p:txBody>
      </p:sp>
      <p:sp>
        <p:nvSpPr>
          <p:cNvPr id="31" name="Text 28">
            <a:extLst xmlns:a="http://schemas.openxmlformats.org/drawingml/2006/main">
              <a:ext uri="{FF2B5EF4-FFF2-40B4-BE49-F238E27FC236}">
                <a16:creationId xmlns:a16="http://schemas.microsoft.com/office/drawing/2014/main" id="{3F4D6415-D17E-4EFB-B9C5-295588BE6CB1}"/>
              </a:ext>
            </a:extLst>
          </p:cNvPr>
          <p:cNvSpPr>
            <a:spLocks xmlns:a="http://schemas.openxmlformats.org/drawingml/2006/main" noGrp="1"/>
          </p:cNvSpPr>
          <p:nvPr/>
        </p:nvSpPr>
        <p:spPr>
          <a:xfrm xmlns:a="http://schemas.openxmlformats.org/drawingml/2006/main">
            <a:off x="1046640" y="3364565"/>
            <a:ext cx="2930129" cy="223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6B7280"/>
                </a:solidFill>
                <a:latin typeface="Noto Sans KR"/>
                <a:ea typeface="Noto Sans KR"/>
                <a:cs typeface="Noto Sans KR"/>
              </a:rPr>
              <a:t>회의에서 빠진 필수 수칙 지적</a:t>
            </a:r>
            <a:endParaRPr sz="1200"/>
          </a:p>
        </p:txBody>
      </p:sp>
      <p:sp>
        <p:nvSpPr>
          <p:cNvPr id="32" name="Shape 29">
            <a:extLst xmlns:a="http://schemas.openxmlformats.org/drawingml/2006/main">
              <a:ext uri="{FF2B5EF4-FFF2-40B4-BE49-F238E27FC236}">
                <a16:creationId xmlns:a16="http://schemas.microsoft.com/office/drawing/2014/main" id="{16A2CD03-1A84-421A-ACCE-95AB72D47761}"/>
              </a:ext>
            </a:extLst>
          </p:cNvPr>
          <p:cNvSpPr>
            <a:spLocks xmlns:a="http://schemas.openxmlformats.org/drawingml/2006/main" noGrp="1"/>
          </p:cNvSpPr>
          <p:nvPr/>
        </p:nvSpPr>
        <p:spPr>
          <a:xfrm xmlns:a="http://schemas.openxmlformats.org/drawingml/2006/main">
            <a:off x="4120023" y="3031880"/>
            <a:ext cx="1650990" cy="619667"/>
          </a:xfrm>
          <a:prstGeom xmlns:a="http://schemas.openxmlformats.org/drawingml/2006/main" prst="rect">
            <a:avLst/>
          </a:prstGeom>
          <a:solidFill xmlns:a="http://schemas.openxmlformats.org/drawingml/2006/main">
            <a:srgbClr val="1D4ED8"/>
          </a:solidFill>
        </p:spPr>
      </p:sp>
      <p:pic>
        <p:nvPicPr>
          <p:cNvPr id="33" name="Image 1">
            <a:extLst xmlns:a="http://schemas.openxmlformats.org/drawingml/2006/main">
              <a:ext uri="{FF2B5EF4-FFF2-40B4-BE49-F238E27FC236}">
                <a16:creationId xmlns:a16="http://schemas.microsoft.com/office/drawing/2014/main" id="{8CBEDE8D-9766-4ADA-912A-2E61120E6433}"/>
              </a:ext>
            </a:extLst>
          </p:cNvPr>
          <p:cNvPicPr>
            <a:picLocks xmlns:a="http://schemas.openxmlformats.org/drawingml/2006/main" noChangeAspect="1"/>
          </p:cNvPicPr>
          <p:nvPr/>
        </p:nvPicPr>
        <p:blipFill>
          <a:blip xmlns:r="http://schemas.openxmlformats.org/officeDocument/2006/relationships" xmlns:a="http://schemas.openxmlformats.org/drawingml/2006/main" r:embed="Rfbb63fa6848449d1"/>
          <a:srcRect xmlns:a="http://schemas.openxmlformats.org/drawingml/2006/main" l="0" t="0" r="0" b="0"/>
          <a:stretch xmlns:a="http://schemas.openxmlformats.org/drawingml/2006/main"/>
        </p:blipFill>
        <p:spPr>
          <a:xfrm xmlns:a="http://schemas.openxmlformats.org/drawingml/2006/main">
            <a:off x="4793133" y="3189329"/>
            <a:ext cx="304769" cy="304769"/>
          </a:xfrm>
          <a:prstGeom xmlns:a="http://schemas.openxmlformats.org/drawingml/2006/main" prst="rect">
            <a:avLst/>
          </a:prstGeom>
        </p:spPr>
      </p:pic>
      <p:sp>
        <p:nvSpPr>
          <p:cNvPr id="34" name="Shape 30">
            <a:extLst xmlns:a="http://schemas.openxmlformats.org/drawingml/2006/main">
              <a:ext uri="{FF2B5EF4-FFF2-40B4-BE49-F238E27FC236}">
                <a16:creationId xmlns:a16="http://schemas.microsoft.com/office/drawing/2014/main" id="{6B697C8D-443E-406F-B5F2-801C199C6C82}"/>
              </a:ext>
            </a:extLst>
          </p:cNvPr>
          <p:cNvSpPr>
            <a:spLocks xmlns:a="http://schemas.openxmlformats.org/drawingml/2006/main" noGrp="1"/>
          </p:cNvSpPr>
          <p:nvPr/>
        </p:nvSpPr>
        <p:spPr>
          <a:xfrm xmlns:a="http://schemas.openxmlformats.org/drawingml/2006/main">
            <a:off x="5774188" y="3031880"/>
            <a:ext cx="0" cy="619667"/>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35" name="Text 31">
            <a:extLst xmlns:a="http://schemas.openxmlformats.org/drawingml/2006/main">
              <a:ext uri="{FF2B5EF4-FFF2-40B4-BE49-F238E27FC236}">
                <a16:creationId xmlns:a16="http://schemas.microsoft.com/office/drawing/2014/main" id="{F8529AF6-1B19-4EBE-831E-C47EAE4F210C}"/>
              </a:ext>
            </a:extLst>
          </p:cNvPr>
          <p:cNvSpPr>
            <a:spLocks xmlns:a="http://schemas.openxmlformats.org/drawingml/2006/main" noGrp="1"/>
          </p:cNvSpPr>
          <p:nvPr/>
        </p:nvSpPr>
        <p:spPr>
          <a:xfrm xmlns:a="http://schemas.openxmlformats.org/drawingml/2006/main">
            <a:off x="6246612" y="3235032"/>
            <a:ext cx="972477"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 녹음 기록만</a:t>
            </a:r>
            <a:endParaRPr sz="1200"/>
          </a:p>
        </p:txBody>
      </p:sp>
      <p:sp>
        <p:nvSpPr>
          <p:cNvPr id="36" name="Shape 32">
            <a:extLst xmlns:a="http://schemas.openxmlformats.org/drawingml/2006/main">
              <a:ext uri="{FF2B5EF4-FFF2-40B4-BE49-F238E27FC236}">
                <a16:creationId xmlns:a16="http://schemas.microsoft.com/office/drawing/2014/main" id="{F49C1B7C-C924-45EB-B288-9F7ED2F5ECC8}"/>
              </a:ext>
            </a:extLst>
          </p:cNvPr>
          <p:cNvSpPr>
            <a:spLocks xmlns:a="http://schemas.openxmlformats.org/drawingml/2006/main" noGrp="1"/>
          </p:cNvSpPr>
          <p:nvPr/>
        </p:nvSpPr>
        <p:spPr>
          <a:xfrm xmlns:a="http://schemas.openxmlformats.org/drawingml/2006/main">
            <a:off x="7641835" y="3031880"/>
            <a:ext cx="0" cy="619667"/>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37" name="Text 33">
            <a:extLst xmlns:a="http://schemas.openxmlformats.org/drawingml/2006/main">
              <a:ext uri="{FF2B5EF4-FFF2-40B4-BE49-F238E27FC236}">
                <a16:creationId xmlns:a16="http://schemas.microsoft.com/office/drawing/2014/main" id="{50FAD04E-736F-447D-A8DC-5DA074234826}"/>
              </a:ext>
            </a:extLst>
          </p:cNvPr>
          <p:cNvSpPr>
            <a:spLocks xmlns:a="http://schemas.openxmlformats.org/drawingml/2006/main" noGrp="1"/>
          </p:cNvSpPr>
          <p:nvPr/>
        </p:nvSpPr>
        <p:spPr>
          <a:xfrm xmlns:a="http://schemas.openxmlformats.org/drawingml/2006/main">
            <a:off x="8501293" y="3226138"/>
            <a:ext cx="198408" cy="256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9CA3AF"/>
                </a:solidFill>
                <a:latin typeface="Noto Sans KR"/>
                <a:ea typeface="Noto Sans KR"/>
                <a:cs typeface="Noto Sans KR"/>
              </a:rPr>
              <a:t>—</a:t>
            </a:r>
            <a:endParaRPr sz="1300"/>
          </a:p>
        </p:txBody>
      </p:sp>
      <p:sp>
        <p:nvSpPr>
          <p:cNvPr id="38" name="Shape 34">
            <a:extLst xmlns:a="http://schemas.openxmlformats.org/drawingml/2006/main">
              <a:ext uri="{FF2B5EF4-FFF2-40B4-BE49-F238E27FC236}">
                <a16:creationId xmlns:a16="http://schemas.microsoft.com/office/drawing/2014/main" id="{63C00BEB-73B0-436F-BB98-2A4BA73DD5CD}"/>
              </a:ext>
            </a:extLst>
          </p:cNvPr>
          <p:cNvSpPr>
            <a:spLocks xmlns:a="http://schemas.openxmlformats.org/drawingml/2006/main" noGrp="1"/>
          </p:cNvSpPr>
          <p:nvPr/>
        </p:nvSpPr>
        <p:spPr>
          <a:xfrm xmlns:a="http://schemas.openxmlformats.org/drawingml/2006/main">
            <a:off x="9509482" y="3031880"/>
            <a:ext cx="0" cy="619667"/>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39" name="Text 35">
            <a:extLst xmlns:a="http://schemas.openxmlformats.org/drawingml/2006/main">
              <a:ext uri="{FF2B5EF4-FFF2-40B4-BE49-F238E27FC236}">
                <a16:creationId xmlns:a16="http://schemas.microsoft.com/office/drawing/2014/main" id="{9DA70F7E-E1C9-436E-AF65-49B6BF0F0958}"/>
              </a:ext>
            </a:extLst>
          </p:cNvPr>
          <p:cNvSpPr>
            <a:spLocks xmlns:a="http://schemas.openxmlformats.org/drawingml/2006/main" noGrp="1"/>
          </p:cNvSpPr>
          <p:nvPr/>
        </p:nvSpPr>
        <p:spPr>
          <a:xfrm xmlns:a="http://schemas.openxmlformats.org/drawingml/2006/main">
            <a:off x="10368941" y="3226138"/>
            <a:ext cx="198408" cy="256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9CA3AF"/>
                </a:solidFill>
                <a:latin typeface="Noto Sans KR"/>
                <a:ea typeface="Noto Sans KR"/>
                <a:cs typeface="Noto Sans KR"/>
              </a:rPr>
              <a:t>—</a:t>
            </a:r>
            <a:endParaRPr sz="1300"/>
          </a:p>
        </p:txBody>
      </p:sp>
      <p:sp>
        <p:nvSpPr>
          <p:cNvPr id="40" name="Text 36">
            <a:extLst xmlns:a="http://schemas.openxmlformats.org/drawingml/2006/main">
              <a:ext uri="{FF2B5EF4-FFF2-40B4-BE49-F238E27FC236}">
                <a16:creationId xmlns:a16="http://schemas.microsoft.com/office/drawing/2014/main" id="{B5395C14-6846-44E8-876E-A3BC56B1B36A}"/>
              </a:ext>
            </a:extLst>
          </p:cNvPr>
          <p:cNvSpPr>
            <a:spLocks xmlns:a="http://schemas.openxmlformats.org/drawingml/2006/main" noGrp="1"/>
          </p:cNvSpPr>
          <p:nvPr/>
        </p:nvSpPr>
        <p:spPr>
          <a:xfrm xmlns:a="http://schemas.openxmlformats.org/drawingml/2006/main">
            <a:off x="1046640" y="3745712"/>
            <a:ext cx="2930129" cy="2565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400" b="1">
                <a:solidFill>
                  <a:srgbClr val="1F2937"/>
                </a:solidFill>
                <a:latin typeface="Noto Sans KR"/>
                <a:ea typeface="Noto Sans KR"/>
                <a:cs typeface="Noto Sans KR"/>
              </a:rPr>
              <a:t>법령 근거 필수·권장 구분</a:t>
            </a:r>
            <a:endParaRPr sz="1400"/>
          </a:p>
        </p:txBody>
      </p:sp>
      <p:sp>
        <p:nvSpPr>
          <p:cNvPr id="41" name="Text 37">
            <a:extLst xmlns:a="http://schemas.openxmlformats.org/drawingml/2006/main">
              <a:ext uri="{FF2B5EF4-FFF2-40B4-BE49-F238E27FC236}">
                <a16:creationId xmlns:a16="http://schemas.microsoft.com/office/drawing/2014/main" id="{95587091-58EF-40E9-A3AA-0B9BAA04B739}"/>
              </a:ext>
            </a:extLst>
          </p:cNvPr>
          <p:cNvSpPr>
            <a:spLocks xmlns:a="http://schemas.openxmlformats.org/drawingml/2006/main" noGrp="1"/>
          </p:cNvSpPr>
          <p:nvPr/>
        </p:nvSpPr>
        <p:spPr>
          <a:xfrm xmlns:a="http://schemas.openxmlformats.org/drawingml/2006/main">
            <a:off x="1046640" y="3989502"/>
            <a:ext cx="2930129" cy="223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6B7280"/>
                </a:solidFill>
                <a:latin typeface="Noto Sans KR"/>
                <a:ea typeface="Noto Sans KR"/>
                <a:cs typeface="Noto Sans KR"/>
              </a:rPr>
              <a:t>수칙마다 근거 조문 표시</a:t>
            </a:r>
            <a:endParaRPr sz="1200"/>
          </a:p>
        </p:txBody>
      </p:sp>
      <p:sp>
        <p:nvSpPr>
          <p:cNvPr id="42" name="Shape 38">
            <a:extLst xmlns:a="http://schemas.openxmlformats.org/drawingml/2006/main">
              <a:ext uri="{FF2B5EF4-FFF2-40B4-BE49-F238E27FC236}">
                <a16:creationId xmlns:a16="http://schemas.microsoft.com/office/drawing/2014/main" id="{1FA3EBC8-8C1D-4941-9EA5-B80534FB09F2}"/>
              </a:ext>
            </a:extLst>
          </p:cNvPr>
          <p:cNvSpPr>
            <a:spLocks xmlns:a="http://schemas.openxmlformats.org/drawingml/2006/main" noGrp="1"/>
          </p:cNvSpPr>
          <p:nvPr/>
        </p:nvSpPr>
        <p:spPr>
          <a:xfrm xmlns:a="http://schemas.openxmlformats.org/drawingml/2006/main">
            <a:off x="4120023" y="3656817"/>
            <a:ext cx="1650990" cy="619667"/>
          </a:xfrm>
          <a:prstGeom xmlns:a="http://schemas.openxmlformats.org/drawingml/2006/main" prst="rect">
            <a:avLst/>
          </a:prstGeom>
          <a:solidFill xmlns:a="http://schemas.openxmlformats.org/drawingml/2006/main">
            <a:srgbClr val="1D4ED8"/>
          </a:solidFill>
        </p:spPr>
      </p:sp>
      <p:pic>
        <p:nvPicPr>
          <p:cNvPr id="43" name="Image 2">
            <a:extLst xmlns:a="http://schemas.openxmlformats.org/drawingml/2006/main">
              <a:ext uri="{FF2B5EF4-FFF2-40B4-BE49-F238E27FC236}">
                <a16:creationId xmlns:a16="http://schemas.microsoft.com/office/drawing/2014/main" id="{DCBA978B-2AEE-492F-83EE-0189339EC1DC}"/>
              </a:ext>
            </a:extLst>
          </p:cNvPr>
          <p:cNvPicPr>
            <a:picLocks xmlns:a="http://schemas.openxmlformats.org/drawingml/2006/main" noChangeAspect="1"/>
          </p:cNvPicPr>
          <p:nvPr/>
        </p:nvPicPr>
        <p:blipFill>
          <a:blip xmlns:r="http://schemas.openxmlformats.org/officeDocument/2006/relationships" xmlns:a="http://schemas.openxmlformats.org/drawingml/2006/main" r:embed="R0ee2dbb10bb94791"/>
          <a:srcRect xmlns:a="http://schemas.openxmlformats.org/drawingml/2006/main" l="0" t="0" r="0" b="0"/>
          <a:stretch xmlns:a="http://schemas.openxmlformats.org/drawingml/2006/main"/>
        </p:blipFill>
        <p:spPr>
          <a:xfrm xmlns:a="http://schemas.openxmlformats.org/drawingml/2006/main">
            <a:off x="4793133" y="3814266"/>
            <a:ext cx="304769" cy="304769"/>
          </a:xfrm>
          <a:prstGeom xmlns:a="http://schemas.openxmlformats.org/drawingml/2006/main" prst="rect">
            <a:avLst/>
          </a:prstGeom>
        </p:spPr>
      </p:pic>
      <p:sp>
        <p:nvSpPr>
          <p:cNvPr id="44" name="Shape 39">
            <a:extLst xmlns:a="http://schemas.openxmlformats.org/drawingml/2006/main">
              <a:ext uri="{FF2B5EF4-FFF2-40B4-BE49-F238E27FC236}">
                <a16:creationId xmlns:a16="http://schemas.microsoft.com/office/drawing/2014/main" id="{D00C716B-E822-4657-AA19-BD28E2A00506}"/>
              </a:ext>
            </a:extLst>
          </p:cNvPr>
          <p:cNvSpPr>
            <a:spLocks xmlns:a="http://schemas.openxmlformats.org/drawingml/2006/main" noGrp="1"/>
          </p:cNvSpPr>
          <p:nvPr/>
        </p:nvSpPr>
        <p:spPr>
          <a:xfrm xmlns:a="http://schemas.openxmlformats.org/drawingml/2006/main">
            <a:off x="5774188" y="3656817"/>
            <a:ext cx="0" cy="619667"/>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45" name="Text 40">
            <a:extLst xmlns:a="http://schemas.openxmlformats.org/drawingml/2006/main">
              <a:ext uri="{FF2B5EF4-FFF2-40B4-BE49-F238E27FC236}">
                <a16:creationId xmlns:a16="http://schemas.microsoft.com/office/drawing/2014/main" id="{9B35B39E-1448-43A8-AF26-98F2DEF9A9E4}"/>
              </a:ext>
            </a:extLst>
          </p:cNvPr>
          <p:cNvSpPr>
            <a:spLocks xmlns:a="http://schemas.openxmlformats.org/drawingml/2006/main" noGrp="1"/>
          </p:cNvSpPr>
          <p:nvPr/>
        </p:nvSpPr>
        <p:spPr>
          <a:xfrm xmlns:a="http://schemas.openxmlformats.org/drawingml/2006/main">
            <a:off x="6633647" y="3851075"/>
            <a:ext cx="198408" cy="256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9CA3AF"/>
                </a:solidFill>
                <a:latin typeface="Noto Sans KR"/>
                <a:ea typeface="Noto Sans KR"/>
                <a:cs typeface="Noto Sans KR"/>
              </a:rPr>
              <a:t>—</a:t>
            </a:r>
            <a:endParaRPr sz="1300"/>
          </a:p>
        </p:txBody>
      </p:sp>
      <p:sp>
        <p:nvSpPr>
          <p:cNvPr id="46" name="Shape 41">
            <a:extLst xmlns:a="http://schemas.openxmlformats.org/drawingml/2006/main">
              <a:ext uri="{FF2B5EF4-FFF2-40B4-BE49-F238E27FC236}">
                <a16:creationId xmlns:a16="http://schemas.microsoft.com/office/drawing/2014/main" id="{67CB88AF-5CDE-4886-8A9E-CB56CF96A9A1}"/>
              </a:ext>
            </a:extLst>
          </p:cNvPr>
          <p:cNvSpPr>
            <a:spLocks xmlns:a="http://schemas.openxmlformats.org/drawingml/2006/main" noGrp="1"/>
          </p:cNvSpPr>
          <p:nvPr/>
        </p:nvSpPr>
        <p:spPr>
          <a:xfrm xmlns:a="http://schemas.openxmlformats.org/drawingml/2006/main">
            <a:off x="7641835" y="3656817"/>
            <a:ext cx="0" cy="619667"/>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47" name="Text 42">
            <a:extLst xmlns:a="http://schemas.openxmlformats.org/drawingml/2006/main">
              <a:ext uri="{FF2B5EF4-FFF2-40B4-BE49-F238E27FC236}">
                <a16:creationId xmlns:a16="http://schemas.microsoft.com/office/drawing/2014/main" id="{6BB5401B-F98C-411E-BCD1-B6521ECF63E1}"/>
              </a:ext>
            </a:extLst>
          </p:cNvPr>
          <p:cNvSpPr>
            <a:spLocks xmlns:a="http://schemas.openxmlformats.org/drawingml/2006/main" noGrp="1"/>
          </p:cNvSpPr>
          <p:nvPr/>
        </p:nvSpPr>
        <p:spPr>
          <a:xfrm xmlns:a="http://schemas.openxmlformats.org/drawingml/2006/main">
            <a:off x="8027095" y="3859969"/>
            <a:ext cx="1146807"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 점검 항목 안내</a:t>
            </a:r>
            <a:endParaRPr sz="1200"/>
          </a:p>
        </p:txBody>
      </p:sp>
      <p:sp>
        <p:nvSpPr>
          <p:cNvPr id="48" name="Shape 43">
            <a:extLst xmlns:a="http://schemas.openxmlformats.org/drawingml/2006/main">
              <a:ext uri="{FF2B5EF4-FFF2-40B4-BE49-F238E27FC236}">
                <a16:creationId xmlns:a16="http://schemas.microsoft.com/office/drawing/2014/main" id="{7AC3B27D-6C07-4605-B9CD-E9F474DBFAEA}"/>
              </a:ext>
            </a:extLst>
          </p:cNvPr>
          <p:cNvSpPr>
            <a:spLocks xmlns:a="http://schemas.openxmlformats.org/drawingml/2006/main" noGrp="1"/>
          </p:cNvSpPr>
          <p:nvPr/>
        </p:nvSpPr>
        <p:spPr>
          <a:xfrm xmlns:a="http://schemas.openxmlformats.org/drawingml/2006/main">
            <a:off x="9506307" y="3656817"/>
            <a:ext cx="1867647" cy="619667"/>
          </a:xfrm>
          <a:custGeom xmlns:a="http://schemas.openxmlformats.org/drawingml/2006/main">
            <a:rect l="l" t="t" r="r" b="b"/>
            <a:pathLst>
              <a:path w="1867647" h="619667">
                <a:moveTo>
                  <a:pt x="0" y="0"/>
                </a:moveTo>
                <a:lnTo>
                  <a:pt x="6350" y="0"/>
                </a:lnTo>
                <a:lnTo>
                  <a:pt x="6350" y="619667"/>
                </a:lnTo>
                <a:lnTo>
                  <a:pt x="0" y="619667"/>
                </a:lnTo>
                <a:lnTo>
                  <a:pt x="0" y="0"/>
                </a:lnTo>
                <a:close/>
              </a:path>
            </a:pathLst>
          </a:custGeom>
          <a:solidFill xmlns:a="http://schemas.openxmlformats.org/drawingml/2006/main">
            <a:srgbClr val="E1E5EA"/>
          </a:solidFill>
        </p:spPr>
      </p:sp>
      <p:sp>
        <p:nvSpPr>
          <p:cNvPr id="49" name="Text 44">
            <a:extLst xmlns:a="http://schemas.openxmlformats.org/drawingml/2006/main">
              <a:ext uri="{FF2B5EF4-FFF2-40B4-BE49-F238E27FC236}">
                <a16:creationId xmlns:a16="http://schemas.microsoft.com/office/drawing/2014/main" id="{5068C019-F4F5-4034-A443-481C4BE286E9}"/>
              </a:ext>
            </a:extLst>
          </p:cNvPr>
          <p:cNvSpPr>
            <a:spLocks xmlns:a="http://schemas.openxmlformats.org/drawingml/2006/main" noGrp="1"/>
          </p:cNvSpPr>
          <p:nvPr/>
        </p:nvSpPr>
        <p:spPr>
          <a:xfrm xmlns:a="http://schemas.openxmlformats.org/drawingml/2006/main">
            <a:off x="9862379" y="3859969"/>
            <a:ext cx="1211574"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 공종별 위험 DB</a:t>
            </a:r>
            <a:endParaRPr sz="1200"/>
          </a:p>
        </p:txBody>
      </p:sp>
      <p:sp>
        <p:nvSpPr>
          <p:cNvPr id="50" name="Text 45">
            <a:extLst xmlns:a="http://schemas.openxmlformats.org/drawingml/2006/main">
              <a:ext uri="{FF2B5EF4-FFF2-40B4-BE49-F238E27FC236}">
                <a16:creationId xmlns:a16="http://schemas.microsoft.com/office/drawing/2014/main" id="{A10EFB93-170A-400D-9555-1CBED48F4F34}"/>
              </a:ext>
            </a:extLst>
          </p:cNvPr>
          <p:cNvSpPr>
            <a:spLocks xmlns:a="http://schemas.openxmlformats.org/drawingml/2006/main" noGrp="1"/>
          </p:cNvSpPr>
          <p:nvPr/>
        </p:nvSpPr>
        <p:spPr>
          <a:xfrm xmlns:a="http://schemas.openxmlformats.org/drawingml/2006/main">
            <a:off x="812772" y="4421417"/>
            <a:ext cx="10566452" cy="502857"/>
          </a:xfrm>
          <a:prstGeom xmlns:a="http://schemas.openxmlformats.org/drawingml/2006/main" prst="roundRect">
            <a:avLst>
              <a:gd name="adj" fmla="val 25256"/>
            </a:avLst>
          </a:prstGeom>
          <a:solidFill xmlns:a="http://schemas.openxmlformats.org/drawingml/2006/main">
            <a:srgbClr val="DBEAFE"/>
          </a:solidFill>
        </p:spPr>
        <p:txBody>
          <a:bodyPr xmlns:a="http://schemas.openxmlformats.org/drawingml/2006/main" wrap="square" lIns="191403" tIns="77083" rIns="191403" bIns="77083" anchor="ctr">
            <a:normAutofit fontScale="100000"/>
          </a:bodyPr>
          <a:lstStyle xmlns:a="http://schemas.openxmlformats.org/drawingml/2006/main"/>
          <a:p xmlns:a="http://schemas.openxmlformats.org/drawingml/2006/main">
            <a:pPr marL="0" indent="0" algn="l">
              <a:lnSpc>
                <a:spcPts val="1960"/>
              </a:lnSpc>
              <a:buNone/>
            </a:pPr>
            <a:r>
              <a:rPr sz="1400">
                <a:solidFill>
                  <a:srgbClr val="1F2937"/>
                </a:solidFill>
                <a:latin typeface="Noto Sans KR"/>
                <a:ea typeface="Noto Sans KR"/>
                <a:cs typeface="Noto Sans KR"/>
              </a:rPr>
              <a:t>안전반장은 조치 사진 검토와 확인이 어려운 결과의 관리자 확인을 연결합니다.</a:t>
            </a:r>
            <a:endParaRPr sz="1400"/>
          </a:p>
        </p:txBody>
      </p:sp>
      <p:sp>
        <p:nvSpPr>
          <p:cNvPr id="51" name="Shape 46">
            <a:extLst xmlns:a="http://schemas.openxmlformats.org/drawingml/2006/main">
              <a:ext uri="{FF2B5EF4-FFF2-40B4-BE49-F238E27FC236}">
                <a16:creationId xmlns:a16="http://schemas.microsoft.com/office/drawing/2014/main" id="{53B6124D-8D46-45FC-8932-E796767876E6}"/>
              </a:ext>
            </a:extLst>
          </p:cNvPr>
          <p:cNvSpPr>
            <a:spLocks xmlns:a="http://schemas.openxmlformats.org/drawingml/2006/main" noGrp="1"/>
          </p:cNvSpPr>
          <p:nvPr/>
        </p:nvSpPr>
        <p:spPr>
          <a:xfrm xmlns:a="http://schemas.openxmlformats.org/drawingml/2006/main">
            <a:off x="815947" y="5067109"/>
            <a:ext cx="10560102" cy="420664"/>
          </a:xfrm>
          <a:prstGeom xmlns:a="http://schemas.openxmlformats.org/drawingml/2006/main" prst="roundRect">
            <a:avLst>
              <a:gd name="adj" fmla="val 29436"/>
            </a:avLst>
          </a:prstGeom>
          <a:noFill xmlns:a="http://schemas.openxmlformats.org/drawingml/2006/main"/>
          <a:ln xmlns:a="http://schemas.openxmlformats.org/drawingml/2006/main" w="6350">
            <a:solidFill>
              <a:srgbClr val="D5D9E0"/>
            </a:solidFill>
            <a:prstDash val="solid"/>
          </a:ln>
        </p:spPr>
      </p:sp>
      <p:sp>
        <p:nvSpPr>
          <p:cNvPr id="52" name="Text 47">
            <a:extLst xmlns:a="http://schemas.openxmlformats.org/drawingml/2006/main">
              <a:ext uri="{FF2B5EF4-FFF2-40B4-BE49-F238E27FC236}">
                <a16:creationId xmlns:a16="http://schemas.microsoft.com/office/drawing/2014/main" id="{3FDB0D47-C972-4415-8864-489DE0B2D33A}"/>
              </a:ext>
            </a:extLst>
          </p:cNvPr>
          <p:cNvSpPr>
            <a:spLocks xmlns:a="http://schemas.openxmlformats.org/drawingml/2006/main" noGrp="1"/>
          </p:cNvSpPr>
          <p:nvPr/>
        </p:nvSpPr>
        <p:spPr>
          <a:xfrm xmlns:a="http://schemas.openxmlformats.org/drawingml/2006/main">
            <a:off x="1046640" y="5158099"/>
            <a:ext cx="772751" cy="238685"/>
          </a:xfrm>
          <a:prstGeom xmlns:a="http://schemas.openxmlformats.org/drawingml/2006/main" prst="roundRect">
            <a:avLst>
              <a:gd name="adj" fmla="val 21283"/>
            </a:avLst>
          </a:prstGeom>
          <a:solidFill xmlns:a="http://schemas.openxmlformats.org/drawingml/2006/main">
            <a:srgbClr val="E1E5EA"/>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a:solidFill>
                  <a:srgbClr val="6B7280"/>
                </a:solidFill>
                <a:latin typeface="Noto Sans KR"/>
                <a:ea typeface="Noto Sans KR"/>
                <a:cs typeface="Noto Sans KR"/>
              </a:rPr>
              <a:t>해외 참고</a:t>
            </a:r>
            <a:endParaRPr sz="1200"/>
          </a:p>
        </p:txBody>
      </p:sp>
      <p:sp>
        <p:nvSpPr>
          <p:cNvPr id="53" name="Text 48">
            <a:extLst xmlns:a="http://schemas.openxmlformats.org/drawingml/2006/main">
              <a:ext uri="{FF2B5EF4-FFF2-40B4-BE49-F238E27FC236}">
                <a16:creationId xmlns:a16="http://schemas.microsoft.com/office/drawing/2014/main" id="{657E2F19-EF17-4C8C-86A3-FB6421EBD336}"/>
              </a:ext>
            </a:extLst>
          </p:cNvPr>
          <p:cNvSpPr>
            <a:spLocks xmlns:a="http://schemas.openxmlformats.org/drawingml/2006/main" noGrp="1"/>
          </p:cNvSpPr>
          <p:nvPr/>
        </p:nvSpPr>
        <p:spPr>
          <a:xfrm xmlns:a="http://schemas.openxmlformats.org/drawingml/2006/main">
            <a:off x="1946372" y="5170781"/>
            <a:ext cx="9474955"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Safesite · Sitemate 등 6개 서비스: 점수·AI 서류·보상은 각각 있으나, 조치 검증과 묶은 사례는 찾지 못함</a:t>
            </a:r>
            <a:endParaRPr sz="1200"/>
          </a:p>
        </p:txBody>
      </p:sp>
      <p:sp>
        <p:nvSpPr>
          <p:cNvPr id="54" name="Text 49">
            <a:extLst xmlns:a="http://schemas.openxmlformats.org/drawingml/2006/main">
              <a:ext uri="{FF2B5EF4-FFF2-40B4-BE49-F238E27FC236}">
                <a16:creationId xmlns:a16="http://schemas.microsoft.com/office/drawing/2014/main" id="{86081FE1-5DA6-4210-BD98-EA6827808CAE}"/>
              </a:ext>
            </a:extLst>
          </p:cNvPr>
          <p:cNvSpPr>
            <a:spLocks xmlns:a="http://schemas.openxmlformats.org/drawingml/2006/main" noGrp="1"/>
          </p:cNvSpPr>
          <p:nvPr/>
        </p:nvSpPr>
        <p:spPr>
          <a:xfrm xmlns:a="http://schemas.openxmlformats.org/drawingml/2006/main">
            <a:off x="812772" y="6238255"/>
            <a:ext cx="9087342"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조사 2026.10 · 국내 10여 개(일부 직접 사용) · 해외 6개 · OSHA 해석 메모(2018) · Dyreborg 외(2022) · — 확인 안 됨, △ 부분</a:t>
            </a:r>
            <a:endParaRPr sz="1200"/>
          </a:p>
        </p:txBody>
      </p:sp>
      <p:sp>
        <p:nvSpPr>
          <p:cNvPr id="55" name="Text 50">
            <a:extLst xmlns:a="http://schemas.openxmlformats.org/drawingml/2006/main">
              <a:ext uri="{FF2B5EF4-FFF2-40B4-BE49-F238E27FC236}">
                <a16:creationId xmlns:a16="http://schemas.microsoft.com/office/drawing/2014/main" id="{67C824EB-6D1A-4413-BBDA-0636EFF77380}"/>
              </a:ext>
            </a:extLst>
          </p:cNvPr>
          <p:cNvSpPr>
            <a:spLocks xmlns:a="http://schemas.openxmlformats.org/drawingml/2006/main" noGrp="1"/>
          </p:cNvSpPr>
          <p:nvPr/>
        </p:nvSpPr>
        <p:spPr>
          <a:xfrm xmlns:a="http://schemas.openxmlformats.org/drawingml/2006/main">
            <a:off x="10819540" y="6238255"/>
            <a:ext cx="559602"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r">
              <a:lnSpc>
                <a:spcPts val="1680"/>
              </a:lnSpc>
              <a:buNone/>
            </a:pPr>
            <a:r>
              <a:rPr sz="1200">
                <a:solidFill>
                  <a:srgbClr val="6B7280"/>
                </a:solidFill>
                <a:latin typeface="Noto Sans KR"/>
                <a:ea typeface="Noto Sans KR"/>
                <a:cs typeface="Noto Sans KR"/>
              </a:rPr>
              <a:t>04 / 14</a:t>
            </a:r>
            <a:endParaRPr sz="1200"/>
          </a:p>
        </p:txBody>
      </p:sp>
    </p:spTree>
    <p:extLst>
      <p:ext uri="{BB962C8B-B14F-4D97-AF65-F5344CB8AC3E}">
        <p14:creationId xmlns:p14="http://schemas.microsoft.com/office/powerpoint/2010/main" val="170224868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90B7C4A-7D81-4536-B359-3CF22859BAFC}"/>
              </a:ext>
            </a:extLst>
          </p:cNvPr>
          <p:cNvSpPr>
            <a:spLocks xmlns:a="http://schemas.openxmlformats.org/drawingml/2006/main" noGrp="1"/>
          </p:cNvSpPr>
          <p:nvPr/>
        </p:nvSpPr>
        <p:spPr>
          <a:xfrm xmlns:a="http://schemas.openxmlformats.org/drawingml/2006/main">
            <a:off x="812772" y="868645"/>
            <a:ext cx="101576" cy="101576"/>
          </a:xfrm>
          <a:prstGeom xmlns:a="http://schemas.openxmlformats.org/drawingml/2006/main" prst="roundRect">
            <a:avLst>
              <a:gd name="adj" fmla="val 50000"/>
            </a:avLst>
          </a:prstGeom>
          <a:solidFill xmlns:a="http://schemas.openxmlformats.org/drawingml/2006/main">
            <a:srgbClr val="1D4ED8"/>
          </a:solidFill>
        </p:spPr>
      </p:sp>
      <p:sp>
        <p:nvSpPr>
          <p:cNvPr id="3" name="Text 1">
            <a:extLst xmlns:a="http://schemas.openxmlformats.org/drawingml/2006/main">
              <a:ext uri="{FF2B5EF4-FFF2-40B4-BE49-F238E27FC236}">
                <a16:creationId xmlns:a16="http://schemas.microsoft.com/office/drawing/2014/main" id="{D6584887-C655-44E9-A656-42A1F056209C}"/>
              </a:ext>
            </a:extLst>
          </p:cNvPr>
          <p:cNvSpPr>
            <a:spLocks xmlns:a="http://schemas.openxmlformats.org/drawingml/2006/main" noGrp="1"/>
          </p:cNvSpPr>
          <p:nvPr/>
        </p:nvSpPr>
        <p:spPr>
          <a:xfrm xmlns:a="http://schemas.openxmlformats.org/drawingml/2006/main">
            <a:off x="1015924" y="812772"/>
            <a:ext cx="903931"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1D4ED8"/>
                </a:solidFill>
                <a:latin typeface="Noto Sans KR"/>
                <a:ea typeface="Noto Sans KR"/>
                <a:cs typeface="Noto Sans KR"/>
              </a:rPr>
              <a:t>SERVICE</a:t>
            </a:r>
            <a:endParaRPr sz="1200"/>
          </a:p>
        </p:txBody>
      </p:sp>
      <p:sp>
        <p:nvSpPr>
          <p:cNvPr id="4" name="Text 2">
            <a:extLst xmlns:a="http://schemas.openxmlformats.org/drawingml/2006/main">
              <a:ext uri="{FF2B5EF4-FFF2-40B4-BE49-F238E27FC236}">
                <a16:creationId xmlns:a16="http://schemas.microsoft.com/office/drawing/2014/main" id="{819325DF-20BB-4694-9858-2669FD24A798}"/>
              </a:ext>
            </a:extLst>
          </p:cNvPr>
          <p:cNvSpPr>
            <a:spLocks xmlns:a="http://schemas.openxmlformats.org/drawingml/2006/main" noGrp="1"/>
          </p:cNvSpPr>
          <p:nvPr>
            <p:ph type="title" idx="0"/>
          </p:nvPr>
        </p:nvSpPr>
        <p:spPr>
          <a:xfrm xmlns:a="http://schemas.openxmlformats.org/drawingml/2006/main">
            <a:off x="812772" y="1229286"/>
            <a:ext cx="10883445" cy="48255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600"/>
              </a:lnSpc>
              <a:buNone/>
            </a:pPr>
            <a:r>
              <a:rPr sz="3000" b="1" i="0" spc="-50">
                <a:solidFill>
                  <a:srgbClr val="1F2937"/>
                </a:solidFill>
                <a:latin typeface="Pretendard"/>
                <a:ea typeface="Pretendard"/>
                <a:cs typeface="Pretendard"/>
              </a:rPr>
              <a:t>안전반장: 관리자와 근로자가 함께 쓰는 앱</a:t>
            </a:r>
            <a:endParaRPr sz="3000"/>
          </a:p>
        </p:txBody>
      </p:sp>
      <p:sp>
        <p:nvSpPr>
          <p:cNvPr id="5" name="Shape 3">
            <a:extLst xmlns:a="http://schemas.openxmlformats.org/drawingml/2006/main">
              <a:ext uri="{FF2B5EF4-FFF2-40B4-BE49-F238E27FC236}">
                <a16:creationId xmlns:a16="http://schemas.microsoft.com/office/drawing/2014/main" id="{5063C131-E042-46DF-ACA9-969F0C21C930}"/>
              </a:ext>
            </a:extLst>
          </p:cNvPr>
          <p:cNvSpPr>
            <a:spLocks xmlns:a="http://schemas.openxmlformats.org/drawingml/2006/main" noGrp="1"/>
          </p:cNvSpPr>
          <p:nvPr/>
        </p:nvSpPr>
        <p:spPr>
          <a:xfrm xmlns:a="http://schemas.openxmlformats.org/drawingml/2006/main">
            <a:off x="815947" y="1892808"/>
            <a:ext cx="4578361" cy="2719402"/>
          </a:xfrm>
          <a:prstGeom xmlns:a="http://schemas.openxmlformats.org/drawingml/2006/main" prst="roundRect">
            <a:avLst>
              <a:gd name="adj" fmla="val 4553"/>
            </a:avLst>
          </a:prstGeom>
          <a:solidFill xmlns:a="http://schemas.openxmlformats.org/drawingml/2006/main">
            <a:srgbClr val="FFFFFF"/>
          </a:solidFill>
          <a:ln xmlns:a="http://schemas.openxmlformats.org/drawingml/2006/main" w="6350">
            <a:solidFill>
              <a:srgbClr val="E1E5EA"/>
            </a:solidFill>
            <a:prstDash val="solid"/>
          </a:ln>
          <a:effectLst xmlns:a="http://schemas.openxmlformats.org/drawingml/2006/main">
            <a:outerShdw blurRad="203200" dist="25400" dir="5400000" sx="100000" sy="100000" kx="0" ky="0" algn="bl" rotWithShape="0">
              <a:srgbClr val="000000">
                <a:alpha val="4000"/>
              </a:srgbClr>
            </a:outerShdw>
          </a:effectLst>
        </p:spPr>
      </p:sp>
      <p:sp>
        <p:nvSpPr>
          <p:cNvPr id="6" name="Text 4">
            <a:extLst xmlns:a="http://schemas.openxmlformats.org/drawingml/2006/main">
              <a:ext uri="{FF2B5EF4-FFF2-40B4-BE49-F238E27FC236}">
                <a16:creationId xmlns:a16="http://schemas.microsoft.com/office/drawing/2014/main" id="{8A5FA544-223B-4ACF-BB08-4BAEBAE7FE2A}"/>
              </a:ext>
            </a:extLst>
          </p:cNvPr>
          <p:cNvSpPr>
            <a:spLocks xmlns:a="http://schemas.openxmlformats.org/drawingml/2006/main" noGrp="1"/>
          </p:cNvSpPr>
          <p:nvPr/>
        </p:nvSpPr>
        <p:spPr>
          <a:xfrm xmlns:a="http://schemas.openxmlformats.org/drawingml/2006/main">
            <a:off x="1046640" y="2072652"/>
            <a:ext cx="884291" cy="3758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760"/>
              </a:lnSpc>
              <a:buNone/>
            </a:pPr>
            <a:r>
              <a:rPr sz="2300" b="1">
                <a:solidFill>
                  <a:srgbClr val="1D4ED8"/>
                </a:solidFill>
                <a:latin typeface="Pretendard"/>
                <a:ea typeface="Pretendard"/>
                <a:cs typeface="Pretendard"/>
              </a:rPr>
              <a:t>관리자</a:t>
            </a:r>
            <a:endParaRPr sz="2300"/>
          </a:p>
        </p:txBody>
      </p:sp>
      <p:sp>
        <p:nvSpPr>
          <p:cNvPr id="7" name="Text 5">
            <a:extLst xmlns:a="http://schemas.openxmlformats.org/drawingml/2006/main">
              <a:ext uri="{FF2B5EF4-FFF2-40B4-BE49-F238E27FC236}">
                <a16:creationId xmlns:a16="http://schemas.microsoft.com/office/drawing/2014/main" id="{5F5662BB-4BFE-417B-810E-453675A6AECF}"/>
              </a:ext>
            </a:extLst>
          </p:cNvPr>
          <p:cNvSpPr>
            <a:spLocks xmlns:a="http://schemas.openxmlformats.org/drawingml/2006/main" noGrp="1"/>
          </p:cNvSpPr>
          <p:nvPr/>
        </p:nvSpPr>
        <p:spPr>
          <a:xfrm xmlns:a="http://schemas.openxmlformats.org/drawingml/2006/main">
            <a:off x="1930931" y="2180692"/>
            <a:ext cx="1444116"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일 배정 · 현장 관리</a:t>
            </a:r>
            <a:endParaRPr sz="1200"/>
          </a:p>
        </p:txBody>
      </p:sp>
      <p:sp>
        <p:nvSpPr>
          <p:cNvPr id="8" name="Shape 6">
            <a:extLst xmlns:a="http://schemas.openxmlformats.org/drawingml/2006/main">
              <a:ext uri="{FF2B5EF4-FFF2-40B4-BE49-F238E27FC236}">
                <a16:creationId xmlns:a16="http://schemas.microsoft.com/office/drawing/2014/main" id="{8040C37A-74C0-44FF-B850-DB8C9A5FF933}"/>
              </a:ext>
            </a:extLst>
          </p:cNvPr>
          <p:cNvSpPr>
            <a:spLocks xmlns:a="http://schemas.openxmlformats.org/drawingml/2006/main" noGrp="1"/>
          </p:cNvSpPr>
          <p:nvPr/>
        </p:nvSpPr>
        <p:spPr>
          <a:xfrm xmlns:a="http://schemas.openxmlformats.org/drawingml/2006/main">
            <a:off x="1046640" y="2527874"/>
            <a:ext cx="4116976" cy="0"/>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9" name="Text 7">
            <a:extLst xmlns:a="http://schemas.openxmlformats.org/drawingml/2006/main">
              <a:ext uri="{FF2B5EF4-FFF2-40B4-BE49-F238E27FC236}">
                <a16:creationId xmlns:a16="http://schemas.microsoft.com/office/drawing/2014/main" id="{929B89AD-4EC0-426A-B2A1-504530B5A403}"/>
              </a:ext>
            </a:extLst>
          </p:cNvPr>
          <p:cNvSpPr>
            <a:spLocks xmlns:a="http://schemas.openxmlformats.org/drawingml/2006/main" noGrp="1"/>
          </p:cNvSpPr>
          <p:nvPr/>
        </p:nvSpPr>
        <p:spPr>
          <a:xfrm xmlns:a="http://schemas.openxmlformats.org/drawingml/2006/main">
            <a:off x="1046640" y="2631545"/>
            <a:ext cx="4240485" cy="2565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400" b="1">
                <a:solidFill>
                  <a:srgbClr val="1F2937"/>
                </a:solidFill>
                <a:latin typeface="Noto Sans KR"/>
                <a:ea typeface="Noto Sans KR"/>
                <a:cs typeface="Noto Sans KR"/>
              </a:rPr>
              <a:t>안전 수칙(JSA) 자동 정리</a:t>
            </a:r>
            <a:endParaRPr sz="1400"/>
          </a:p>
        </p:txBody>
      </p:sp>
      <p:sp>
        <p:nvSpPr>
          <p:cNvPr id="10" name="Text 8">
            <a:extLst xmlns:a="http://schemas.openxmlformats.org/drawingml/2006/main">
              <a:ext uri="{FF2B5EF4-FFF2-40B4-BE49-F238E27FC236}">
                <a16:creationId xmlns:a16="http://schemas.microsoft.com/office/drawing/2014/main" id="{0C29C7AD-0180-44A6-9C71-6BB75C3DA134}"/>
              </a:ext>
            </a:extLst>
          </p:cNvPr>
          <p:cNvSpPr>
            <a:spLocks xmlns:a="http://schemas.openxmlformats.org/drawingml/2006/main" noGrp="1"/>
          </p:cNvSpPr>
          <p:nvPr/>
        </p:nvSpPr>
        <p:spPr>
          <a:xfrm xmlns:a="http://schemas.openxmlformats.org/drawingml/2006/main">
            <a:off x="1046640" y="2888019"/>
            <a:ext cx="4240485"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작업 입력 → 필수·권장 구분, 근거 법령 표시</a:t>
            </a:r>
            <a:endParaRPr sz="1200"/>
          </a:p>
        </p:txBody>
      </p:sp>
      <p:sp>
        <p:nvSpPr>
          <p:cNvPr id="11" name="Shape 9">
            <a:extLst xmlns:a="http://schemas.openxmlformats.org/drawingml/2006/main">
              <a:ext uri="{FF2B5EF4-FFF2-40B4-BE49-F238E27FC236}">
                <a16:creationId xmlns:a16="http://schemas.microsoft.com/office/drawing/2014/main" id="{F05730CC-920A-4AEC-B8BC-C134331C05A4}"/>
              </a:ext>
            </a:extLst>
          </p:cNvPr>
          <p:cNvSpPr>
            <a:spLocks xmlns:a="http://schemas.openxmlformats.org/drawingml/2006/main" noGrp="1"/>
          </p:cNvSpPr>
          <p:nvPr/>
        </p:nvSpPr>
        <p:spPr>
          <a:xfrm xmlns:a="http://schemas.openxmlformats.org/drawingml/2006/main">
            <a:off x="1046640" y="3206090"/>
            <a:ext cx="4116976" cy="0"/>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12" name="Text 10">
            <a:extLst xmlns:a="http://schemas.openxmlformats.org/drawingml/2006/main">
              <a:ext uri="{FF2B5EF4-FFF2-40B4-BE49-F238E27FC236}">
                <a16:creationId xmlns:a16="http://schemas.microsoft.com/office/drawing/2014/main" id="{6351B2B0-97E2-4216-B6DA-084F85B551AC}"/>
              </a:ext>
            </a:extLst>
          </p:cNvPr>
          <p:cNvSpPr>
            <a:spLocks xmlns:a="http://schemas.openxmlformats.org/drawingml/2006/main" noGrp="1"/>
          </p:cNvSpPr>
          <p:nvPr/>
        </p:nvSpPr>
        <p:spPr>
          <a:xfrm xmlns:a="http://schemas.openxmlformats.org/drawingml/2006/main">
            <a:off x="1046640" y="3309761"/>
            <a:ext cx="4240485" cy="2565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400" b="1">
                <a:solidFill>
                  <a:srgbClr val="1F2937"/>
                </a:solidFill>
                <a:latin typeface="Noto Sans KR"/>
                <a:ea typeface="Noto Sans KR"/>
                <a:cs typeface="Noto Sans KR"/>
              </a:rPr>
              <a:t>TBM 음성 기록</a:t>
            </a:r>
            <a:endParaRPr sz="1400"/>
          </a:p>
        </p:txBody>
      </p:sp>
      <p:sp>
        <p:nvSpPr>
          <p:cNvPr id="13" name="Text 11">
            <a:extLst xmlns:a="http://schemas.openxmlformats.org/drawingml/2006/main">
              <a:ext uri="{FF2B5EF4-FFF2-40B4-BE49-F238E27FC236}">
                <a16:creationId xmlns:a16="http://schemas.microsoft.com/office/drawing/2014/main" id="{71F555FD-57FE-4915-B08E-95DD612F56E9}"/>
              </a:ext>
            </a:extLst>
          </p:cNvPr>
          <p:cNvSpPr>
            <a:spLocks xmlns:a="http://schemas.openxmlformats.org/drawingml/2006/main" noGrp="1"/>
          </p:cNvSpPr>
          <p:nvPr/>
        </p:nvSpPr>
        <p:spPr>
          <a:xfrm xmlns:a="http://schemas.openxmlformats.org/drawingml/2006/main">
            <a:off x="1046640" y="3566235"/>
            <a:ext cx="4240485"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근로자 할 일로 자동 전달</a:t>
            </a:r>
            <a:endParaRPr sz="1200"/>
          </a:p>
        </p:txBody>
      </p:sp>
      <p:sp>
        <p:nvSpPr>
          <p:cNvPr id="14" name="Shape 12">
            <a:extLst xmlns:a="http://schemas.openxmlformats.org/drawingml/2006/main">
              <a:ext uri="{FF2B5EF4-FFF2-40B4-BE49-F238E27FC236}">
                <a16:creationId xmlns:a16="http://schemas.microsoft.com/office/drawing/2014/main" id="{A800CA53-AE87-48A3-B3CB-9C4C68156396}"/>
              </a:ext>
            </a:extLst>
          </p:cNvPr>
          <p:cNvSpPr>
            <a:spLocks xmlns:a="http://schemas.openxmlformats.org/drawingml/2006/main" noGrp="1"/>
          </p:cNvSpPr>
          <p:nvPr/>
        </p:nvSpPr>
        <p:spPr>
          <a:xfrm xmlns:a="http://schemas.openxmlformats.org/drawingml/2006/main">
            <a:off x="1046640" y="3884306"/>
            <a:ext cx="4116976" cy="0"/>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15" name="Text 13">
            <a:extLst xmlns:a="http://schemas.openxmlformats.org/drawingml/2006/main">
              <a:ext uri="{FF2B5EF4-FFF2-40B4-BE49-F238E27FC236}">
                <a16:creationId xmlns:a16="http://schemas.microsoft.com/office/drawing/2014/main" id="{8945A81E-761B-4729-A106-06F9B5603149}"/>
              </a:ext>
            </a:extLst>
          </p:cNvPr>
          <p:cNvSpPr>
            <a:spLocks xmlns:a="http://schemas.openxmlformats.org/drawingml/2006/main" noGrp="1"/>
          </p:cNvSpPr>
          <p:nvPr/>
        </p:nvSpPr>
        <p:spPr>
          <a:xfrm xmlns:a="http://schemas.openxmlformats.org/drawingml/2006/main">
            <a:off x="1046640" y="3987977"/>
            <a:ext cx="4240485" cy="2565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400" b="1">
                <a:solidFill>
                  <a:srgbClr val="1F2937"/>
                </a:solidFill>
                <a:latin typeface="Noto Sans KR"/>
                <a:ea typeface="Noto Sans KR"/>
                <a:cs typeface="Noto Sans KR"/>
              </a:rPr>
              <a:t>조치 내역 한눈에</a:t>
            </a:r>
            <a:endParaRPr sz="1400"/>
          </a:p>
        </p:txBody>
      </p:sp>
      <p:sp>
        <p:nvSpPr>
          <p:cNvPr id="16" name="Text 14">
            <a:extLst xmlns:a="http://schemas.openxmlformats.org/drawingml/2006/main">
              <a:ext uri="{FF2B5EF4-FFF2-40B4-BE49-F238E27FC236}">
                <a16:creationId xmlns:a16="http://schemas.microsoft.com/office/drawing/2014/main" id="{A5B78E40-084F-4EC9-8103-B0DDD8294C4B}"/>
              </a:ext>
            </a:extLst>
          </p:cNvPr>
          <p:cNvSpPr>
            <a:spLocks xmlns:a="http://schemas.openxmlformats.org/drawingml/2006/main" noGrp="1"/>
          </p:cNvSpPr>
          <p:nvPr/>
        </p:nvSpPr>
        <p:spPr>
          <a:xfrm xmlns:a="http://schemas.openxmlformats.org/drawingml/2006/main">
            <a:off x="1046640" y="4244451"/>
            <a:ext cx="4240485"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사진·보고 한 화면 모아 보기</a:t>
            </a:r>
            <a:endParaRPr sz="1200"/>
          </a:p>
        </p:txBody>
      </p:sp>
      <p:sp>
        <p:nvSpPr>
          <p:cNvPr id="17" name="Text 15">
            <a:extLst xmlns:a="http://schemas.openxmlformats.org/drawingml/2006/main">
              <a:ext uri="{FF2B5EF4-FFF2-40B4-BE49-F238E27FC236}">
                <a16:creationId xmlns:a16="http://schemas.microsoft.com/office/drawing/2014/main" id="{B313BF3F-0A7D-4D5A-AC2E-A87C2B06D42B}"/>
              </a:ext>
            </a:extLst>
          </p:cNvPr>
          <p:cNvSpPr>
            <a:spLocks xmlns:a="http://schemas.openxmlformats.org/drawingml/2006/main" noGrp="1"/>
          </p:cNvSpPr>
          <p:nvPr/>
        </p:nvSpPr>
        <p:spPr>
          <a:xfrm xmlns:a="http://schemas.openxmlformats.org/drawingml/2006/main">
            <a:off x="5718129" y="2804269"/>
            <a:ext cx="755656"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D4ED8"/>
                </a:solidFill>
                <a:latin typeface="Noto Sans KR"/>
                <a:ea typeface="Noto Sans KR"/>
                <a:cs typeface="Noto Sans KR"/>
              </a:rPr>
              <a:t>할 일 전달</a:t>
            </a:r>
            <a:endParaRPr sz="1200"/>
          </a:p>
        </p:txBody>
      </p:sp>
      <p:pic>
        <p:nvPicPr>
          <p:cNvPr id="18" name="Image 0">
            <a:extLst xmlns:a="http://schemas.openxmlformats.org/drawingml/2006/main">
              <a:ext uri="{FF2B5EF4-FFF2-40B4-BE49-F238E27FC236}">
                <a16:creationId xmlns:a16="http://schemas.microsoft.com/office/drawing/2014/main" id="{56061B0E-72B6-41E0-BD19-4FC49F3575F2}"/>
              </a:ext>
            </a:extLst>
          </p:cNvPr>
          <p:cNvPicPr>
            <a:picLocks xmlns:a="http://schemas.openxmlformats.org/drawingml/2006/main" noChangeAspect="1"/>
          </p:cNvPicPr>
          <p:nvPr/>
        </p:nvPicPr>
        <p:blipFill>
          <a:blip xmlns:r="http://schemas.openxmlformats.org/officeDocument/2006/relationships" xmlns:a="http://schemas.openxmlformats.org/drawingml/2006/main" r:embed="R7b3614ce88244f92"/>
          <a:srcRect xmlns:a="http://schemas.openxmlformats.org/drawingml/2006/main" l="-11" t="0" r="-11" b="0"/>
          <a:stretch xmlns:a="http://schemas.openxmlformats.org/drawingml/2006/main"/>
        </p:blipFill>
        <p:spPr>
          <a:xfrm xmlns:a="http://schemas.openxmlformats.org/drawingml/2006/main">
            <a:off x="5651485" y="3106486"/>
            <a:ext cx="888985" cy="101576"/>
          </a:xfrm>
          <a:prstGeom xmlns:a="http://schemas.openxmlformats.org/drawingml/2006/main" prst="rect">
            <a:avLst/>
          </a:prstGeom>
        </p:spPr>
      </p:pic>
      <p:pic>
        <p:nvPicPr>
          <p:cNvPr id="19" name="Image 1">
            <a:extLst xmlns:a="http://schemas.openxmlformats.org/drawingml/2006/main">
              <a:ext uri="{FF2B5EF4-FFF2-40B4-BE49-F238E27FC236}">
                <a16:creationId xmlns:a16="http://schemas.microsoft.com/office/drawing/2014/main" id="{6FC91573-F39D-43BA-BE84-7C33BCD10995}"/>
              </a:ext>
            </a:extLst>
          </p:cNvPr>
          <p:cNvPicPr>
            <a:picLocks xmlns:a="http://schemas.openxmlformats.org/drawingml/2006/main" noChangeAspect="1"/>
          </p:cNvPicPr>
          <p:nvPr/>
        </p:nvPicPr>
        <p:blipFill>
          <a:blip xmlns:r="http://schemas.openxmlformats.org/officeDocument/2006/relationships" xmlns:a="http://schemas.openxmlformats.org/drawingml/2006/main" r:embed="Rc7d26f5dc8a44063"/>
          <a:srcRect xmlns:a="http://schemas.openxmlformats.org/drawingml/2006/main" l="-11" t="0" r="-11" b="0"/>
          <a:stretch xmlns:a="http://schemas.openxmlformats.org/drawingml/2006/main"/>
        </p:blipFill>
        <p:spPr>
          <a:xfrm xmlns:a="http://schemas.openxmlformats.org/drawingml/2006/main">
            <a:off x="5651485" y="3296955"/>
            <a:ext cx="888985" cy="101576"/>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AFED5578-9509-46CC-951A-B70148BE553D}"/>
              </a:ext>
            </a:extLst>
          </p:cNvPr>
          <p:cNvSpPr>
            <a:spLocks xmlns:a="http://schemas.openxmlformats.org/drawingml/2006/main" noGrp="1"/>
          </p:cNvSpPr>
          <p:nvPr/>
        </p:nvSpPr>
        <p:spPr>
          <a:xfrm xmlns:a="http://schemas.openxmlformats.org/drawingml/2006/main">
            <a:off x="5738827" y="3487427"/>
            <a:ext cx="714301"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D4ED8"/>
                </a:solidFill>
                <a:latin typeface="Noto Sans KR"/>
                <a:ea typeface="Noto Sans KR"/>
                <a:cs typeface="Noto Sans KR"/>
              </a:rPr>
              <a:t>사진 보고</a:t>
            </a:r>
            <a:endParaRPr sz="1200"/>
          </a:p>
        </p:txBody>
      </p:sp>
      <p:sp>
        <p:nvSpPr>
          <p:cNvPr id="21" name="Shape 17">
            <a:extLst xmlns:a="http://schemas.openxmlformats.org/drawingml/2006/main">
              <a:ext uri="{FF2B5EF4-FFF2-40B4-BE49-F238E27FC236}">
                <a16:creationId xmlns:a16="http://schemas.microsoft.com/office/drawing/2014/main" id="{DA1097DD-3E2D-4120-8467-8AD116D048C9}"/>
              </a:ext>
            </a:extLst>
          </p:cNvPr>
          <p:cNvSpPr>
            <a:spLocks xmlns:a="http://schemas.openxmlformats.org/drawingml/2006/main" noGrp="1"/>
          </p:cNvSpPr>
          <p:nvPr/>
        </p:nvSpPr>
        <p:spPr>
          <a:xfrm xmlns:a="http://schemas.openxmlformats.org/drawingml/2006/main">
            <a:off x="6797647" y="1892808"/>
            <a:ext cx="4578402" cy="2719402"/>
          </a:xfrm>
          <a:prstGeom xmlns:a="http://schemas.openxmlformats.org/drawingml/2006/main" prst="roundRect">
            <a:avLst>
              <a:gd name="adj" fmla="val 4553"/>
            </a:avLst>
          </a:prstGeom>
          <a:solidFill xmlns:a="http://schemas.openxmlformats.org/drawingml/2006/main">
            <a:srgbClr val="FFFFFF"/>
          </a:solidFill>
          <a:ln xmlns:a="http://schemas.openxmlformats.org/drawingml/2006/main" w="6350">
            <a:solidFill>
              <a:srgbClr val="E1E5EA"/>
            </a:solidFill>
            <a:prstDash val="solid"/>
          </a:ln>
          <a:effectLst xmlns:a="http://schemas.openxmlformats.org/drawingml/2006/main">
            <a:outerShdw blurRad="203200" dist="25400" dir="5400000" sx="100000" sy="100000" kx="0" ky="0" algn="bl" rotWithShape="0">
              <a:srgbClr val="000000">
                <a:alpha val="4000"/>
              </a:srgbClr>
            </a:outerShdw>
          </a:effectLst>
        </p:spPr>
      </p:sp>
      <p:sp>
        <p:nvSpPr>
          <p:cNvPr id="22" name="Text 18">
            <a:extLst xmlns:a="http://schemas.openxmlformats.org/drawingml/2006/main">
              <a:ext uri="{FF2B5EF4-FFF2-40B4-BE49-F238E27FC236}">
                <a16:creationId xmlns:a16="http://schemas.microsoft.com/office/drawing/2014/main" id="{76CAACBF-952C-4127-9CC9-9A682175CFE1}"/>
              </a:ext>
            </a:extLst>
          </p:cNvPr>
          <p:cNvSpPr>
            <a:spLocks xmlns:a="http://schemas.openxmlformats.org/drawingml/2006/main" noGrp="1"/>
          </p:cNvSpPr>
          <p:nvPr/>
        </p:nvSpPr>
        <p:spPr>
          <a:xfrm xmlns:a="http://schemas.openxmlformats.org/drawingml/2006/main">
            <a:off x="7028339" y="2072652"/>
            <a:ext cx="884292" cy="3758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760"/>
              </a:lnSpc>
              <a:buNone/>
            </a:pPr>
            <a:r>
              <a:rPr sz="2300" b="1">
                <a:solidFill>
                  <a:srgbClr val="1D4ED8"/>
                </a:solidFill>
                <a:latin typeface="Pretendard"/>
                <a:ea typeface="Pretendard"/>
                <a:cs typeface="Pretendard"/>
              </a:rPr>
              <a:t>근로자</a:t>
            </a:r>
            <a:endParaRPr sz="2300"/>
          </a:p>
        </p:txBody>
      </p:sp>
      <p:sp>
        <p:nvSpPr>
          <p:cNvPr id="23" name="Text 19">
            <a:extLst xmlns:a="http://schemas.openxmlformats.org/drawingml/2006/main">
              <a:ext uri="{FF2B5EF4-FFF2-40B4-BE49-F238E27FC236}">
                <a16:creationId xmlns:a16="http://schemas.microsoft.com/office/drawing/2014/main" id="{2EEE8C16-52D4-438C-808F-A3F50D4ABF5A}"/>
              </a:ext>
            </a:extLst>
          </p:cNvPr>
          <p:cNvSpPr>
            <a:spLocks xmlns:a="http://schemas.openxmlformats.org/drawingml/2006/main" noGrp="1"/>
          </p:cNvSpPr>
          <p:nvPr/>
        </p:nvSpPr>
        <p:spPr>
          <a:xfrm xmlns:a="http://schemas.openxmlformats.org/drawingml/2006/main">
            <a:off x="7912631" y="2180692"/>
            <a:ext cx="1091388"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맡은 작업 수행</a:t>
            </a:r>
            <a:endParaRPr sz="1200"/>
          </a:p>
        </p:txBody>
      </p:sp>
      <p:sp>
        <p:nvSpPr>
          <p:cNvPr id="24" name="Shape 20">
            <a:extLst xmlns:a="http://schemas.openxmlformats.org/drawingml/2006/main">
              <a:ext uri="{FF2B5EF4-FFF2-40B4-BE49-F238E27FC236}">
                <a16:creationId xmlns:a16="http://schemas.microsoft.com/office/drawing/2014/main" id="{DDDCC40A-7845-474B-9220-D698268F24A8}"/>
              </a:ext>
            </a:extLst>
          </p:cNvPr>
          <p:cNvSpPr>
            <a:spLocks xmlns:a="http://schemas.openxmlformats.org/drawingml/2006/main" noGrp="1"/>
          </p:cNvSpPr>
          <p:nvPr/>
        </p:nvSpPr>
        <p:spPr>
          <a:xfrm xmlns:a="http://schemas.openxmlformats.org/drawingml/2006/main">
            <a:off x="7028339" y="2527874"/>
            <a:ext cx="4117017" cy="0"/>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25" name="Text 21">
            <a:extLst xmlns:a="http://schemas.openxmlformats.org/drawingml/2006/main">
              <a:ext uri="{FF2B5EF4-FFF2-40B4-BE49-F238E27FC236}">
                <a16:creationId xmlns:a16="http://schemas.microsoft.com/office/drawing/2014/main" id="{C047780C-11EF-41C6-9810-0FF9F5D86C93}"/>
              </a:ext>
            </a:extLst>
          </p:cNvPr>
          <p:cNvSpPr>
            <a:spLocks xmlns:a="http://schemas.openxmlformats.org/drawingml/2006/main" noGrp="1"/>
          </p:cNvSpPr>
          <p:nvPr/>
        </p:nvSpPr>
        <p:spPr>
          <a:xfrm xmlns:a="http://schemas.openxmlformats.org/drawingml/2006/main">
            <a:off x="7028339" y="2631545"/>
            <a:ext cx="4240527" cy="2565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400" b="1">
                <a:solidFill>
                  <a:srgbClr val="1F2937"/>
                </a:solidFill>
                <a:latin typeface="Noto Sans KR"/>
                <a:ea typeface="Noto Sans KR"/>
                <a:cs typeface="Noto Sans KR"/>
              </a:rPr>
              <a:t>내 작업 안전 수칙 확인</a:t>
            </a:r>
            <a:endParaRPr sz="1400"/>
          </a:p>
        </p:txBody>
      </p:sp>
      <p:sp>
        <p:nvSpPr>
          <p:cNvPr id="26" name="Text 22">
            <a:extLst xmlns:a="http://schemas.openxmlformats.org/drawingml/2006/main">
              <a:ext uri="{FF2B5EF4-FFF2-40B4-BE49-F238E27FC236}">
                <a16:creationId xmlns:a16="http://schemas.microsoft.com/office/drawing/2014/main" id="{7FF0A2F0-4472-4B8F-B2AD-E7F9ECEDB60F}"/>
              </a:ext>
            </a:extLst>
          </p:cNvPr>
          <p:cNvSpPr>
            <a:spLocks xmlns:a="http://schemas.openxmlformats.org/drawingml/2006/main" noGrp="1"/>
          </p:cNvSpPr>
          <p:nvPr/>
        </p:nvSpPr>
        <p:spPr>
          <a:xfrm xmlns:a="http://schemas.openxmlformats.org/drawingml/2006/main">
            <a:off x="7028339" y="2888019"/>
            <a:ext cx="4240527"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오늘 할 일과 함께 표시</a:t>
            </a:r>
            <a:endParaRPr sz="1200"/>
          </a:p>
        </p:txBody>
      </p:sp>
      <p:sp>
        <p:nvSpPr>
          <p:cNvPr id="27" name="Shape 23">
            <a:extLst xmlns:a="http://schemas.openxmlformats.org/drawingml/2006/main">
              <a:ext uri="{FF2B5EF4-FFF2-40B4-BE49-F238E27FC236}">
                <a16:creationId xmlns:a16="http://schemas.microsoft.com/office/drawing/2014/main" id="{42B82494-B500-4BD9-9150-A19CF8E7AF23}"/>
              </a:ext>
            </a:extLst>
          </p:cNvPr>
          <p:cNvSpPr>
            <a:spLocks xmlns:a="http://schemas.openxmlformats.org/drawingml/2006/main" noGrp="1"/>
          </p:cNvSpPr>
          <p:nvPr/>
        </p:nvSpPr>
        <p:spPr>
          <a:xfrm xmlns:a="http://schemas.openxmlformats.org/drawingml/2006/main">
            <a:off x="7028339" y="3206090"/>
            <a:ext cx="4117017" cy="0"/>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28" name="Text 24">
            <a:extLst xmlns:a="http://schemas.openxmlformats.org/drawingml/2006/main">
              <a:ext uri="{FF2B5EF4-FFF2-40B4-BE49-F238E27FC236}">
                <a16:creationId xmlns:a16="http://schemas.microsoft.com/office/drawing/2014/main" id="{A96C7253-FBE9-42C2-899D-2C28CF39DDC3}"/>
              </a:ext>
            </a:extLst>
          </p:cNvPr>
          <p:cNvSpPr>
            <a:spLocks xmlns:a="http://schemas.openxmlformats.org/drawingml/2006/main" noGrp="1"/>
          </p:cNvSpPr>
          <p:nvPr/>
        </p:nvSpPr>
        <p:spPr>
          <a:xfrm xmlns:a="http://schemas.openxmlformats.org/drawingml/2006/main">
            <a:off x="7028339" y="3309761"/>
            <a:ext cx="4240527" cy="2565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400" b="1">
                <a:solidFill>
                  <a:srgbClr val="1F2937"/>
                </a:solidFill>
                <a:latin typeface="Noto Sans KR"/>
                <a:ea typeface="Noto Sans KR"/>
                <a:cs typeface="Noto Sans KR"/>
              </a:rPr>
              <a:t>조치 사진 AI 판정</a:t>
            </a:r>
            <a:endParaRPr sz="1400"/>
          </a:p>
        </p:txBody>
      </p:sp>
      <p:sp>
        <p:nvSpPr>
          <p:cNvPr id="29" name="Text 25">
            <a:extLst xmlns:a="http://schemas.openxmlformats.org/drawingml/2006/main">
              <a:ext uri="{FF2B5EF4-FFF2-40B4-BE49-F238E27FC236}">
                <a16:creationId xmlns:a16="http://schemas.microsoft.com/office/drawing/2014/main" id="{5FE7CD66-9999-4ECC-9F5D-80228C595592}"/>
              </a:ext>
            </a:extLst>
          </p:cNvPr>
          <p:cNvSpPr>
            <a:spLocks xmlns:a="http://schemas.openxmlformats.org/drawingml/2006/main" noGrp="1"/>
          </p:cNvSpPr>
          <p:nvPr/>
        </p:nvSpPr>
        <p:spPr>
          <a:xfrm xmlns:a="http://schemas.openxmlformats.org/drawingml/2006/main">
            <a:off x="7028339" y="3566235"/>
            <a:ext cx="4240527"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5803D"/>
                </a:solidFill>
                <a:latin typeface="Noto Sans KR"/>
                <a:ea typeface="Noto Sans KR"/>
                <a:cs typeface="Noto Sans KR"/>
              </a:rPr>
              <a:t>확인됨</a:t>
            </a:r>
            <a:r>
              <a:rPr sz="1200">
                <a:solidFill>
                  <a:srgbClr val="6B7280"/>
                </a:solidFill>
                <a:latin typeface="Noto Sans KR"/>
                <a:ea typeface="Noto Sans KR"/>
                <a:cs typeface="Noto Sans KR"/>
              </a:rPr>
              <a:t> · </a:t>
            </a:r>
            <a:r>
              <a:rPr sz="1200" b="1">
                <a:solidFill>
                  <a:srgbClr val="DC2626"/>
                </a:solidFill>
                <a:latin typeface="Noto Sans KR"/>
                <a:ea typeface="Noto Sans KR"/>
                <a:cs typeface="Noto Sans KR"/>
              </a:rPr>
              <a:t>안 보임</a:t>
            </a:r>
            <a:r>
              <a:rPr sz="1200">
                <a:solidFill>
                  <a:srgbClr val="6B7280"/>
                </a:solidFill>
                <a:latin typeface="Noto Sans KR"/>
                <a:ea typeface="Noto Sans KR"/>
                <a:cs typeface="Noto Sans KR"/>
              </a:rPr>
              <a:t> · </a:t>
            </a:r>
            <a:r>
              <a:rPr sz="1200" b="1">
                <a:solidFill>
                  <a:srgbClr val="6D28D9"/>
                </a:solidFill>
                <a:latin typeface="Noto Sans KR"/>
                <a:ea typeface="Noto Sans KR"/>
                <a:cs typeface="Noto Sans KR"/>
              </a:rPr>
              <a:t>판단불가</a:t>
            </a:r>
            <a:endParaRPr sz="1200"/>
          </a:p>
        </p:txBody>
      </p:sp>
      <p:sp>
        <p:nvSpPr>
          <p:cNvPr id="30" name="Shape 26">
            <a:extLst xmlns:a="http://schemas.openxmlformats.org/drawingml/2006/main">
              <a:ext uri="{FF2B5EF4-FFF2-40B4-BE49-F238E27FC236}">
                <a16:creationId xmlns:a16="http://schemas.microsoft.com/office/drawing/2014/main" id="{5280F108-27CB-48CF-9977-88953B007385}"/>
              </a:ext>
            </a:extLst>
          </p:cNvPr>
          <p:cNvSpPr>
            <a:spLocks xmlns:a="http://schemas.openxmlformats.org/drawingml/2006/main" noGrp="1"/>
          </p:cNvSpPr>
          <p:nvPr/>
        </p:nvSpPr>
        <p:spPr>
          <a:xfrm xmlns:a="http://schemas.openxmlformats.org/drawingml/2006/main">
            <a:off x="7028339" y="3884306"/>
            <a:ext cx="4117017" cy="0"/>
          </a:xfrm>
          <a:prstGeom xmlns:a="http://schemas.openxmlformats.org/drawingml/2006/main" prst="line">
            <a:avLst/>
          </a:prstGeom>
          <a:noFill xmlns:a="http://schemas.openxmlformats.org/drawingml/2006/main"/>
          <a:ln xmlns:a="http://schemas.openxmlformats.org/drawingml/2006/main" w="6350">
            <a:solidFill>
              <a:srgbClr val="E1E5EA"/>
            </a:solidFill>
            <a:prstDash val="solid"/>
          </a:ln>
        </p:spPr>
      </p:sp>
      <p:sp>
        <p:nvSpPr>
          <p:cNvPr id="31" name="Text 27">
            <a:extLst xmlns:a="http://schemas.openxmlformats.org/drawingml/2006/main">
              <a:ext uri="{FF2B5EF4-FFF2-40B4-BE49-F238E27FC236}">
                <a16:creationId xmlns:a16="http://schemas.microsoft.com/office/drawing/2014/main" id="{FA916505-8FF4-47C2-A567-498315B5408F}"/>
              </a:ext>
            </a:extLst>
          </p:cNvPr>
          <p:cNvSpPr>
            <a:spLocks xmlns:a="http://schemas.openxmlformats.org/drawingml/2006/main" noGrp="1"/>
          </p:cNvSpPr>
          <p:nvPr/>
        </p:nvSpPr>
        <p:spPr>
          <a:xfrm xmlns:a="http://schemas.openxmlformats.org/drawingml/2006/main">
            <a:off x="7028339" y="3987977"/>
            <a:ext cx="4240527" cy="2565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400" b="1">
                <a:solidFill>
                  <a:srgbClr val="1F2937"/>
                </a:solidFill>
                <a:latin typeface="Noto Sans KR"/>
                <a:ea typeface="Noto Sans KR"/>
                <a:cs typeface="Noto Sans KR"/>
              </a:rPr>
              <a:t>점수 · 연속 기록</a:t>
            </a:r>
            <a:endParaRPr sz="1400"/>
          </a:p>
        </p:txBody>
      </p:sp>
      <p:sp>
        <p:nvSpPr>
          <p:cNvPr id="32" name="Text 28">
            <a:extLst xmlns:a="http://schemas.openxmlformats.org/drawingml/2006/main">
              <a:ext uri="{FF2B5EF4-FFF2-40B4-BE49-F238E27FC236}">
                <a16:creationId xmlns:a16="http://schemas.microsoft.com/office/drawing/2014/main" id="{2D62E306-636D-4CB2-83CA-89A6F0649E22}"/>
              </a:ext>
            </a:extLst>
          </p:cNvPr>
          <p:cNvSpPr>
            <a:spLocks xmlns:a="http://schemas.openxmlformats.org/drawingml/2006/main" noGrp="1"/>
          </p:cNvSpPr>
          <p:nvPr/>
        </p:nvSpPr>
        <p:spPr>
          <a:xfrm xmlns:a="http://schemas.openxmlformats.org/drawingml/2006/main">
            <a:off x="7028339" y="4244451"/>
            <a:ext cx="4240527"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확인된 조치, 위험 신고에 가점</a:t>
            </a:r>
            <a:endParaRPr sz="1200"/>
          </a:p>
        </p:txBody>
      </p:sp>
      <p:sp>
        <p:nvSpPr>
          <p:cNvPr id="33" name="Shape 29">
            <a:extLst xmlns:a="http://schemas.openxmlformats.org/drawingml/2006/main">
              <a:ext uri="{FF2B5EF4-FFF2-40B4-BE49-F238E27FC236}">
                <a16:creationId xmlns:a16="http://schemas.microsoft.com/office/drawing/2014/main" id="{653995E2-8647-4DD0-B649-15A63507E869}"/>
              </a:ext>
            </a:extLst>
          </p:cNvPr>
          <p:cNvSpPr>
            <a:spLocks xmlns:a="http://schemas.openxmlformats.org/drawingml/2006/main" noGrp="1"/>
          </p:cNvSpPr>
          <p:nvPr/>
        </p:nvSpPr>
        <p:spPr>
          <a:xfrm xmlns:a="http://schemas.openxmlformats.org/drawingml/2006/main">
            <a:off x="812772" y="5280797"/>
            <a:ext cx="10566452" cy="561200"/>
          </a:xfrm>
          <a:prstGeom xmlns:a="http://schemas.openxmlformats.org/drawingml/2006/main" prst="roundRect">
            <a:avLst>
              <a:gd name="adj" fmla="val 22630"/>
            </a:avLst>
          </a:prstGeom>
          <a:solidFill xmlns:a="http://schemas.openxmlformats.org/drawingml/2006/main">
            <a:srgbClr val="DBEAFE"/>
          </a:solidFill>
        </p:spPr>
      </p:sp>
      <p:sp>
        <p:nvSpPr>
          <p:cNvPr id="34" name="Text 30">
            <a:extLst xmlns:a="http://schemas.openxmlformats.org/drawingml/2006/main">
              <a:ext uri="{FF2B5EF4-FFF2-40B4-BE49-F238E27FC236}">
                <a16:creationId xmlns:a16="http://schemas.microsoft.com/office/drawing/2014/main" id="{EB69FD63-FDD9-4C12-BE66-0F2872F0D527}"/>
              </a:ext>
            </a:extLst>
          </p:cNvPr>
          <p:cNvSpPr>
            <a:spLocks xmlns:a="http://schemas.openxmlformats.org/drawingml/2006/main" noGrp="1"/>
          </p:cNvSpPr>
          <p:nvPr/>
        </p:nvSpPr>
        <p:spPr>
          <a:xfrm xmlns:a="http://schemas.openxmlformats.org/drawingml/2006/main">
            <a:off x="1041370" y="5420460"/>
            <a:ext cx="895350" cy="281876"/>
          </a:xfrm>
          <a:prstGeom xmlns:a="http://schemas.openxmlformats.org/drawingml/2006/main" prst="roundRect">
            <a:avLst>
              <a:gd name="adj" fmla="val 50000"/>
            </a:avLst>
          </a:prstGeom>
          <a:solidFill xmlns:a="http://schemas.openxmlformats.org/drawingml/2006/main">
            <a:srgbClr val="1D4ED8"/>
          </a:solidFill>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820"/>
              </a:lnSpc>
              <a:buNone/>
            </a:pPr>
            <a:r>
              <a:rPr sz="1300" b="1">
                <a:solidFill>
                  <a:srgbClr val="FFFFFF"/>
                </a:solidFill>
                <a:latin typeface="Noto Sans KR"/>
                <a:ea typeface="Noto Sans KR"/>
                <a:cs typeface="Noto Sans KR"/>
              </a:rPr>
              <a:t>사용 구성</a:t>
            </a:r>
            <a:endParaRPr sz="1300"/>
          </a:p>
        </p:txBody>
      </p:sp>
      <p:sp>
        <p:nvSpPr>
          <p:cNvPr id="35" name="Text 31">
            <a:extLst xmlns:a="http://schemas.openxmlformats.org/drawingml/2006/main">
              <a:ext uri="{FF2B5EF4-FFF2-40B4-BE49-F238E27FC236}">
                <a16:creationId xmlns:a16="http://schemas.microsoft.com/office/drawing/2014/main" id="{6A3645EA-8A5B-4267-A89F-1499497AEB6E}"/>
              </a:ext>
            </a:extLst>
          </p:cNvPr>
          <p:cNvSpPr>
            <a:spLocks xmlns:a="http://schemas.openxmlformats.org/drawingml/2006/main" noGrp="1"/>
          </p:cNvSpPr>
          <p:nvPr/>
        </p:nvSpPr>
        <p:spPr>
          <a:xfrm xmlns:a="http://schemas.openxmlformats.org/drawingml/2006/main">
            <a:off x="1977375" y="5454715"/>
            <a:ext cx="4593413"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D4ED8"/>
                </a:solidFill>
                <a:latin typeface="Noto Sans KR"/>
                <a:ea typeface="Noto Sans KR"/>
                <a:cs typeface="Noto Sans KR"/>
              </a:rPr>
              <a:t>관리자용</a:t>
            </a:r>
            <a:r>
              <a:rPr sz="1200">
                <a:solidFill>
                  <a:srgbClr val="4B5563"/>
                </a:solidFill>
                <a:latin typeface="Noto Sans KR"/>
                <a:ea typeface="Noto Sans KR"/>
                <a:cs typeface="Noto Sans KR"/>
              </a:rPr>
              <a:t>　관리자 단독 사용 · 근로자 앱 없이 운영</a:t>
            </a:r>
            <a:endParaRPr sz="1200"/>
          </a:p>
        </p:txBody>
      </p:sp>
      <p:sp>
        <p:nvSpPr>
          <p:cNvPr id="36" name="Text 32">
            <a:extLst xmlns:a="http://schemas.openxmlformats.org/drawingml/2006/main">
              <a:ext uri="{FF2B5EF4-FFF2-40B4-BE49-F238E27FC236}">
                <a16:creationId xmlns:a16="http://schemas.microsoft.com/office/drawing/2014/main" id="{FAB426A9-1A27-4EAF-ADA5-84B72635102E}"/>
              </a:ext>
            </a:extLst>
          </p:cNvPr>
          <p:cNvSpPr>
            <a:spLocks xmlns:a="http://schemas.openxmlformats.org/drawingml/2006/main" noGrp="1"/>
          </p:cNvSpPr>
          <p:nvPr/>
        </p:nvSpPr>
        <p:spPr>
          <a:xfrm xmlns:a="http://schemas.openxmlformats.org/drawingml/2006/main">
            <a:off x="6690961" y="5454715"/>
            <a:ext cx="4593456"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D4ED8"/>
                </a:solidFill>
                <a:latin typeface="Noto Sans KR"/>
                <a:ea typeface="Noto Sans KR"/>
                <a:cs typeface="Noto Sans KR"/>
              </a:rPr>
              <a:t>관리자 + 근로자용</a:t>
            </a:r>
            <a:r>
              <a:rPr sz="1200">
                <a:solidFill>
                  <a:srgbClr val="4B5563"/>
                </a:solidFill>
                <a:latin typeface="Noto Sans KR"/>
                <a:ea typeface="Noto Sans KR"/>
                <a:cs typeface="Noto Sans KR"/>
              </a:rPr>
              <a:t>　위 기능 전체 사용</a:t>
            </a:r>
            <a:endParaRPr sz="1200"/>
          </a:p>
        </p:txBody>
      </p:sp>
      <p:sp>
        <p:nvSpPr>
          <p:cNvPr id="37" name="Text 33">
            <a:extLst xmlns:a="http://schemas.openxmlformats.org/drawingml/2006/main">
              <a:ext uri="{FF2B5EF4-FFF2-40B4-BE49-F238E27FC236}">
                <a16:creationId xmlns:a16="http://schemas.microsoft.com/office/drawing/2014/main" id="{319E501E-6A32-499C-8D3F-DEC22BED578B}"/>
              </a:ext>
            </a:extLst>
          </p:cNvPr>
          <p:cNvSpPr>
            <a:spLocks xmlns:a="http://schemas.openxmlformats.org/drawingml/2006/main" noGrp="1"/>
          </p:cNvSpPr>
          <p:nvPr/>
        </p:nvSpPr>
        <p:spPr>
          <a:xfrm xmlns:a="http://schemas.openxmlformats.org/drawingml/2006/main">
            <a:off x="812772" y="6238255"/>
            <a:ext cx="1770905"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7280"/>
                </a:solidFill>
                <a:latin typeface="Noto Sans KR"/>
                <a:ea typeface="Noto Sans KR"/>
                <a:cs typeface="Noto Sans KR"/>
              </a:rPr>
              <a:t>안전반장 · TEAM 0x02</a:t>
            </a:r>
            <a:endParaRPr sz="1200"/>
          </a:p>
        </p:txBody>
      </p:sp>
      <p:sp>
        <p:nvSpPr>
          <p:cNvPr id="38" name="Text 34">
            <a:extLst xmlns:a="http://schemas.openxmlformats.org/drawingml/2006/main">
              <a:ext uri="{FF2B5EF4-FFF2-40B4-BE49-F238E27FC236}">
                <a16:creationId xmlns:a16="http://schemas.microsoft.com/office/drawing/2014/main" id="{6E33A758-5695-4203-976F-16813FEBBFD7}"/>
              </a:ext>
            </a:extLst>
          </p:cNvPr>
          <p:cNvSpPr>
            <a:spLocks xmlns:a="http://schemas.openxmlformats.org/drawingml/2006/main" noGrp="1"/>
          </p:cNvSpPr>
          <p:nvPr/>
        </p:nvSpPr>
        <p:spPr>
          <a:xfrm xmlns:a="http://schemas.openxmlformats.org/drawingml/2006/main">
            <a:off x="10819540" y="6238255"/>
            <a:ext cx="559602" cy="238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r">
              <a:lnSpc>
                <a:spcPts val="1680"/>
              </a:lnSpc>
              <a:buNone/>
            </a:pPr>
            <a:r>
              <a:rPr sz="1200">
                <a:solidFill>
                  <a:srgbClr val="6B7280"/>
                </a:solidFill>
                <a:latin typeface="Noto Sans KR"/>
                <a:ea typeface="Noto Sans KR"/>
                <a:cs typeface="Noto Sans KR"/>
              </a:rPr>
              <a:t>05 / 14</a:t>
            </a:r>
            <a:endParaRPr sz="1200"/>
          </a:p>
        </p:txBody>
      </p:sp>
    </p:spTree>
    <p:extLst>
      <p:ext uri="{BB962C8B-B14F-4D97-AF65-F5344CB8AC3E}">
        <p14:creationId xmlns:p14="http://schemas.microsoft.com/office/powerpoint/2010/main" val="5759552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2" name="DEMO 01 · 관리자">
            <a:extLst xmlns:a="http://schemas.openxmlformats.org/drawingml/2006/main">
              <a:ext uri="{FF2B5EF4-FFF2-40B4-BE49-F238E27FC236}">
                <a16:creationId xmlns:a16="http://schemas.microsoft.com/office/drawing/2014/main" id="{67CE9AD3-9FE2-48D4-8BBF-EFCB23B451E1}"/>
              </a:ext>
            </a:extLst>
          </p:cNvPr>
          <p:cNvSpPr>
            <a:spLocks xmlns:a="http://schemas.openxmlformats.org/drawingml/2006/main" noGrp="1"/>
          </p:cNvSpPr>
          <p:nvPr/>
        </p:nvSpPr>
        <p:spPr>
          <a:xfrm xmlns:a="http://schemas.openxmlformats.org/drawingml/2006/main">
            <a:off x="819150" y="6762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D4ED8"/>
                </a:solidFill>
                <a:latin typeface="Pretendard"/>
                <a:ea typeface="Pretendard"/>
                <a:cs typeface="Pretendard"/>
              </a:defRPr>
            </a:defPPr>
          </a:lstStyle>
          <a:p xmlns:a="http://schemas.openxmlformats.org/drawingml/2006/main">
            <a:pPr>
              <a:defRPr sz="1275" b="1">
                <a:solidFill>
                  <a:srgbClr val="1D4ED8"/>
                </a:solidFill>
                <a:latin typeface="Pretendard"/>
                <a:ea typeface="Pretendard"/>
                <a:cs typeface="Pretendard"/>
              </a:defRPr>
            </a:pPr>
            <a:r>
              <a:rPr sz="1275" b="1">
                <a:solidFill>
                  <a:srgbClr val="1D4ED8"/>
                </a:solidFill>
                <a:latin typeface="Pretendard"/>
                <a:ea typeface="Pretendard"/>
                <a:cs typeface="Pretendard"/>
              </a:rPr>
              <a:t>DEMO 01 · 관리자</a:t>
            </a:r>
          </a:p>
        </p:txBody>
      </p:sp>
      <p:sp>
        <p:nvSpPr>
          <p:cNvPr id="2" name="작업 한 문장에서 안전 수칙까지">
            <a:extLst xmlns:a="http://schemas.openxmlformats.org/drawingml/2006/main">
              <a:ext uri="{FF2B5EF4-FFF2-40B4-BE49-F238E27FC236}">
                <a16:creationId xmlns:a16="http://schemas.microsoft.com/office/drawing/2014/main" id="{F7F743EE-3C67-43B4-AD21-15DD25231055}"/>
              </a:ext>
            </a:extLst>
          </p:cNvPr>
          <p:cNvSpPr>
            <a:spLocks xmlns:a="http://schemas.openxmlformats.org/drawingml/2006/main" noGrp="1"/>
          </p:cNvSpPr>
          <p:nvPr/>
        </p:nvSpPr>
        <p:spPr>
          <a:xfrm xmlns:a="http://schemas.openxmlformats.org/drawingml/2006/main">
            <a:off x="819150" y="10191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F2937"/>
                </a:solidFill>
                <a:latin typeface="Pretendard"/>
                <a:ea typeface="Pretendard"/>
                <a:cs typeface="Pretendard"/>
              </a:defRPr>
            </a:defPPr>
          </a:lstStyle>
          <a:p xmlns:a="http://schemas.openxmlformats.org/drawingml/2006/main">
            <a:pPr>
              <a:defRPr sz="2850" b="1">
                <a:solidFill>
                  <a:srgbClr val="1F2937"/>
                </a:solidFill>
                <a:latin typeface="Pretendard"/>
                <a:ea typeface="Pretendard"/>
                <a:cs typeface="Pretendard"/>
              </a:defRPr>
            </a:pPr>
            <a:r>
              <a:rPr sz="2850" b="1">
                <a:solidFill>
                  <a:srgbClr val="1F2937"/>
                </a:solidFill>
                <a:latin typeface="Pretendard"/>
                <a:ea typeface="Pretendard"/>
                <a:cs typeface="Pretendard"/>
              </a:rPr>
              <a:t>작업 한 문장에서 안전 수칙까지</a:t>
            </a:r>
          </a:p>
        </p:txBody>
      </p:sp>
      <p:sp>
        <p:nvSpPr>
          <p:cNvPr id="3" name="안전반장 · TEAM 0x02">
            <a:extLst xmlns:a="http://schemas.openxmlformats.org/drawingml/2006/main">
              <a:ext uri="{FF2B5EF4-FFF2-40B4-BE49-F238E27FC236}">
                <a16:creationId xmlns:a16="http://schemas.microsoft.com/office/drawing/2014/main" id="{B91CE5F7-9678-401E-B294-0C094AA72B99}"/>
              </a:ext>
            </a:extLst>
          </p:cNvPr>
          <p:cNvSpPr>
            <a:spLocks xmlns:a="http://schemas.openxmlformats.org/drawingml/2006/main" noGrp="1"/>
          </p:cNvSpPr>
          <p:nvPr/>
        </p:nvSpPr>
        <p:spPr>
          <a:xfrm xmlns:a="http://schemas.openxmlformats.org/drawingml/2006/main">
            <a:off x="819150" y="63341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안전반장 · TEAM 0x02</a:t>
            </a:r>
          </a:p>
        </p:txBody>
      </p:sp>
      <p:sp>
        <p:nvSpPr>
          <p:cNvPr id="4" name="06 / 14">
            <a:extLst xmlns:a="http://schemas.openxmlformats.org/drawingml/2006/main">
              <a:ext uri="{FF2B5EF4-FFF2-40B4-BE49-F238E27FC236}">
                <a16:creationId xmlns:a16="http://schemas.microsoft.com/office/drawing/2014/main" id="{3D952845-7AEF-42E5-96C1-326CA1FB5EA1}"/>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06 / 14</a:t>
            </a:r>
          </a:p>
        </p:txBody>
      </p:sp>
      <p:sp>
        <p:nvSpPr>
          <p:cNvPr id="5" name="“2층 각파이프 용접,&#10;옆에 합판”">
            <a:extLst xmlns:a="http://schemas.openxmlformats.org/drawingml/2006/main">
              <a:ext uri="{FF2B5EF4-FFF2-40B4-BE49-F238E27FC236}">
                <a16:creationId xmlns:a16="http://schemas.microsoft.com/office/drawing/2014/main" id="{12992AA3-0F7F-4F15-97C0-9F3C1B13A8A1}"/>
              </a:ext>
            </a:extLst>
          </p:cNvPr>
          <p:cNvSpPr>
            <a:spLocks xmlns:a="http://schemas.openxmlformats.org/drawingml/2006/main" noGrp="1"/>
          </p:cNvSpPr>
          <p:nvPr/>
        </p:nvSpPr>
        <p:spPr>
          <a:xfrm xmlns:a="http://schemas.openxmlformats.org/drawingml/2006/main">
            <a:off x="819150" y="213360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D4ED8"/>
                </a:solidFill>
                <a:latin typeface="Pretendard"/>
                <a:ea typeface="Pretendard"/>
                <a:cs typeface="Pretendard"/>
              </a:defRPr>
            </a:defPPr>
          </a:lstStyle>
          <a:p xmlns:a="http://schemas.openxmlformats.org/drawingml/2006/main">
            <a:pPr>
              <a:defRPr sz="2400" b="1">
                <a:solidFill>
                  <a:srgbClr val="1D4ED8"/>
                </a:solidFill>
                <a:latin typeface="Pretendard"/>
                <a:ea typeface="Pretendard"/>
                <a:cs typeface="Pretendard"/>
              </a:defRPr>
            </a:pPr>
            <a:r>
              <a:rPr sz="2400" b="1">
                <a:solidFill>
                  <a:srgbClr val="1D4ED8"/>
                </a:solidFill>
                <a:latin typeface="Pretendard"/>
                <a:ea typeface="Pretendard"/>
                <a:cs typeface="Pretendard"/>
              </a:rPr>
              <a:t>“2층 각파이프 용접,</a:t>
            </a:r>
          </a:p>
          <a:p xmlns:a="http://schemas.openxmlformats.org/drawingml/2006/main">
            <a:pPr>
              <a:defRPr sz="2400" b="1">
                <a:solidFill>
                  <a:srgbClr val="1D4ED8"/>
                </a:solidFill>
                <a:latin typeface="Pretendard"/>
                <a:ea typeface="Pretendard"/>
                <a:cs typeface="Pretendard"/>
              </a:defRPr>
            </a:pPr>
            <a:r>
              <a:rPr sz="2400" b="1">
                <a:solidFill>
                  <a:srgbClr val="1D4ED8"/>
                </a:solidFill>
                <a:latin typeface="Pretendard"/>
                <a:ea typeface="Pretendard"/>
                <a:cs typeface="Pretendard"/>
              </a:rPr>
              <a:t>옆에 합판”</a:t>
            </a:r>
          </a:p>
        </p:txBody>
      </p:sp>
      <p:sp>
        <p:nvSpPr>
          <p:cNvPr id="6" name="현장 조건을 확인한 뒤&#10;필수·권장 수칙과 근거를 봅니다.">
            <a:extLst xmlns:a="http://schemas.openxmlformats.org/drawingml/2006/main">
              <a:ext uri="{FF2B5EF4-FFF2-40B4-BE49-F238E27FC236}">
                <a16:creationId xmlns:a16="http://schemas.microsoft.com/office/drawing/2014/main" id="{829FFCB3-A083-4B76-AD2B-24779C9FB83C}"/>
              </a:ext>
            </a:extLst>
          </p:cNvPr>
          <p:cNvSpPr>
            <a:spLocks xmlns:a="http://schemas.openxmlformats.org/drawingml/2006/main" noGrp="1"/>
          </p:cNvSpPr>
          <p:nvPr/>
        </p:nvSpPr>
        <p:spPr>
          <a:xfrm xmlns:a="http://schemas.openxmlformats.org/drawingml/2006/main">
            <a:off x="819150" y="3590925"/>
            <a:ext cx="5095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F2937"/>
                </a:solidFill>
                <a:latin typeface="Pretendard"/>
                <a:ea typeface="Pretendard"/>
                <a:cs typeface="Pretendard"/>
              </a:defRPr>
            </a:defPPr>
          </a:lstStyle>
          <a:p xmlns:a="http://schemas.openxmlformats.org/drawingml/2006/main">
            <a:pPr>
              <a:defRPr sz="1875" b="0">
                <a:solidFill>
                  <a:srgbClr val="1F2937"/>
                </a:solidFill>
                <a:latin typeface="Pretendard"/>
                <a:ea typeface="Pretendard"/>
                <a:cs typeface="Pretendard"/>
              </a:defRPr>
            </a:pPr>
            <a:r>
              <a:rPr sz="1875" b="0">
                <a:solidFill>
                  <a:srgbClr val="1F2937"/>
                </a:solidFill>
                <a:latin typeface="Pretendard"/>
                <a:ea typeface="Pretendard"/>
                <a:cs typeface="Pretendard"/>
              </a:rPr>
              <a:t>현장 조건을 확인한 뒤</a:t>
            </a:r>
          </a:p>
          <a:p xmlns:a="http://schemas.openxmlformats.org/drawingml/2006/main">
            <a:pPr>
              <a:defRPr sz="1875" b="0">
                <a:solidFill>
                  <a:srgbClr val="1F2937"/>
                </a:solidFill>
                <a:latin typeface="Pretendard"/>
                <a:ea typeface="Pretendard"/>
                <a:cs typeface="Pretendard"/>
              </a:defRPr>
            </a:pPr>
            <a:r>
              <a:rPr sz="1875" b="0">
                <a:solidFill>
                  <a:srgbClr val="1F2937"/>
                </a:solidFill>
                <a:latin typeface="Pretendard"/>
                <a:ea typeface="Pretendard"/>
                <a:cs typeface="Pretendard"/>
              </a:rPr>
              <a:t>필수·권장 수칙과 근거를 봅니다.</a:t>
            </a:r>
          </a:p>
        </p:txBody>
      </p:sp>
      <p:sp>
        <p:nvSpPr>
          <p:cNvPr id="7" name="입력한 조건과 현장 상황을&#10;반장이 다시 확인합니다.">
            <a:extLst xmlns:a="http://schemas.openxmlformats.org/drawingml/2006/main">
              <a:ext uri="{FF2B5EF4-FFF2-40B4-BE49-F238E27FC236}">
                <a16:creationId xmlns:a16="http://schemas.microsoft.com/office/drawing/2014/main" id="{4C9E24B5-A0F1-4FB7-A952-403899405241}"/>
              </a:ext>
            </a:extLst>
          </p:cNvPr>
          <p:cNvSpPr>
            <a:spLocks xmlns:a="http://schemas.openxmlformats.org/drawingml/2006/main" noGrp="1"/>
          </p:cNvSpPr>
          <p:nvPr/>
        </p:nvSpPr>
        <p:spPr>
          <a:xfrm xmlns:a="http://schemas.openxmlformats.org/drawingml/2006/main">
            <a:off x="819150" y="54673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4748B"/>
                </a:solidFill>
                <a:latin typeface="Pretendard"/>
                <a:ea typeface="Pretendard"/>
                <a:cs typeface="Pretendard"/>
              </a:defRPr>
            </a:defPPr>
          </a:lstStyle>
          <a:p xmlns:a="http://schemas.openxmlformats.org/drawingml/2006/main">
            <a:pPr>
              <a:defRPr sz="1425" b="0">
                <a:solidFill>
                  <a:srgbClr val="64748B"/>
                </a:solidFill>
                <a:latin typeface="Pretendard"/>
                <a:ea typeface="Pretendard"/>
                <a:cs typeface="Pretendard"/>
              </a:defRPr>
            </a:pPr>
            <a:r>
              <a:rPr sz="1425" b="0">
                <a:solidFill>
                  <a:srgbClr val="64748B"/>
                </a:solidFill>
                <a:latin typeface="Pretendard"/>
                <a:ea typeface="Pretendard"/>
                <a:cs typeface="Pretendard"/>
              </a:rPr>
              <a:t>입력한 조건과 현장 상황을</a:t>
            </a:r>
          </a:p>
          <a:p xmlns:a="http://schemas.openxmlformats.org/drawingml/2006/main">
            <a:pPr>
              <a:defRPr sz="1425" b="0">
                <a:solidFill>
                  <a:srgbClr val="64748B"/>
                </a:solidFill>
                <a:latin typeface="Pretendard"/>
                <a:ea typeface="Pretendard"/>
                <a:cs typeface="Pretendard"/>
              </a:defRPr>
            </a:pPr>
            <a:r>
              <a:rPr sz="1425" b="0">
                <a:solidFill>
                  <a:srgbClr val="64748B"/>
                </a:solidFill>
                <a:latin typeface="Pretendard"/>
                <a:ea typeface="Pretendard"/>
                <a:cs typeface="Pretendard"/>
              </a:rPr>
              <a:t>반장이 다시 확인합니다.</a:t>
            </a:r>
          </a:p>
        </p:txBody>
      </p:sp>
      <p:sp>
        <p:nvSpPr>
          <p:cNvPr id="8" name="작업 입력">
            <a:extLst xmlns:a="http://schemas.openxmlformats.org/drawingml/2006/main">
              <a:ext uri="{FF2B5EF4-FFF2-40B4-BE49-F238E27FC236}">
                <a16:creationId xmlns:a16="http://schemas.microsoft.com/office/drawing/2014/main" id="{F0F7186F-D1EC-4533-8A7F-133523C5D285}"/>
              </a:ext>
            </a:extLst>
          </p:cNvPr>
          <p:cNvSpPr>
            <a:spLocks xmlns:a="http://schemas.openxmlformats.org/drawingml/2006/main" noGrp="1"/>
          </p:cNvSpPr>
          <p:nvPr/>
        </p:nvSpPr>
        <p:spPr>
          <a:xfrm xmlns:a="http://schemas.openxmlformats.org/drawingml/2006/main">
            <a:off x="6524625" y="16097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1D4ED8"/>
                </a:solidFill>
                <a:latin typeface="Pretendard"/>
                <a:ea typeface="Pretendard"/>
                <a:cs typeface="Pretendard"/>
              </a:defRPr>
            </a:defPPr>
          </a:lstStyle>
          <a:p xmlns:a="http://schemas.openxmlformats.org/drawingml/2006/main">
            <a:pPr>
              <a:defRPr sz="1350" b="1">
                <a:solidFill>
                  <a:srgbClr val="1D4ED8"/>
                </a:solidFill>
                <a:latin typeface="Pretendard"/>
                <a:ea typeface="Pretendard"/>
                <a:cs typeface="Pretendard"/>
              </a:defRPr>
            </a:pPr>
            <a:r>
              <a:rPr sz="1350" b="1">
                <a:solidFill>
                  <a:srgbClr val="1D4ED8"/>
                </a:solidFill>
                <a:latin typeface="Pretendard"/>
                <a:ea typeface="Pretendard"/>
                <a:cs typeface="Pretendard"/>
              </a:rPr>
              <a:t>작업 입력</a:t>
            </a:r>
          </a:p>
        </p:txBody>
      </p:sp>
      <p:sp>
        <p:nvSpPr>
          <p:cNvPr id="9" name="체크리스트">
            <a:extLst xmlns:a="http://schemas.openxmlformats.org/drawingml/2006/main">
              <a:ext uri="{FF2B5EF4-FFF2-40B4-BE49-F238E27FC236}">
                <a16:creationId xmlns:a16="http://schemas.microsoft.com/office/drawing/2014/main" id="{3DD02E70-B148-4F22-9FD0-E5B7E6B70306}"/>
              </a:ext>
            </a:extLst>
          </p:cNvPr>
          <p:cNvSpPr>
            <a:spLocks xmlns:a="http://schemas.openxmlformats.org/drawingml/2006/main" noGrp="1"/>
          </p:cNvSpPr>
          <p:nvPr/>
        </p:nvSpPr>
        <p:spPr>
          <a:xfrm xmlns:a="http://schemas.openxmlformats.org/drawingml/2006/main">
            <a:off x="9048750" y="16097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1D4ED8"/>
                </a:solidFill>
                <a:latin typeface="Pretendard"/>
                <a:ea typeface="Pretendard"/>
                <a:cs typeface="Pretendard"/>
              </a:defRPr>
            </a:defPPr>
          </a:lstStyle>
          <a:p xmlns:a="http://schemas.openxmlformats.org/drawingml/2006/main">
            <a:pPr>
              <a:defRPr sz="1350" b="1">
                <a:solidFill>
                  <a:srgbClr val="1D4ED8"/>
                </a:solidFill>
                <a:latin typeface="Pretendard"/>
                <a:ea typeface="Pretendard"/>
                <a:cs typeface="Pretendard"/>
              </a:defRPr>
            </a:pPr>
            <a:r>
              <a:rPr sz="1350" b="1">
                <a:solidFill>
                  <a:srgbClr val="1D4ED8"/>
                </a:solidFill>
                <a:latin typeface="Pretendard"/>
                <a:ea typeface="Pretendard"/>
                <a:cs typeface="Pretendard"/>
              </a:rPr>
              <a:t>체크리스트</a:t>
            </a:r>
          </a:p>
        </p:txBody>
      </p:sp>
      <p:pic>
        <p:nvPicPr>
          <p:cNvPr id="10" name="">
            <a:extLst xmlns:a="http://schemas.openxmlformats.org/drawingml/2006/main">
              <a:ext uri="{FF2B5EF4-FFF2-40B4-BE49-F238E27FC236}">
                <a16:creationId xmlns:a16="http://schemas.microsoft.com/office/drawing/2014/main" id="{DCD77180-7F25-49F9-8B91-3F122CB21A29}"/>
              </a:ext>
            </a:extLst>
          </p:cNvPr>
          <p:cNvPicPr>
            <a:picLocks xmlns:a="http://schemas.openxmlformats.org/drawingml/2006/main" noChangeAspect="1"/>
          </p:cNvPicPr>
          <p:nvPr/>
        </p:nvPicPr>
        <p:blipFill>
          <a:blip xmlns:r="http://schemas.openxmlformats.org/officeDocument/2006/relationships" xmlns:a="http://schemas.openxmlformats.org/drawingml/2006/main" r:embed="Reac5dd80cd564ecc"/>
          <a:stretch xmlns:a="http://schemas.openxmlformats.org/drawingml/2006/main"/>
        </p:blipFill>
        <p:spPr>
          <a:xfrm xmlns:a="http://schemas.openxmlformats.org/drawingml/2006/main">
            <a:off x="6524625" y="1924050"/>
            <a:ext cx="1952625" cy="4225681"/>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44EB8D9D-7C9F-4D67-8FE4-78267073052B}"/>
              </a:ext>
            </a:extLst>
          </p:cNvPr>
          <p:cNvPicPr>
            <a:picLocks xmlns:a="http://schemas.openxmlformats.org/drawingml/2006/main" noChangeAspect="1"/>
          </p:cNvPicPr>
          <p:nvPr/>
        </p:nvPicPr>
        <p:blipFill>
          <a:blip xmlns:r="http://schemas.openxmlformats.org/officeDocument/2006/relationships" xmlns:a="http://schemas.openxmlformats.org/drawingml/2006/main" r:embed="Rc7355fa870e44087"/>
          <a:stretch xmlns:a="http://schemas.openxmlformats.org/drawingml/2006/main"/>
        </p:blipFill>
        <p:spPr>
          <a:xfrm xmlns:a="http://schemas.openxmlformats.org/drawingml/2006/main">
            <a:off x="9048750" y="1924050"/>
            <a:ext cx="1952625" cy="4225681"/>
          </a:xfrm>
          <a:prstGeom xmlns:a="http://schemas.openxmlformats.org/drawingml/2006/main" prst="rect">
            <a:avLst/>
          </a:prstGeom>
        </p:spPr>
      </p:pic>
    </p:spTree>
    <p:extLst>
      <p:ext uri="{BB962C8B-B14F-4D97-AF65-F5344CB8AC3E}">
        <p14:creationId xmlns:p14="http://schemas.microsoft.com/office/powerpoint/2010/main" val="174715478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9" name="DEMO 02 · 관리자">
            <a:extLst xmlns:a="http://schemas.openxmlformats.org/drawingml/2006/main">
              <a:ext uri="{FF2B5EF4-FFF2-40B4-BE49-F238E27FC236}">
                <a16:creationId xmlns:a16="http://schemas.microsoft.com/office/drawing/2014/main" id="{0012B5D4-5B2A-4F22-B6DF-3B42C5C6CD57}"/>
              </a:ext>
            </a:extLst>
          </p:cNvPr>
          <p:cNvSpPr>
            <a:spLocks xmlns:a="http://schemas.openxmlformats.org/drawingml/2006/main" noGrp="1"/>
          </p:cNvSpPr>
          <p:nvPr/>
        </p:nvSpPr>
        <p:spPr>
          <a:xfrm xmlns:a="http://schemas.openxmlformats.org/drawingml/2006/main">
            <a:off x="819150" y="6762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D4ED8"/>
                </a:solidFill>
                <a:latin typeface="Pretendard"/>
                <a:ea typeface="Pretendard"/>
                <a:cs typeface="Pretendard"/>
              </a:defRPr>
            </a:defPPr>
          </a:lstStyle>
          <a:p xmlns:a="http://schemas.openxmlformats.org/drawingml/2006/main">
            <a:pPr>
              <a:defRPr sz="1275" b="1">
                <a:solidFill>
                  <a:srgbClr val="1D4ED8"/>
                </a:solidFill>
                <a:latin typeface="Pretendard"/>
                <a:ea typeface="Pretendard"/>
                <a:cs typeface="Pretendard"/>
              </a:defRPr>
            </a:pPr>
            <a:r>
              <a:rPr sz="1275" b="1">
                <a:solidFill>
                  <a:srgbClr val="1D4ED8"/>
                </a:solidFill>
                <a:latin typeface="Pretendard"/>
                <a:ea typeface="Pretendard"/>
                <a:cs typeface="Pretendard"/>
              </a:rPr>
              <a:t>DEMO 02 · 관리자</a:t>
            </a:r>
          </a:p>
        </p:txBody>
      </p:sp>
      <p:sp>
        <p:nvSpPr>
          <p:cNvPr id="2" name="TBM에서 빠진 필수 수칙을 다시 확인합니다">
            <a:extLst xmlns:a="http://schemas.openxmlformats.org/drawingml/2006/main">
              <a:ext uri="{FF2B5EF4-FFF2-40B4-BE49-F238E27FC236}">
                <a16:creationId xmlns:a16="http://schemas.microsoft.com/office/drawing/2014/main" id="{0E6F33C8-70F4-4A8A-9F67-D5F2A4F53E22}"/>
              </a:ext>
            </a:extLst>
          </p:cNvPr>
          <p:cNvSpPr>
            <a:spLocks xmlns:a="http://schemas.openxmlformats.org/drawingml/2006/main" noGrp="1"/>
          </p:cNvSpPr>
          <p:nvPr/>
        </p:nvSpPr>
        <p:spPr>
          <a:xfrm xmlns:a="http://schemas.openxmlformats.org/drawingml/2006/main">
            <a:off x="819150" y="10191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F2937"/>
                </a:solidFill>
                <a:latin typeface="Pretendard"/>
                <a:ea typeface="Pretendard"/>
                <a:cs typeface="Pretendard"/>
              </a:defRPr>
            </a:defPPr>
          </a:lstStyle>
          <a:p xmlns:a="http://schemas.openxmlformats.org/drawingml/2006/main">
            <a:pPr>
              <a:defRPr sz="2850" b="1">
                <a:solidFill>
                  <a:srgbClr val="1F2937"/>
                </a:solidFill>
                <a:latin typeface="Pretendard"/>
                <a:ea typeface="Pretendard"/>
                <a:cs typeface="Pretendard"/>
              </a:defRPr>
            </a:pPr>
            <a:r>
              <a:rPr sz="2850" b="1">
                <a:solidFill>
                  <a:srgbClr val="1F2937"/>
                </a:solidFill>
                <a:latin typeface="Pretendard"/>
                <a:ea typeface="Pretendard"/>
                <a:cs typeface="Pretendard"/>
              </a:rPr>
              <a:t>TBM에서 빠진 필수 수칙을 다시 확인합니다</a:t>
            </a:r>
          </a:p>
        </p:txBody>
      </p:sp>
      <p:sp>
        <p:nvSpPr>
          <p:cNvPr id="3" name="안전반장 · TEAM 0x02">
            <a:extLst xmlns:a="http://schemas.openxmlformats.org/drawingml/2006/main">
              <a:ext uri="{FF2B5EF4-FFF2-40B4-BE49-F238E27FC236}">
                <a16:creationId xmlns:a16="http://schemas.microsoft.com/office/drawing/2014/main" id="{73930189-6437-4D3B-A380-3BD680C3AC38}"/>
              </a:ext>
            </a:extLst>
          </p:cNvPr>
          <p:cNvSpPr>
            <a:spLocks xmlns:a="http://schemas.openxmlformats.org/drawingml/2006/main" noGrp="1"/>
          </p:cNvSpPr>
          <p:nvPr/>
        </p:nvSpPr>
        <p:spPr>
          <a:xfrm xmlns:a="http://schemas.openxmlformats.org/drawingml/2006/main">
            <a:off x="819150" y="63341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안전반장 · TEAM 0x02</a:t>
            </a:r>
          </a:p>
        </p:txBody>
      </p:sp>
      <p:sp>
        <p:nvSpPr>
          <p:cNvPr id="4" name="07 / 14">
            <a:extLst xmlns:a="http://schemas.openxmlformats.org/drawingml/2006/main">
              <a:ext uri="{FF2B5EF4-FFF2-40B4-BE49-F238E27FC236}">
                <a16:creationId xmlns:a16="http://schemas.microsoft.com/office/drawing/2014/main" id="{EB92228A-C266-4CD3-9454-C00A32120AFD}"/>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07 / 14</a:t>
            </a:r>
          </a:p>
        </p:txBody>
      </p:sp>
      <p:sp>
        <p:nvSpPr>
          <p:cNvPr id="5" name="회의 기록을&#10;필수 수칙과 비교">
            <a:extLst xmlns:a="http://schemas.openxmlformats.org/drawingml/2006/main">
              <a:ext uri="{FF2B5EF4-FFF2-40B4-BE49-F238E27FC236}">
                <a16:creationId xmlns:a16="http://schemas.microsoft.com/office/drawing/2014/main" id="{8451692C-3239-4F47-901B-D3620229EB69}"/>
              </a:ext>
            </a:extLst>
          </p:cNvPr>
          <p:cNvSpPr>
            <a:spLocks xmlns:a="http://schemas.openxmlformats.org/drawingml/2006/main" noGrp="1"/>
          </p:cNvSpPr>
          <p:nvPr/>
        </p:nvSpPr>
        <p:spPr>
          <a:xfrm xmlns:a="http://schemas.openxmlformats.org/drawingml/2006/main">
            <a:off x="819150" y="213360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D4ED8"/>
                </a:solidFill>
                <a:latin typeface="Pretendard"/>
                <a:ea typeface="Pretendard"/>
                <a:cs typeface="Pretendard"/>
              </a:defRPr>
            </a:defPPr>
          </a:lstStyle>
          <a:p xmlns:a="http://schemas.openxmlformats.org/drawingml/2006/main">
            <a:pPr>
              <a:defRPr sz="2400" b="1">
                <a:solidFill>
                  <a:srgbClr val="1D4ED8"/>
                </a:solidFill>
                <a:latin typeface="Pretendard"/>
                <a:ea typeface="Pretendard"/>
                <a:cs typeface="Pretendard"/>
              </a:defRPr>
            </a:pPr>
            <a:r>
              <a:rPr sz="2400" b="1">
                <a:solidFill>
                  <a:srgbClr val="1D4ED8"/>
                </a:solidFill>
                <a:latin typeface="Pretendard"/>
                <a:ea typeface="Pretendard"/>
                <a:cs typeface="Pretendard"/>
              </a:rPr>
              <a:t>회의 기록을</a:t>
            </a:r>
          </a:p>
          <a:p xmlns:a="http://schemas.openxmlformats.org/drawingml/2006/main">
            <a:pPr>
              <a:defRPr sz="2400" b="1">
                <a:solidFill>
                  <a:srgbClr val="1D4ED8"/>
                </a:solidFill>
                <a:latin typeface="Pretendard"/>
                <a:ea typeface="Pretendard"/>
                <a:cs typeface="Pretendard"/>
              </a:defRPr>
            </a:pPr>
            <a:r>
              <a:rPr sz="2400" b="1">
                <a:solidFill>
                  <a:srgbClr val="1D4ED8"/>
                </a:solidFill>
                <a:latin typeface="Pretendard"/>
                <a:ea typeface="Pretendard"/>
                <a:cs typeface="Pretendard"/>
              </a:rPr>
              <a:t>필수 수칙과 비교</a:t>
            </a:r>
          </a:p>
        </p:txBody>
      </p:sp>
      <p:sp>
        <p:nvSpPr>
          <p:cNvPr id="6" name="오늘 나눈 내용을 저장하면&#10;빠진 수칙을 다시 짚을 수 있습">
            <a:extLst xmlns:a="http://schemas.openxmlformats.org/drawingml/2006/main">
              <a:ext uri="{FF2B5EF4-FFF2-40B4-BE49-F238E27FC236}">
                <a16:creationId xmlns:a16="http://schemas.microsoft.com/office/drawing/2014/main" id="{D4596F60-3951-4ADF-9AF2-F9FDDC31EACB}"/>
              </a:ext>
            </a:extLst>
          </p:cNvPr>
          <p:cNvSpPr>
            <a:spLocks xmlns:a="http://schemas.openxmlformats.org/drawingml/2006/main" noGrp="1"/>
          </p:cNvSpPr>
          <p:nvPr/>
        </p:nvSpPr>
        <p:spPr>
          <a:xfrm xmlns:a="http://schemas.openxmlformats.org/drawingml/2006/main">
            <a:off x="819150" y="3590925"/>
            <a:ext cx="5095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F2937"/>
                </a:solidFill>
                <a:latin typeface="Pretendard"/>
                <a:ea typeface="Pretendard"/>
                <a:cs typeface="Pretendard"/>
              </a:defRPr>
            </a:defPPr>
          </a:lstStyle>
          <a:p xmlns:a="http://schemas.openxmlformats.org/drawingml/2006/main">
            <a:pPr>
              <a:defRPr sz="1875" b="0">
                <a:solidFill>
                  <a:srgbClr val="1F2937"/>
                </a:solidFill>
                <a:latin typeface="Pretendard"/>
                <a:ea typeface="Pretendard"/>
                <a:cs typeface="Pretendard"/>
              </a:defRPr>
            </a:pPr>
            <a:r>
              <a:rPr sz="1875" b="0">
                <a:solidFill>
                  <a:srgbClr val="1F2937"/>
                </a:solidFill>
                <a:latin typeface="Pretendard"/>
                <a:ea typeface="Pretendard"/>
                <a:cs typeface="Pretendard"/>
              </a:rPr>
              <a:t>오늘 나눈 내용을 저장하면</a:t>
            </a:r>
          </a:p>
          <a:p xmlns:a="http://schemas.openxmlformats.org/drawingml/2006/main">
            <a:pPr>
              <a:defRPr sz="1875" b="0">
                <a:solidFill>
                  <a:srgbClr val="1F2937"/>
                </a:solidFill>
                <a:latin typeface="Pretendard"/>
                <a:ea typeface="Pretendard"/>
                <a:cs typeface="Pretendard"/>
              </a:defRPr>
            </a:pPr>
            <a:r>
              <a:rPr sz="1875" b="0">
                <a:solidFill>
                  <a:srgbClr val="1F2937"/>
                </a:solidFill>
                <a:latin typeface="Pretendard"/>
                <a:ea typeface="Pretendard"/>
                <a:cs typeface="Pretendard"/>
              </a:rPr>
              <a:t>빠진 수칙을 다시 짚을 수 있습니다.</a:t>
            </a:r>
          </a:p>
        </p:txBody>
      </p:sp>
      <p:sp>
        <p:nvSpPr>
          <p:cNvPr id="7" name="현재 누락 점검은 규칙·표현 비교이며&#10;회의 의미 전체를 분">
            <a:extLst xmlns:a="http://schemas.openxmlformats.org/drawingml/2006/main">
              <a:ext uri="{FF2B5EF4-FFF2-40B4-BE49-F238E27FC236}">
                <a16:creationId xmlns:a16="http://schemas.microsoft.com/office/drawing/2014/main" id="{6EAD506C-C2F4-4979-BE16-FA6DA4C95E09}"/>
              </a:ext>
            </a:extLst>
          </p:cNvPr>
          <p:cNvSpPr>
            <a:spLocks xmlns:a="http://schemas.openxmlformats.org/drawingml/2006/main" noGrp="1"/>
          </p:cNvSpPr>
          <p:nvPr/>
        </p:nvSpPr>
        <p:spPr>
          <a:xfrm xmlns:a="http://schemas.openxmlformats.org/drawingml/2006/main">
            <a:off x="819150" y="54673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4748B"/>
                </a:solidFill>
                <a:latin typeface="Pretendard"/>
                <a:ea typeface="Pretendard"/>
                <a:cs typeface="Pretendard"/>
              </a:defRPr>
            </a:defPPr>
          </a:lstStyle>
          <a:p xmlns:a="http://schemas.openxmlformats.org/drawingml/2006/main">
            <a:pPr>
              <a:defRPr sz="1425" b="0">
                <a:solidFill>
                  <a:srgbClr val="64748B"/>
                </a:solidFill>
                <a:latin typeface="Pretendard"/>
                <a:ea typeface="Pretendard"/>
                <a:cs typeface="Pretendard"/>
              </a:defRPr>
            </a:pPr>
            <a:r>
              <a:rPr sz="1425" b="0">
                <a:solidFill>
                  <a:srgbClr val="64748B"/>
                </a:solidFill>
                <a:latin typeface="Pretendard"/>
                <a:ea typeface="Pretendard"/>
                <a:cs typeface="Pretendard"/>
              </a:rPr>
              <a:t>현재 누락 점검은 규칙·표현 비교이며</a:t>
            </a:r>
          </a:p>
          <a:p xmlns:a="http://schemas.openxmlformats.org/drawingml/2006/main">
            <a:pPr>
              <a:defRPr sz="1425" b="0">
                <a:solidFill>
                  <a:srgbClr val="64748B"/>
                </a:solidFill>
                <a:latin typeface="Pretendard"/>
                <a:ea typeface="Pretendard"/>
                <a:cs typeface="Pretendard"/>
              </a:defRPr>
            </a:pPr>
            <a:r>
              <a:rPr sz="1425" b="0">
                <a:solidFill>
                  <a:srgbClr val="64748B"/>
                </a:solidFill>
                <a:latin typeface="Pretendard"/>
                <a:ea typeface="Pretendard"/>
                <a:cs typeface="Pretendard"/>
              </a:rPr>
              <a:t>회의 의미 전체를 분석하지 않습니다.</a:t>
            </a:r>
          </a:p>
        </p:txBody>
      </p:sp>
      <p:pic>
        <p:nvPicPr>
          <p:cNvPr id="8" name="">
            <a:extLst xmlns:a="http://schemas.openxmlformats.org/drawingml/2006/main">
              <a:ext uri="{FF2B5EF4-FFF2-40B4-BE49-F238E27FC236}">
                <a16:creationId xmlns:a16="http://schemas.microsoft.com/office/drawing/2014/main" id="{5C168606-46AC-4E03-A67C-CF671B14A74E}"/>
              </a:ext>
            </a:extLst>
          </p:cNvPr>
          <p:cNvPicPr>
            <a:picLocks xmlns:a="http://schemas.openxmlformats.org/drawingml/2006/main" noChangeAspect="1"/>
          </p:cNvPicPr>
          <p:nvPr/>
        </p:nvPicPr>
        <p:blipFill>
          <a:blip xmlns:r="http://schemas.openxmlformats.org/officeDocument/2006/relationships" xmlns:a="http://schemas.openxmlformats.org/drawingml/2006/main" r:embed="Radb497d0212a4410"/>
          <a:stretch xmlns:a="http://schemas.openxmlformats.org/drawingml/2006/main"/>
        </p:blipFill>
        <p:spPr>
          <a:xfrm xmlns:a="http://schemas.openxmlformats.org/drawingml/2006/main">
            <a:off x="7667625" y="1666875"/>
            <a:ext cx="2095500" cy="4534877"/>
          </a:xfrm>
          <a:prstGeom xmlns:a="http://schemas.openxmlformats.org/drawingml/2006/main" prst="rect">
            <a:avLst/>
          </a:prstGeom>
        </p:spPr>
      </p:pic>
    </p:spTree>
    <p:extLst>
      <p:ext uri="{BB962C8B-B14F-4D97-AF65-F5344CB8AC3E}">
        <p14:creationId xmlns:p14="http://schemas.microsoft.com/office/powerpoint/2010/main" val="186674925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DEMO 03 · 사진 증빙">
            <a:extLst xmlns:a="http://schemas.openxmlformats.org/drawingml/2006/main">
              <a:ext uri="{FF2B5EF4-FFF2-40B4-BE49-F238E27FC236}">
                <a16:creationId xmlns:a16="http://schemas.microsoft.com/office/drawing/2014/main" id="{7DB9755A-42C1-4E36-B711-C9A42C6B9ABC}"/>
              </a:ext>
            </a:extLst>
          </p:cNvPr>
          <p:cNvSpPr>
            <a:spLocks xmlns:a="http://schemas.openxmlformats.org/drawingml/2006/main" noGrp="1"/>
          </p:cNvSpPr>
          <p:nvPr/>
        </p:nvSpPr>
        <p:spPr>
          <a:xfrm xmlns:a="http://schemas.openxmlformats.org/drawingml/2006/main">
            <a:off x="819150" y="6762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D4ED8"/>
                </a:solidFill>
                <a:latin typeface="Pretendard"/>
                <a:ea typeface="Pretendard"/>
                <a:cs typeface="Pretendard"/>
              </a:defRPr>
            </a:defPPr>
          </a:lstStyle>
          <a:p xmlns:a="http://schemas.openxmlformats.org/drawingml/2006/main">
            <a:pPr>
              <a:defRPr sz="1275" b="1">
                <a:solidFill>
                  <a:srgbClr val="1D4ED8"/>
                </a:solidFill>
                <a:latin typeface="Pretendard"/>
                <a:ea typeface="Pretendard"/>
                <a:cs typeface="Pretendard"/>
              </a:defRPr>
            </a:pPr>
            <a:r>
              <a:rPr sz="1275" b="1">
                <a:solidFill>
                  <a:srgbClr val="1D4ED8"/>
                </a:solidFill>
                <a:latin typeface="Pretendard"/>
                <a:ea typeface="Pretendard"/>
                <a:cs typeface="Pretendard"/>
              </a:rPr>
              <a:t>DEMO 03 · 사진 증빙</a:t>
            </a:r>
          </a:p>
        </p:txBody>
      </p:sp>
      <p:sp>
        <p:nvSpPr>
          <p:cNvPr id="2" name="판단이 어려운 사진은 관리자 확인으로 이어집니다">
            <a:extLst xmlns:a="http://schemas.openxmlformats.org/drawingml/2006/main">
              <a:ext uri="{FF2B5EF4-FFF2-40B4-BE49-F238E27FC236}">
                <a16:creationId xmlns:a16="http://schemas.microsoft.com/office/drawing/2014/main" id="{2AA1159D-D893-485D-A354-04A3D5E7A959}"/>
              </a:ext>
            </a:extLst>
          </p:cNvPr>
          <p:cNvSpPr>
            <a:spLocks xmlns:a="http://schemas.openxmlformats.org/drawingml/2006/main" noGrp="1"/>
          </p:cNvSpPr>
          <p:nvPr/>
        </p:nvSpPr>
        <p:spPr>
          <a:xfrm xmlns:a="http://schemas.openxmlformats.org/drawingml/2006/main">
            <a:off x="819150" y="10191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F2937"/>
                </a:solidFill>
                <a:latin typeface="Pretendard"/>
                <a:ea typeface="Pretendard"/>
                <a:cs typeface="Pretendard"/>
              </a:defRPr>
            </a:defPPr>
          </a:lstStyle>
          <a:p xmlns:a="http://schemas.openxmlformats.org/drawingml/2006/main">
            <a:pPr>
              <a:defRPr sz="2850" b="1">
                <a:solidFill>
                  <a:srgbClr val="1F2937"/>
                </a:solidFill>
                <a:latin typeface="Pretendard"/>
                <a:ea typeface="Pretendard"/>
                <a:cs typeface="Pretendard"/>
              </a:defRPr>
            </a:pPr>
            <a:r>
              <a:rPr sz="2850" b="1">
                <a:solidFill>
                  <a:srgbClr val="1F2937"/>
                </a:solidFill>
                <a:latin typeface="Pretendard"/>
                <a:ea typeface="Pretendard"/>
                <a:cs typeface="Pretendard"/>
              </a:rPr>
              <a:t>판단이 어려운 사진은 관리자 확인으로 이어집니다</a:t>
            </a:r>
          </a:p>
        </p:txBody>
      </p:sp>
      <p:sp>
        <p:nvSpPr>
          <p:cNvPr id="3" name="안전반장 · TEAM 0x02">
            <a:extLst xmlns:a="http://schemas.openxmlformats.org/drawingml/2006/main">
              <a:ext uri="{FF2B5EF4-FFF2-40B4-BE49-F238E27FC236}">
                <a16:creationId xmlns:a16="http://schemas.microsoft.com/office/drawing/2014/main" id="{8268A93D-F0E9-4BB2-9CA8-CD3791DE129E}"/>
              </a:ext>
            </a:extLst>
          </p:cNvPr>
          <p:cNvSpPr>
            <a:spLocks xmlns:a="http://schemas.openxmlformats.org/drawingml/2006/main" noGrp="1"/>
          </p:cNvSpPr>
          <p:nvPr/>
        </p:nvSpPr>
        <p:spPr>
          <a:xfrm xmlns:a="http://schemas.openxmlformats.org/drawingml/2006/main">
            <a:off x="819150" y="63341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안전반장 · TEAM 0x02</a:t>
            </a:r>
          </a:p>
        </p:txBody>
      </p:sp>
      <p:sp>
        <p:nvSpPr>
          <p:cNvPr id="4" name="08 / 14">
            <a:extLst xmlns:a="http://schemas.openxmlformats.org/drawingml/2006/main">
              <a:ext uri="{FF2B5EF4-FFF2-40B4-BE49-F238E27FC236}">
                <a16:creationId xmlns:a16="http://schemas.microsoft.com/office/drawing/2014/main" id="{1F717463-4653-47D9-BBA1-E661EEE0D7DD}"/>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08 / 14</a:t>
            </a:r>
          </a:p>
        </p:txBody>
      </p:sp>
      <p:sp>
        <p:nvSpPr>
          <p:cNvPr id="5" name="사진에서 확인할 수 있는&#10;조치를 살펴봅니다">
            <a:extLst xmlns:a="http://schemas.openxmlformats.org/drawingml/2006/main">
              <a:ext uri="{FF2B5EF4-FFF2-40B4-BE49-F238E27FC236}">
                <a16:creationId xmlns:a16="http://schemas.microsoft.com/office/drawing/2014/main" id="{4BA88019-9A18-42EB-B4BE-1E16F36209D5}"/>
              </a:ext>
            </a:extLst>
          </p:cNvPr>
          <p:cNvSpPr>
            <a:spLocks xmlns:a="http://schemas.openxmlformats.org/drawingml/2006/main" noGrp="1"/>
          </p:cNvSpPr>
          <p:nvPr/>
        </p:nvSpPr>
        <p:spPr>
          <a:xfrm xmlns:a="http://schemas.openxmlformats.org/drawingml/2006/main">
            <a:off x="819150" y="213360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D4ED8"/>
                </a:solidFill>
                <a:latin typeface="Pretendard"/>
                <a:ea typeface="Pretendard"/>
                <a:cs typeface="Pretendard"/>
              </a:defRPr>
            </a:defPPr>
          </a:lstStyle>
          <a:p xmlns:a="http://schemas.openxmlformats.org/drawingml/2006/main">
            <a:pPr>
              <a:defRPr sz="2400" b="1">
                <a:solidFill>
                  <a:srgbClr val="1D4ED8"/>
                </a:solidFill>
                <a:latin typeface="Pretendard"/>
                <a:ea typeface="Pretendard"/>
                <a:cs typeface="Pretendard"/>
              </a:defRPr>
            </a:pPr>
            <a:r>
              <a:rPr sz="2400" b="1">
                <a:solidFill>
                  <a:srgbClr val="1D4ED8"/>
                </a:solidFill>
                <a:latin typeface="Pretendard"/>
                <a:ea typeface="Pretendard"/>
                <a:cs typeface="Pretendard"/>
              </a:rPr>
              <a:t>사진에서 확인할 수 있는</a:t>
            </a:r>
          </a:p>
          <a:p xmlns:a="http://schemas.openxmlformats.org/drawingml/2006/main">
            <a:pPr>
              <a:defRPr sz="2400" b="1">
                <a:solidFill>
                  <a:srgbClr val="1D4ED8"/>
                </a:solidFill>
                <a:latin typeface="Pretendard"/>
                <a:ea typeface="Pretendard"/>
                <a:cs typeface="Pretendard"/>
              </a:defRPr>
            </a:pPr>
            <a:r>
              <a:rPr sz="2400" b="1">
                <a:solidFill>
                  <a:srgbClr val="1D4ED8"/>
                </a:solidFill>
                <a:latin typeface="Pretendard"/>
                <a:ea typeface="Pretendard"/>
                <a:cs typeface="Pretendard"/>
              </a:rPr>
              <a:t>조치를 살펴봅니다</a:t>
            </a:r>
          </a:p>
        </p:txBody>
      </p:sp>
      <p:sp>
        <p:nvSpPr>
          <p:cNvPr id="6" name="확인됨 · 안 보임 · 판단불가&#10;판정 이유와 함께 검토합니">
            <a:extLst xmlns:a="http://schemas.openxmlformats.org/drawingml/2006/main">
              <a:ext uri="{FF2B5EF4-FFF2-40B4-BE49-F238E27FC236}">
                <a16:creationId xmlns:a16="http://schemas.microsoft.com/office/drawing/2014/main" id="{2117389F-F4BB-42AA-A851-ACA4A7347D80}"/>
              </a:ext>
            </a:extLst>
          </p:cNvPr>
          <p:cNvSpPr>
            <a:spLocks xmlns:a="http://schemas.openxmlformats.org/drawingml/2006/main" noGrp="1"/>
          </p:cNvSpPr>
          <p:nvPr/>
        </p:nvSpPr>
        <p:spPr>
          <a:xfrm xmlns:a="http://schemas.openxmlformats.org/drawingml/2006/main">
            <a:off x="819150" y="3590925"/>
            <a:ext cx="5095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F2937"/>
                </a:solidFill>
                <a:latin typeface="Pretendard"/>
                <a:ea typeface="Pretendard"/>
                <a:cs typeface="Pretendard"/>
              </a:defRPr>
            </a:defPPr>
          </a:lstStyle>
          <a:p xmlns:a="http://schemas.openxmlformats.org/drawingml/2006/main">
            <a:pPr>
              <a:defRPr sz="1875" b="0">
                <a:solidFill>
                  <a:srgbClr val="1F2937"/>
                </a:solidFill>
                <a:latin typeface="Pretendard"/>
                <a:ea typeface="Pretendard"/>
                <a:cs typeface="Pretendard"/>
              </a:defRPr>
            </a:pPr>
            <a:r>
              <a:rPr sz="1875" b="0">
                <a:solidFill>
                  <a:srgbClr val="1F2937"/>
                </a:solidFill>
                <a:latin typeface="Pretendard"/>
                <a:ea typeface="Pretendard"/>
                <a:cs typeface="Pretendard"/>
              </a:rPr>
              <a:t>확인됨 · 안 보임 · 판단불가</a:t>
            </a:r>
          </a:p>
          <a:p xmlns:a="http://schemas.openxmlformats.org/drawingml/2006/main">
            <a:pPr>
              <a:defRPr sz="1875" b="0">
                <a:solidFill>
                  <a:srgbClr val="1F2937"/>
                </a:solidFill>
                <a:latin typeface="Pretendard"/>
                <a:ea typeface="Pretendard"/>
                <a:cs typeface="Pretendard"/>
              </a:defRPr>
            </a:pPr>
            <a:r>
              <a:rPr sz="1875" b="0">
                <a:solidFill>
                  <a:srgbClr val="1F2937"/>
                </a:solidFill>
                <a:latin typeface="Pretendard"/>
                <a:ea typeface="Pretendard"/>
                <a:cs typeface="Pretendard"/>
              </a:rPr>
              <a:t>판정 이유와 함께 검토합니다.</a:t>
            </a:r>
          </a:p>
        </p:txBody>
      </p:sp>
      <p:sp>
        <p:nvSpPr>
          <p:cNvPr id="7" name="캡처는 mock 동작 시연입니다.&#10;실제 사진 AI 분석 결">
            <a:extLst xmlns:a="http://schemas.openxmlformats.org/drawingml/2006/main">
              <a:ext uri="{FF2B5EF4-FFF2-40B4-BE49-F238E27FC236}">
                <a16:creationId xmlns:a16="http://schemas.microsoft.com/office/drawing/2014/main" id="{C08E216A-4903-4141-9F9E-D17F1173D5A7}"/>
              </a:ext>
            </a:extLst>
          </p:cNvPr>
          <p:cNvSpPr>
            <a:spLocks xmlns:a="http://schemas.openxmlformats.org/drawingml/2006/main" noGrp="1"/>
          </p:cNvSpPr>
          <p:nvPr/>
        </p:nvSpPr>
        <p:spPr>
          <a:xfrm xmlns:a="http://schemas.openxmlformats.org/drawingml/2006/main">
            <a:off x="819150" y="54673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4748B"/>
                </a:solidFill>
                <a:latin typeface="Pretendard"/>
                <a:ea typeface="Pretendard"/>
                <a:cs typeface="Pretendard"/>
              </a:defRPr>
            </a:defPPr>
          </a:lstStyle>
          <a:p xmlns:a="http://schemas.openxmlformats.org/drawingml/2006/main">
            <a:pPr>
              <a:defRPr sz="1425" b="0">
                <a:solidFill>
                  <a:srgbClr val="64748B"/>
                </a:solidFill>
                <a:latin typeface="Pretendard"/>
                <a:ea typeface="Pretendard"/>
                <a:cs typeface="Pretendard"/>
              </a:defRPr>
            </a:pPr>
            <a:r>
              <a:rPr sz="1425" b="0">
                <a:solidFill>
                  <a:srgbClr val="64748B"/>
                </a:solidFill>
                <a:latin typeface="Pretendard"/>
                <a:ea typeface="Pretendard"/>
                <a:cs typeface="Pretendard"/>
              </a:rPr>
              <a:t>캡처는 mock 동작 시연입니다.</a:t>
            </a:r>
          </a:p>
          <a:p xmlns:a="http://schemas.openxmlformats.org/drawingml/2006/main">
            <a:pPr>
              <a:defRPr sz="1425" b="0">
                <a:solidFill>
                  <a:srgbClr val="64748B"/>
                </a:solidFill>
                <a:latin typeface="Pretendard"/>
                <a:ea typeface="Pretendard"/>
                <a:cs typeface="Pretendard"/>
              </a:defRPr>
            </a:pPr>
            <a:r>
              <a:rPr sz="1425" b="0">
                <a:solidFill>
                  <a:srgbClr val="64748B"/>
                </a:solidFill>
                <a:latin typeface="Pretendard"/>
                <a:ea typeface="Pretendard"/>
                <a:cs typeface="Pretendard"/>
              </a:rPr>
              <a:t>실제 사진 AI 분석 결과가 아닙니다.</a:t>
            </a:r>
          </a:p>
        </p:txBody>
      </p:sp>
      <p:sp>
        <p:nvSpPr>
          <p:cNvPr id="8" name="사진 제출">
            <a:extLst xmlns:a="http://schemas.openxmlformats.org/drawingml/2006/main">
              <a:ext uri="{FF2B5EF4-FFF2-40B4-BE49-F238E27FC236}">
                <a16:creationId xmlns:a16="http://schemas.microsoft.com/office/drawing/2014/main" id="{5D34D5CA-2B20-4651-B21E-1AF365AD5306}"/>
              </a:ext>
            </a:extLst>
          </p:cNvPr>
          <p:cNvSpPr>
            <a:spLocks xmlns:a="http://schemas.openxmlformats.org/drawingml/2006/main" noGrp="1"/>
          </p:cNvSpPr>
          <p:nvPr/>
        </p:nvSpPr>
        <p:spPr>
          <a:xfrm xmlns:a="http://schemas.openxmlformats.org/drawingml/2006/main">
            <a:off x="6524625" y="16097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1D4ED8"/>
                </a:solidFill>
                <a:latin typeface="Pretendard"/>
                <a:ea typeface="Pretendard"/>
                <a:cs typeface="Pretendard"/>
              </a:defRPr>
            </a:defPPr>
          </a:lstStyle>
          <a:p xmlns:a="http://schemas.openxmlformats.org/drawingml/2006/main">
            <a:pPr>
              <a:defRPr sz="1350" b="1">
                <a:solidFill>
                  <a:srgbClr val="1D4ED8"/>
                </a:solidFill>
                <a:latin typeface="Pretendard"/>
                <a:ea typeface="Pretendard"/>
                <a:cs typeface="Pretendard"/>
              </a:defRPr>
            </a:pPr>
            <a:r>
              <a:rPr sz="1350" b="1">
                <a:solidFill>
                  <a:srgbClr val="1D4ED8"/>
                </a:solidFill>
                <a:latin typeface="Pretendard"/>
                <a:ea typeface="Pretendard"/>
                <a:cs typeface="Pretendard"/>
              </a:rPr>
              <a:t>사진 제출</a:t>
            </a:r>
          </a:p>
        </p:txBody>
      </p:sp>
      <p:sp>
        <p:nvSpPr>
          <p:cNvPr id="9" name="관리자 확인">
            <a:extLst xmlns:a="http://schemas.openxmlformats.org/drawingml/2006/main">
              <a:ext uri="{FF2B5EF4-FFF2-40B4-BE49-F238E27FC236}">
                <a16:creationId xmlns:a16="http://schemas.microsoft.com/office/drawing/2014/main" id="{6E1EC917-286B-48EB-831F-5D3052F5F324}"/>
              </a:ext>
            </a:extLst>
          </p:cNvPr>
          <p:cNvSpPr>
            <a:spLocks xmlns:a="http://schemas.openxmlformats.org/drawingml/2006/main" noGrp="1"/>
          </p:cNvSpPr>
          <p:nvPr/>
        </p:nvSpPr>
        <p:spPr>
          <a:xfrm xmlns:a="http://schemas.openxmlformats.org/drawingml/2006/main">
            <a:off x="9048750" y="16097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1D4ED8"/>
                </a:solidFill>
                <a:latin typeface="Pretendard"/>
                <a:ea typeface="Pretendard"/>
                <a:cs typeface="Pretendard"/>
              </a:defRPr>
            </a:defPPr>
          </a:lstStyle>
          <a:p xmlns:a="http://schemas.openxmlformats.org/drawingml/2006/main">
            <a:pPr>
              <a:defRPr sz="1350" b="1">
                <a:solidFill>
                  <a:srgbClr val="1D4ED8"/>
                </a:solidFill>
                <a:latin typeface="Pretendard"/>
                <a:ea typeface="Pretendard"/>
                <a:cs typeface="Pretendard"/>
              </a:defRPr>
            </a:pPr>
            <a:r>
              <a:rPr sz="1350" b="1">
                <a:solidFill>
                  <a:srgbClr val="1D4ED8"/>
                </a:solidFill>
                <a:latin typeface="Pretendard"/>
                <a:ea typeface="Pretendard"/>
                <a:cs typeface="Pretendard"/>
              </a:rPr>
              <a:t>관리자 확인</a:t>
            </a:r>
          </a:p>
        </p:txBody>
      </p:sp>
      <p:pic>
        <p:nvPicPr>
          <p:cNvPr id="10" name="">
            <a:extLst xmlns:a="http://schemas.openxmlformats.org/drawingml/2006/main">
              <a:ext uri="{FF2B5EF4-FFF2-40B4-BE49-F238E27FC236}">
                <a16:creationId xmlns:a16="http://schemas.microsoft.com/office/drawing/2014/main" id="{5196DE1E-F4E9-4A20-9CC1-E4D5DAEDFDA0}"/>
              </a:ext>
            </a:extLst>
          </p:cNvPr>
          <p:cNvPicPr>
            <a:picLocks xmlns:a="http://schemas.openxmlformats.org/drawingml/2006/main" noChangeAspect="1"/>
          </p:cNvPicPr>
          <p:nvPr/>
        </p:nvPicPr>
        <p:blipFill>
          <a:blip xmlns:r="http://schemas.openxmlformats.org/officeDocument/2006/relationships" xmlns:a="http://schemas.openxmlformats.org/drawingml/2006/main" r:embed="R27b5b554815840a4"/>
          <a:stretch xmlns:a="http://schemas.openxmlformats.org/drawingml/2006/main"/>
        </p:blipFill>
        <p:spPr>
          <a:xfrm xmlns:a="http://schemas.openxmlformats.org/drawingml/2006/main">
            <a:off x="6524625" y="1924050"/>
            <a:ext cx="1952625" cy="4225681"/>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71772BFE-A6E3-4AFA-BF07-FA8C37790C7E}"/>
              </a:ext>
            </a:extLst>
          </p:cNvPr>
          <p:cNvPicPr>
            <a:picLocks xmlns:a="http://schemas.openxmlformats.org/drawingml/2006/main" noChangeAspect="1"/>
          </p:cNvPicPr>
          <p:nvPr/>
        </p:nvPicPr>
        <p:blipFill>
          <a:blip xmlns:r="http://schemas.openxmlformats.org/officeDocument/2006/relationships" xmlns:a="http://schemas.openxmlformats.org/drawingml/2006/main" r:embed="Rad5fd512ed29452b"/>
          <a:stretch xmlns:a="http://schemas.openxmlformats.org/drawingml/2006/main"/>
        </p:blipFill>
        <p:spPr>
          <a:xfrm xmlns:a="http://schemas.openxmlformats.org/drawingml/2006/main">
            <a:off x="9048750" y="1924050"/>
            <a:ext cx="1952625" cy="4225681"/>
          </a:xfrm>
          <a:prstGeom xmlns:a="http://schemas.openxmlformats.org/drawingml/2006/main" prst="rect">
            <a:avLst/>
          </a:prstGeom>
        </p:spPr>
      </p:pic>
    </p:spTree>
    <p:extLst>
      <p:ext uri="{BB962C8B-B14F-4D97-AF65-F5344CB8AC3E}">
        <p14:creationId xmlns:p14="http://schemas.microsoft.com/office/powerpoint/2010/main" val="7825587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2" name="DEMO 04 · 근로자와 관리자">
            <a:extLst xmlns:a="http://schemas.openxmlformats.org/drawingml/2006/main">
              <a:ext uri="{FF2B5EF4-FFF2-40B4-BE49-F238E27FC236}">
                <a16:creationId xmlns:a16="http://schemas.microsoft.com/office/drawing/2014/main" id="{0C34FA8A-7705-48EA-8672-CDE3EE9783B2}"/>
              </a:ext>
            </a:extLst>
          </p:cNvPr>
          <p:cNvSpPr>
            <a:spLocks xmlns:a="http://schemas.openxmlformats.org/drawingml/2006/main" noGrp="1"/>
          </p:cNvSpPr>
          <p:nvPr/>
        </p:nvSpPr>
        <p:spPr>
          <a:xfrm xmlns:a="http://schemas.openxmlformats.org/drawingml/2006/main">
            <a:off x="819150" y="6762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D4ED8"/>
                </a:solidFill>
                <a:latin typeface="Pretendard"/>
                <a:ea typeface="Pretendard"/>
                <a:cs typeface="Pretendard"/>
              </a:defRPr>
            </a:defPPr>
          </a:lstStyle>
          <a:p xmlns:a="http://schemas.openxmlformats.org/drawingml/2006/main">
            <a:pPr>
              <a:defRPr sz="1275" b="1">
                <a:solidFill>
                  <a:srgbClr val="1D4ED8"/>
                </a:solidFill>
                <a:latin typeface="Pretendard"/>
                <a:ea typeface="Pretendard"/>
                <a:cs typeface="Pretendard"/>
              </a:defRPr>
            </a:pPr>
            <a:r>
              <a:rPr sz="1275" b="1">
                <a:solidFill>
                  <a:srgbClr val="1D4ED8"/>
                </a:solidFill>
                <a:latin typeface="Pretendard"/>
                <a:ea typeface="Pretendard"/>
                <a:cs typeface="Pretendard"/>
              </a:rPr>
              <a:t>DEMO 04 · 근로자와 관리자</a:t>
            </a:r>
          </a:p>
        </p:txBody>
      </p:sp>
      <p:sp>
        <p:nvSpPr>
          <p:cNvPr id="2" name="근로자의 마감 보고를 반장의 검토로 연결합니다">
            <a:extLst xmlns:a="http://schemas.openxmlformats.org/drawingml/2006/main">
              <a:ext uri="{FF2B5EF4-FFF2-40B4-BE49-F238E27FC236}">
                <a16:creationId xmlns:a16="http://schemas.microsoft.com/office/drawing/2014/main" id="{C9F5D8CF-FE9A-449E-BD68-F15942223C2D}"/>
              </a:ext>
            </a:extLst>
          </p:cNvPr>
          <p:cNvSpPr>
            <a:spLocks xmlns:a="http://schemas.openxmlformats.org/drawingml/2006/main" noGrp="1"/>
          </p:cNvSpPr>
          <p:nvPr/>
        </p:nvSpPr>
        <p:spPr>
          <a:xfrm xmlns:a="http://schemas.openxmlformats.org/drawingml/2006/main">
            <a:off x="819150" y="10191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F2937"/>
                </a:solidFill>
                <a:latin typeface="Pretendard"/>
                <a:ea typeface="Pretendard"/>
                <a:cs typeface="Pretendard"/>
              </a:defRPr>
            </a:defPPr>
          </a:lstStyle>
          <a:p xmlns:a="http://schemas.openxmlformats.org/drawingml/2006/main">
            <a:pPr>
              <a:defRPr sz="2850" b="1">
                <a:solidFill>
                  <a:srgbClr val="1F2937"/>
                </a:solidFill>
                <a:latin typeface="Pretendard"/>
                <a:ea typeface="Pretendard"/>
                <a:cs typeface="Pretendard"/>
              </a:defRPr>
            </a:pPr>
            <a:r>
              <a:rPr sz="2850" b="1">
                <a:solidFill>
                  <a:srgbClr val="1F2937"/>
                </a:solidFill>
                <a:latin typeface="Pretendard"/>
                <a:ea typeface="Pretendard"/>
                <a:cs typeface="Pretendard"/>
              </a:rPr>
              <a:t>근로자의 마감 보고를 반장의 검토로 연결합니다</a:t>
            </a:r>
          </a:p>
        </p:txBody>
      </p:sp>
      <p:sp>
        <p:nvSpPr>
          <p:cNvPr id="3" name="안전반장 · TEAM 0x02">
            <a:extLst xmlns:a="http://schemas.openxmlformats.org/drawingml/2006/main">
              <a:ext uri="{FF2B5EF4-FFF2-40B4-BE49-F238E27FC236}">
                <a16:creationId xmlns:a16="http://schemas.microsoft.com/office/drawing/2014/main" id="{6C36A5FD-6432-4F77-AF65-A5F264AA6325}"/>
              </a:ext>
            </a:extLst>
          </p:cNvPr>
          <p:cNvSpPr>
            <a:spLocks xmlns:a="http://schemas.openxmlformats.org/drawingml/2006/main" noGrp="1"/>
          </p:cNvSpPr>
          <p:nvPr/>
        </p:nvSpPr>
        <p:spPr>
          <a:xfrm xmlns:a="http://schemas.openxmlformats.org/drawingml/2006/main">
            <a:off x="819150" y="63341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안전반장 · TEAM 0x02</a:t>
            </a:r>
          </a:p>
        </p:txBody>
      </p:sp>
      <p:sp>
        <p:nvSpPr>
          <p:cNvPr id="4" name="09 / 14">
            <a:extLst xmlns:a="http://schemas.openxmlformats.org/drawingml/2006/main">
              <a:ext uri="{FF2B5EF4-FFF2-40B4-BE49-F238E27FC236}">
                <a16:creationId xmlns:a16="http://schemas.microsoft.com/office/drawing/2014/main" id="{1660E41C-C8EB-4A59-A1F3-3457AFFAD819}"/>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09 / 14</a:t>
            </a:r>
          </a:p>
        </p:txBody>
      </p:sp>
      <p:sp>
        <p:nvSpPr>
          <p:cNvPr id="5" name="오늘의 위험과 조치를&#10;다음 작업에 남깁니다">
            <a:extLst xmlns:a="http://schemas.openxmlformats.org/drawingml/2006/main">
              <a:ext uri="{FF2B5EF4-FFF2-40B4-BE49-F238E27FC236}">
                <a16:creationId xmlns:a16="http://schemas.microsoft.com/office/drawing/2014/main" id="{5BF4664C-D4D9-4CC0-A980-80FD7EEC530A}"/>
              </a:ext>
            </a:extLst>
          </p:cNvPr>
          <p:cNvSpPr>
            <a:spLocks xmlns:a="http://schemas.openxmlformats.org/drawingml/2006/main" noGrp="1"/>
          </p:cNvSpPr>
          <p:nvPr/>
        </p:nvSpPr>
        <p:spPr>
          <a:xfrm xmlns:a="http://schemas.openxmlformats.org/drawingml/2006/main">
            <a:off x="819150" y="213360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D4ED8"/>
                </a:solidFill>
                <a:latin typeface="Pretendard"/>
                <a:ea typeface="Pretendard"/>
                <a:cs typeface="Pretendard"/>
              </a:defRPr>
            </a:defPPr>
          </a:lstStyle>
          <a:p xmlns:a="http://schemas.openxmlformats.org/drawingml/2006/main">
            <a:pPr>
              <a:defRPr sz="2400" b="1">
                <a:solidFill>
                  <a:srgbClr val="1D4ED8"/>
                </a:solidFill>
                <a:latin typeface="Pretendard"/>
                <a:ea typeface="Pretendard"/>
                <a:cs typeface="Pretendard"/>
              </a:defRPr>
            </a:pPr>
            <a:r>
              <a:rPr sz="2400" b="1">
                <a:solidFill>
                  <a:srgbClr val="1D4ED8"/>
                </a:solidFill>
                <a:latin typeface="Pretendard"/>
                <a:ea typeface="Pretendard"/>
                <a:cs typeface="Pretendard"/>
              </a:rPr>
              <a:t>오늘의 위험과 조치를</a:t>
            </a:r>
          </a:p>
          <a:p xmlns:a="http://schemas.openxmlformats.org/drawingml/2006/main">
            <a:pPr>
              <a:defRPr sz="2400" b="1">
                <a:solidFill>
                  <a:srgbClr val="1D4ED8"/>
                </a:solidFill>
                <a:latin typeface="Pretendard"/>
                <a:ea typeface="Pretendard"/>
                <a:cs typeface="Pretendard"/>
              </a:defRPr>
            </a:pPr>
            <a:r>
              <a:rPr sz="2400" b="1">
                <a:solidFill>
                  <a:srgbClr val="1D4ED8"/>
                </a:solidFill>
                <a:latin typeface="Pretendard"/>
                <a:ea typeface="Pretendard"/>
                <a:cs typeface="Pretendard"/>
              </a:rPr>
              <a:t>다음 작업에 남깁니다</a:t>
            </a:r>
          </a:p>
        </p:txBody>
      </p:sp>
      <p:sp>
        <p:nvSpPr>
          <p:cNvPr id="6" name="근로자는 작업 내용과 위험을 보고하고&#10;반장은 검토함에서 확">
            <a:extLst xmlns:a="http://schemas.openxmlformats.org/drawingml/2006/main">
              <a:ext uri="{FF2B5EF4-FFF2-40B4-BE49-F238E27FC236}">
                <a16:creationId xmlns:a16="http://schemas.microsoft.com/office/drawing/2014/main" id="{92704365-A1BE-4D86-9949-84374BD427CE}"/>
              </a:ext>
            </a:extLst>
          </p:cNvPr>
          <p:cNvSpPr>
            <a:spLocks xmlns:a="http://schemas.openxmlformats.org/drawingml/2006/main" noGrp="1"/>
          </p:cNvSpPr>
          <p:nvPr/>
        </p:nvSpPr>
        <p:spPr>
          <a:xfrm xmlns:a="http://schemas.openxmlformats.org/drawingml/2006/main">
            <a:off x="819150" y="3590925"/>
            <a:ext cx="5095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F2937"/>
                </a:solidFill>
                <a:latin typeface="Pretendard"/>
                <a:ea typeface="Pretendard"/>
                <a:cs typeface="Pretendard"/>
              </a:defRPr>
            </a:defPPr>
          </a:lstStyle>
          <a:p xmlns:a="http://schemas.openxmlformats.org/drawingml/2006/main">
            <a:pPr>
              <a:defRPr sz="1875" b="0">
                <a:solidFill>
                  <a:srgbClr val="1F2937"/>
                </a:solidFill>
                <a:latin typeface="Pretendard"/>
                <a:ea typeface="Pretendard"/>
                <a:cs typeface="Pretendard"/>
              </a:defRPr>
            </a:pPr>
            <a:r>
              <a:rPr sz="1875" b="0">
                <a:solidFill>
                  <a:srgbClr val="1F2937"/>
                </a:solidFill>
                <a:latin typeface="Pretendard"/>
                <a:ea typeface="Pretendard"/>
                <a:cs typeface="Pretendard"/>
              </a:rPr>
              <a:t>근로자는 작업 내용과 위험을 보고하고</a:t>
            </a:r>
          </a:p>
          <a:p xmlns:a="http://schemas.openxmlformats.org/drawingml/2006/main">
            <a:pPr>
              <a:defRPr sz="1875" b="0">
                <a:solidFill>
                  <a:srgbClr val="1F2937"/>
                </a:solidFill>
                <a:latin typeface="Pretendard"/>
                <a:ea typeface="Pretendard"/>
                <a:cs typeface="Pretendard"/>
              </a:defRPr>
            </a:pPr>
            <a:r>
              <a:rPr sz="1875" b="0">
                <a:solidFill>
                  <a:srgbClr val="1F2937"/>
                </a:solidFill>
                <a:latin typeface="Pretendard"/>
                <a:ea typeface="Pretendard"/>
                <a:cs typeface="Pretendard"/>
              </a:rPr>
              <a:t>반장은 검토함에서 확인합니다.</a:t>
            </a:r>
          </a:p>
        </p:txBody>
      </p:sp>
      <p:sp>
        <p:nvSpPr>
          <p:cNvPr id="7" name="제출 여부와 검토 내용을 구분해&#10;후속 조치에 활용합니다.">
            <a:extLst xmlns:a="http://schemas.openxmlformats.org/drawingml/2006/main">
              <a:ext uri="{FF2B5EF4-FFF2-40B4-BE49-F238E27FC236}">
                <a16:creationId xmlns:a16="http://schemas.microsoft.com/office/drawing/2014/main" id="{39FC3A0E-F080-4042-A628-C8823D462118}"/>
              </a:ext>
            </a:extLst>
          </p:cNvPr>
          <p:cNvSpPr>
            <a:spLocks xmlns:a="http://schemas.openxmlformats.org/drawingml/2006/main" noGrp="1"/>
          </p:cNvSpPr>
          <p:nvPr/>
        </p:nvSpPr>
        <p:spPr>
          <a:xfrm xmlns:a="http://schemas.openxmlformats.org/drawingml/2006/main">
            <a:off x="819150" y="54673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4748B"/>
                </a:solidFill>
                <a:latin typeface="Pretendard"/>
                <a:ea typeface="Pretendard"/>
                <a:cs typeface="Pretendard"/>
              </a:defRPr>
            </a:defPPr>
          </a:lstStyle>
          <a:p xmlns:a="http://schemas.openxmlformats.org/drawingml/2006/main">
            <a:pPr>
              <a:defRPr sz="1425" b="0">
                <a:solidFill>
                  <a:srgbClr val="64748B"/>
                </a:solidFill>
                <a:latin typeface="Pretendard"/>
                <a:ea typeface="Pretendard"/>
                <a:cs typeface="Pretendard"/>
              </a:defRPr>
            </a:pPr>
            <a:r>
              <a:rPr sz="1425" b="0">
                <a:solidFill>
                  <a:srgbClr val="64748B"/>
                </a:solidFill>
                <a:latin typeface="Pretendard"/>
                <a:ea typeface="Pretendard"/>
                <a:cs typeface="Pretendard"/>
              </a:rPr>
              <a:t>제출 여부와 검토 내용을 구분해</a:t>
            </a:r>
          </a:p>
          <a:p xmlns:a="http://schemas.openxmlformats.org/drawingml/2006/main">
            <a:pPr>
              <a:defRPr sz="1425" b="0">
                <a:solidFill>
                  <a:srgbClr val="64748B"/>
                </a:solidFill>
                <a:latin typeface="Pretendard"/>
                <a:ea typeface="Pretendard"/>
                <a:cs typeface="Pretendard"/>
              </a:defRPr>
            </a:pPr>
            <a:r>
              <a:rPr sz="1425" b="0">
                <a:solidFill>
                  <a:srgbClr val="64748B"/>
                </a:solidFill>
                <a:latin typeface="Pretendard"/>
                <a:ea typeface="Pretendard"/>
                <a:cs typeface="Pretendard"/>
              </a:rPr>
              <a:t>후속 조치에 활용합니다.</a:t>
            </a:r>
          </a:p>
        </p:txBody>
      </p:sp>
      <p:sp>
        <p:nvSpPr>
          <p:cNvPr id="8" name="근로자 보고">
            <a:extLst xmlns:a="http://schemas.openxmlformats.org/drawingml/2006/main">
              <a:ext uri="{FF2B5EF4-FFF2-40B4-BE49-F238E27FC236}">
                <a16:creationId xmlns:a16="http://schemas.microsoft.com/office/drawing/2014/main" id="{266A110E-7C68-4F07-B4D1-4725E7AA45B6}"/>
              </a:ext>
            </a:extLst>
          </p:cNvPr>
          <p:cNvSpPr>
            <a:spLocks xmlns:a="http://schemas.openxmlformats.org/drawingml/2006/main" noGrp="1"/>
          </p:cNvSpPr>
          <p:nvPr/>
        </p:nvSpPr>
        <p:spPr>
          <a:xfrm xmlns:a="http://schemas.openxmlformats.org/drawingml/2006/main">
            <a:off x="6524625" y="16097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1D4ED8"/>
                </a:solidFill>
                <a:latin typeface="Pretendard"/>
                <a:ea typeface="Pretendard"/>
                <a:cs typeface="Pretendard"/>
              </a:defRPr>
            </a:defPPr>
          </a:lstStyle>
          <a:p xmlns:a="http://schemas.openxmlformats.org/drawingml/2006/main">
            <a:pPr>
              <a:defRPr sz="1350" b="1">
                <a:solidFill>
                  <a:srgbClr val="1D4ED8"/>
                </a:solidFill>
                <a:latin typeface="Pretendard"/>
                <a:ea typeface="Pretendard"/>
                <a:cs typeface="Pretendard"/>
              </a:defRPr>
            </a:pPr>
            <a:r>
              <a:rPr sz="1350" b="1">
                <a:solidFill>
                  <a:srgbClr val="1D4ED8"/>
                </a:solidFill>
                <a:latin typeface="Pretendard"/>
                <a:ea typeface="Pretendard"/>
                <a:cs typeface="Pretendard"/>
              </a:rPr>
              <a:t>근로자 보고</a:t>
            </a:r>
          </a:p>
        </p:txBody>
      </p:sp>
      <p:sp>
        <p:nvSpPr>
          <p:cNvPr id="9" name="관리자 검토함">
            <a:extLst xmlns:a="http://schemas.openxmlformats.org/drawingml/2006/main">
              <a:ext uri="{FF2B5EF4-FFF2-40B4-BE49-F238E27FC236}">
                <a16:creationId xmlns:a16="http://schemas.microsoft.com/office/drawing/2014/main" id="{85C30B2D-29E0-4972-8380-70C4DAF99D09}"/>
              </a:ext>
            </a:extLst>
          </p:cNvPr>
          <p:cNvSpPr>
            <a:spLocks xmlns:a="http://schemas.openxmlformats.org/drawingml/2006/main" noGrp="1"/>
          </p:cNvSpPr>
          <p:nvPr/>
        </p:nvSpPr>
        <p:spPr>
          <a:xfrm xmlns:a="http://schemas.openxmlformats.org/drawingml/2006/main">
            <a:off x="9048750" y="16097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1D4ED8"/>
                </a:solidFill>
                <a:latin typeface="Pretendard"/>
                <a:ea typeface="Pretendard"/>
                <a:cs typeface="Pretendard"/>
              </a:defRPr>
            </a:defPPr>
          </a:lstStyle>
          <a:p xmlns:a="http://schemas.openxmlformats.org/drawingml/2006/main">
            <a:pPr>
              <a:defRPr sz="1350" b="1">
                <a:solidFill>
                  <a:srgbClr val="1D4ED8"/>
                </a:solidFill>
                <a:latin typeface="Pretendard"/>
                <a:ea typeface="Pretendard"/>
                <a:cs typeface="Pretendard"/>
              </a:defRPr>
            </a:pPr>
            <a:r>
              <a:rPr sz="1350" b="1">
                <a:solidFill>
                  <a:srgbClr val="1D4ED8"/>
                </a:solidFill>
                <a:latin typeface="Pretendard"/>
                <a:ea typeface="Pretendard"/>
                <a:cs typeface="Pretendard"/>
              </a:rPr>
              <a:t>관리자 검토함</a:t>
            </a:r>
          </a:p>
        </p:txBody>
      </p:sp>
      <p:pic>
        <p:nvPicPr>
          <p:cNvPr id="10" name="">
            <a:extLst xmlns:a="http://schemas.openxmlformats.org/drawingml/2006/main">
              <a:ext uri="{FF2B5EF4-FFF2-40B4-BE49-F238E27FC236}">
                <a16:creationId xmlns:a16="http://schemas.microsoft.com/office/drawing/2014/main" id="{C7412174-D595-458E-B00B-5D4F9A8EEC52}"/>
              </a:ext>
            </a:extLst>
          </p:cNvPr>
          <p:cNvPicPr>
            <a:picLocks xmlns:a="http://schemas.openxmlformats.org/drawingml/2006/main" noChangeAspect="1"/>
          </p:cNvPicPr>
          <p:nvPr/>
        </p:nvPicPr>
        <p:blipFill>
          <a:blip xmlns:r="http://schemas.openxmlformats.org/officeDocument/2006/relationships" xmlns:a="http://schemas.openxmlformats.org/drawingml/2006/main" r:embed="R689ef7b468b24d93"/>
          <a:stretch xmlns:a="http://schemas.openxmlformats.org/drawingml/2006/main"/>
        </p:blipFill>
        <p:spPr>
          <a:xfrm xmlns:a="http://schemas.openxmlformats.org/drawingml/2006/main">
            <a:off x="6524625" y="1924050"/>
            <a:ext cx="1952625" cy="4225681"/>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449A7C71-404B-46DE-8E7C-53AF15870680}"/>
              </a:ext>
            </a:extLst>
          </p:cNvPr>
          <p:cNvPicPr>
            <a:picLocks xmlns:a="http://schemas.openxmlformats.org/drawingml/2006/main" noChangeAspect="1"/>
          </p:cNvPicPr>
          <p:nvPr/>
        </p:nvPicPr>
        <p:blipFill>
          <a:blip xmlns:r="http://schemas.openxmlformats.org/officeDocument/2006/relationships" xmlns:a="http://schemas.openxmlformats.org/drawingml/2006/main" r:embed="R173a9cd97a3c4d98"/>
          <a:stretch xmlns:a="http://schemas.openxmlformats.org/drawingml/2006/main"/>
        </p:blipFill>
        <p:spPr>
          <a:xfrm xmlns:a="http://schemas.openxmlformats.org/drawingml/2006/main">
            <a:off x="9048750" y="1924050"/>
            <a:ext cx="1952625" cy="4225681"/>
          </a:xfrm>
          <a:prstGeom xmlns:a="http://schemas.openxmlformats.org/drawingml/2006/main" prst="rect">
            <a:avLst/>
          </a:prstGeom>
        </p:spPr>
      </p:pic>
    </p:spTree>
    <p:extLst>
      <p:ext uri="{BB962C8B-B14F-4D97-AF65-F5344CB8AC3E}">
        <p14:creationId xmlns:p14="http://schemas.microsoft.com/office/powerpoint/2010/main" val="15265083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2" name="DEMO 05 · 관리자">
            <a:extLst xmlns:a="http://schemas.openxmlformats.org/drawingml/2006/main">
              <a:ext uri="{FF2B5EF4-FFF2-40B4-BE49-F238E27FC236}">
                <a16:creationId xmlns:a16="http://schemas.microsoft.com/office/drawing/2014/main" id="{23F5B4FB-29EC-4107-B0C7-5BA3E040AD2D}"/>
              </a:ext>
            </a:extLst>
          </p:cNvPr>
          <p:cNvSpPr>
            <a:spLocks xmlns:a="http://schemas.openxmlformats.org/drawingml/2006/main" noGrp="1"/>
          </p:cNvSpPr>
          <p:nvPr/>
        </p:nvSpPr>
        <p:spPr>
          <a:xfrm xmlns:a="http://schemas.openxmlformats.org/drawingml/2006/main">
            <a:off x="819150" y="6762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D4ED8"/>
                </a:solidFill>
                <a:latin typeface="Pretendard"/>
                <a:ea typeface="Pretendard"/>
                <a:cs typeface="Pretendard"/>
              </a:defRPr>
            </a:defPPr>
          </a:lstStyle>
          <a:p xmlns:a="http://schemas.openxmlformats.org/drawingml/2006/main">
            <a:pPr>
              <a:defRPr sz="1275" b="1">
                <a:solidFill>
                  <a:srgbClr val="1D4ED8"/>
                </a:solidFill>
                <a:latin typeface="Pretendard"/>
                <a:ea typeface="Pretendard"/>
                <a:cs typeface="Pretendard"/>
              </a:defRPr>
            </a:pPr>
            <a:r>
              <a:rPr sz="1275" b="1">
                <a:solidFill>
                  <a:srgbClr val="1D4ED8"/>
                </a:solidFill>
                <a:latin typeface="Pretendard"/>
                <a:ea typeface="Pretendard"/>
                <a:cs typeface="Pretendard"/>
              </a:rPr>
              <a:t>DEMO 05 · 관리자</a:t>
            </a:r>
          </a:p>
        </p:txBody>
      </p:sp>
      <p:sp>
        <p:nvSpPr>
          <p:cNvPr id="2" name="위험요인과 안전조치를 JSA 초안으로 정리합니다">
            <a:extLst xmlns:a="http://schemas.openxmlformats.org/drawingml/2006/main">
              <a:ext uri="{FF2B5EF4-FFF2-40B4-BE49-F238E27FC236}">
                <a16:creationId xmlns:a16="http://schemas.microsoft.com/office/drawing/2014/main" id="{BE442F3B-57A8-48EB-898E-CD0B8991D6A8}"/>
              </a:ext>
            </a:extLst>
          </p:cNvPr>
          <p:cNvSpPr>
            <a:spLocks xmlns:a="http://schemas.openxmlformats.org/drawingml/2006/main" noGrp="1"/>
          </p:cNvSpPr>
          <p:nvPr/>
        </p:nvSpPr>
        <p:spPr>
          <a:xfrm xmlns:a="http://schemas.openxmlformats.org/drawingml/2006/main">
            <a:off x="819150" y="10191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F2937"/>
                </a:solidFill>
                <a:latin typeface="Pretendard"/>
                <a:ea typeface="Pretendard"/>
                <a:cs typeface="Pretendard"/>
              </a:defRPr>
            </a:defPPr>
          </a:lstStyle>
          <a:p xmlns:a="http://schemas.openxmlformats.org/drawingml/2006/main">
            <a:pPr>
              <a:defRPr sz="2850" b="1">
                <a:solidFill>
                  <a:srgbClr val="1F2937"/>
                </a:solidFill>
                <a:latin typeface="Pretendard"/>
                <a:ea typeface="Pretendard"/>
                <a:cs typeface="Pretendard"/>
              </a:defRPr>
            </a:pPr>
            <a:r>
              <a:rPr sz="2850" b="1">
                <a:solidFill>
                  <a:srgbClr val="1F2937"/>
                </a:solidFill>
                <a:latin typeface="Pretendard"/>
                <a:ea typeface="Pretendard"/>
                <a:cs typeface="Pretendard"/>
              </a:rPr>
              <a:t>위험요인과 안전조치를 JSA 초안으로 정리합니다</a:t>
            </a:r>
          </a:p>
        </p:txBody>
      </p:sp>
      <p:sp>
        <p:nvSpPr>
          <p:cNvPr id="3" name="안전반장 · TEAM 0x02">
            <a:extLst xmlns:a="http://schemas.openxmlformats.org/drawingml/2006/main">
              <a:ext uri="{FF2B5EF4-FFF2-40B4-BE49-F238E27FC236}">
                <a16:creationId xmlns:a16="http://schemas.microsoft.com/office/drawing/2014/main" id="{2C792351-34A8-4157-80A3-141DB591C322}"/>
              </a:ext>
            </a:extLst>
          </p:cNvPr>
          <p:cNvSpPr>
            <a:spLocks xmlns:a="http://schemas.openxmlformats.org/drawingml/2006/main" noGrp="1"/>
          </p:cNvSpPr>
          <p:nvPr/>
        </p:nvSpPr>
        <p:spPr>
          <a:xfrm xmlns:a="http://schemas.openxmlformats.org/drawingml/2006/main">
            <a:off x="819150" y="63341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안전반장 · TEAM 0x02</a:t>
            </a:r>
          </a:p>
        </p:txBody>
      </p:sp>
      <p:sp>
        <p:nvSpPr>
          <p:cNvPr id="4" name="10 / 14">
            <a:extLst xmlns:a="http://schemas.openxmlformats.org/drawingml/2006/main">
              <a:ext uri="{FF2B5EF4-FFF2-40B4-BE49-F238E27FC236}">
                <a16:creationId xmlns:a16="http://schemas.microsoft.com/office/drawing/2014/main" id="{F1073645-48C2-4653-8826-8F38790E5C5C}"/>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10 / 14</a:t>
            </a:r>
          </a:p>
        </p:txBody>
      </p:sp>
      <p:sp>
        <p:nvSpPr>
          <p:cNvPr id="5" name="입력한 작업을&#10;검토 가능한 초안으로">
            <a:extLst xmlns:a="http://schemas.openxmlformats.org/drawingml/2006/main">
              <a:ext uri="{FF2B5EF4-FFF2-40B4-BE49-F238E27FC236}">
                <a16:creationId xmlns:a16="http://schemas.microsoft.com/office/drawing/2014/main" id="{EDEBE537-AD2A-4835-8B89-E9F111956503}"/>
              </a:ext>
            </a:extLst>
          </p:cNvPr>
          <p:cNvSpPr>
            <a:spLocks xmlns:a="http://schemas.openxmlformats.org/drawingml/2006/main" noGrp="1"/>
          </p:cNvSpPr>
          <p:nvPr/>
        </p:nvSpPr>
        <p:spPr>
          <a:xfrm xmlns:a="http://schemas.openxmlformats.org/drawingml/2006/main">
            <a:off x="819150" y="213360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D4ED8"/>
                </a:solidFill>
                <a:latin typeface="Pretendard"/>
                <a:ea typeface="Pretendard"/>
                <a:cs typeface="Pretendard"/>
              </a:defRPr>
            </a:defPPr>
          </a:lstStyle>
          <a:p xmlns:a="http://schemas.openxmlformats.org/drawingml/2006/main">
            <a:pPr>
              <a:defRPr sz="2400" b="1">
                <a:solidFill>
                  <a:srgbClr val="1D4ED8"/>
                </a:solidFill>
                <a:latin typeface="Pretendard"/>
                <a:ea typeface="Pretendard"/>
                <a:cs typeface="Pretendard"/>
              </a:defRPr>
            </a:pPr>
            <a:r>
              <a:rPr sz="2400" b="1">
                <a:solidFill>
                  <a:srgbClr val="1D4ED8"/>
                </a:solidFill>
                <a:latin typeface="Pretendard"/>
                <a:ea typeface="Pretendard"/>
                <a:cs typeface="Pretendard"/>
              </a:rPr>
              <a:t>입력한 작업을</a:t>
            </a:r>
          </a:p>
          <a:p xmlns:a="http://schemas.openxmlformats.org/drawingml/2006/main">
            <a:pPr>
              <a:defRPr sz="2400" b="1">
                <a:solidFill>
                  <a:srgbClr val="1D4ED8"/>
                </a:solidFill>
                <a:latin typeface="Pretendard"/>
                <a:ea typeface="Pretendard"/>
                <a:cs typeface="Pretendard"/>
              </a:defRPr>
            </a:pPr>
            <a:r>
              <a:rPr sz="2400" b="1">
                <a:solidFill>
                  <a:srgbClr val="1D4ED8"/>
                </a:solidFill>
                <a:latin typeface="Pretendard"/>
                <a:ea typeface="Pretendard"/>
                <a:cs typeface="Pretendard"/>
              </a:rPr>
              <a:t>검토 가능한 초안으로</a:t>
            </a:r>
          </a:p>
        </p:txBody>
      </p:sp>
      <p:sp>
        <p:nvSpPr>
          <p:cNvPr id="6" name="작업 내용, 위험요인, 감소 대책을&#10;한 화면에서 검토합니다">
            <a:extLst xmlns:a="http://schemas.openxmlformats.org/drawingml/2006/main">
              <a:ext uri="{FF2B5EF4-FFF2-40B4-BE49-F238E27FC236}">
                <a16:creationId xmlns:a16="http://schemas.microsoft.com/office/drawing/2014/main" id="{689A9379-30AB-45EC-8C48-3B4348531D5B}"/>
              </a:ext>
            </a:extLst>
          </p:cNvPr>
          <p:cNvSpPr>
            <a:spLocks xmlns:a="http://schemas.openxmlformats.org/drawingml/2006/main" noGrp="1"/>
          </p:cNvSpPr>
          <p:nvPr/>
        </p:nvSpPr>
        <p:spPr>
          <a:xfrm xmlns:a="http://schemas.openxmlformats.org/drawingml/2006/main">
            <a:off x="819150" y="3590925"/>
            <a:ext cx="5095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F2937"/>
                </a:solidFill>
                <a:latin typeface="Pretendard"/>
                <a:ea typeface="Pretendard"/>
                <a:cs typeface="Pretendard"/>
              </a:defRPr>
            </a:defPPr>
          </a:lstStyle>
          <a:p xmlns:a="http://schemas.openxmlformats.org/drawingml/2006/main">
            <a:pPr>
              <a:defRPr sz="1875" b="0">
                <a:solidFill>
                  <a:srgbClr val="1F2937"/>
                </a:solidFill>
                <a:latin typeface="Pretendard"/>
                <a:ea typeface="Pretendard"/>
                <a:cs typeface="Pretendard"/>
              </a:defRPr>
            </a:pPr>
            <a:r>
              <a:rPr sz="1875" b="0">
                <a:solidFill>
                  <a:srgbClr val="1F2937"/>
                </a:solidFill>
                <a:latin typeface="Pretendard"/>
                <a:ea typeface="Pretendard"/>
                <a:cs typeface="Pretendard"/>
              </a:rPr>
              <a:t>작업 내용, 위험요인, 감소 대책을</a:t>
            </a:r>
          </a:p>
          <a:p xmlns:a="http://schemas.openxmlformats.org/drawingml/2006/main">
            <a:pPr>
              <a:defRPr sz="1875" b="0">
                <a:solidFill>
                  <a:srgbClr val="1F2937"/>
                </a:solidFill>
                <a:latin typeface="Pretendard"/>
                <a:ea typeface="Pretendard"/>
                <a:cs typeface="Pretendard"/>
              </a:defRPr>
            </a:pPr>
            <a:r>
              <a:rPr sz="1875" b="0">
                <a:solidFill>
                  <a:srgbClr val="1F2937"/>
                </a:solidFill>
                <a:latin typeface="Pretendard"/>
                <a:ea typeface="Pretendard"/>
                <a:cs typeface="Pretendard"/>
              </a:rPr>
              <a:t>한 화면에서 검토합니다.</a:t>
            </a:r>
          </a:p>
        </p:txBody>
      </p:sp>
      <p:sp>
        <p:nvSpPr>
          <p:cNvPr id="7" name="자동 작성 결과는 초안입니다.&#10;책임자의 현장 검토가 필요합">
            <a:extLst xmlns:a="http://schemas.openxmlformats.org/drawingml/2006/main">
              <a:ext uri="{FF2B5EF4-FFF2-40B4-BE49-F238E27FC236}">
                <a16:creationId xmlns:a16="http://schemas.microsoft.com/office/drawing/2014/main" id="{96643AFB-C2A2-4DDD-A522-ABA2207CD462}"/>
              </a:ext>
            </a:extLst>
          </p:cNvPr>
          <p:cNvSpPr>
            <a:spLocks xmlns:a="http://schemas.openxmlformats.org/drawingml/2006/main" noGrp="1"/>
          </p:cNvSpPr>
          <p:nvPr/>
        </p:nvSpPr>
        <p:spPr>
          <a:xfrm xmlns:a="http://schemas.openxmlformats.org/drawingml/2006/main">
            <a:off x="819150" y="54673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4748B"/>
                </a:solidFill>
                <a:latin typeface="Pretendard"/>
                <a:ea typeface="Pretendard"/>
                <a:cs typeface="Pretendard"/>
              </a:defRPr>
            </a:defPPr>
          </a:lstStyle>
          <a:p xmlns:a="http://schemas.openxmlformats.org/drawingml/2006/main">
            <a:pPr>
              <a:defRPr sz="1425" b="0">
                <a:solidFill>
                  <a:srgbClr val="64748B"/>
                </a:solidFill>
                <a:latin typeface="Pretendard"/>
                <a:ea typeface="Pretendard"/>
                <a:cs typeface="Pretendard"/>
              </a:defRPr>
            </a:pPr>
            <a:r>
              <a:rPr sz="1425" b="0">
                <a:solidFill>
                  <a:srgbClr val="64748B"/>
                </a:solidFill>
                <a:latin typeface="Pretendard"/>
                <a:ea typeface="Pretendard"/>
                <a:cs typeface="Pretendard"/>
              </a:rPr>
              <a:t>자동 작성 결과는 초안입니다.</a:t>
            </a:r>
          </a:p>
          <a:p xmlns:a="http://schemas.openxmlformats.org/drawingml/2006/main">
            <a:pPr>
              <a:defRPr sz="1425" b="0">
                <a:solidFill>
                  <a:srgbClr val="64748B"/>
                </a:solidFill>
                <a:latin typeface="Pretendard"/>
                <a:ea typeface="Pretendard"/>
                <a:cs typeface="Pretendard"/>
              </a:defRPr>
            </a:pPr>
            <a:r>
              <a:rPr sz="1425" b="0">
                <a:solidFill>
                  <a:srgbClr val="64748B"/>
                </a:solidFill>
                <a:latin typeface="Pretendard"/>
                <a:ea typeface="Pretendard"/>
                <a:cs typeface="Pretendard"/>
              </a:rPr>
              <a:t>책임자의 현장 검토가 필요합니다.</a:t>
            </a:r>
          </a:p>
        </p:txBody>
      </p:sp>
      <p:sp>
        <p:nvSpPr>
          <p:cNvPr id="8" name="보고를 담은 초안">
            <a:extLst xmlns:a="http://schemas.openxmlformats.org/drawingml/2006/main">
              <a:ext uri="{FF2B5EF4-FFF2-40B4-BE49-F238E27FC236}">
                <a16:creationId xmlns:a16="http://schemas.microsoft.com/office/drawing/2014/main" id="{A780C500-1B0F-4CAC-9B0C-B082F8DE1B76}"/>
              </a:ext>
            </a:extLst>
          </p:cNvPr>
          <p:cNvSpPr>
            <a:spLocks xmlns:a="http://schemas.openxmlformats.org/drawingml/2006/main" noGrp="1"/>
          </p:cNvSpPr>
          <p:nvPr/>
        </p:nvSpPr>
        <p:spPr>
          <a:xfrm xmlns:a="http://schemas.openxmlformats.org/drawingml/2006/main">
            <a:off x="6524625" y="16097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1D4ED8"/>
                </a:solidFill>
                <a:latin typeface="Pretendard"/>
                <a:ea typeface="Pretendard"/>
                <a:cs typeface="Pretendard"/>
              </a:defRPr>
            </a:defPPr>
          </a:lstStyle>
          <a:p xmlns:a="http://schemas.openxmlformats.org/drawingml/2006/main">
            <a:pPr>
              <a:defRPr sz="1350" b="1">
                <a:solidFill>
                  <a:srgbClr val="1D4ED8"/>
                </a:solidFill>
                <a:latin typeface="Pretendard"/>
                <a:ea typeface="Pretendard"/>
                <a:cs typeface="Pretendard"/>
              </a:defRPr>
            </a:pPr>
            <a:r>
              <a:rPr sz="1350" b="1">
                <a:solidFill>
                  <a:srgbClr val="1D4ED8"/>
                </a:solidFill>
                <a:latin typeface="Pretendard"/>
                <a:ea typeface="Pretendard"/>
                <a:cs typeface="Pretendard"/>
              </a:rPr>
              <a:t>보고를 담은 초안</a:t>
            </a:r>
          </a:p>
        </p:txBody>
      </p:sp>
      <p:sp>
        <p:nvSpPr>
          <p:cNvPr id="9" name="안전조치 검토">
            <a:extLst xmlns:a="http://schemas.openxmlformats.org/drawingml/2006/main">
              <a:ext uri="{FF2B5EF4-FFF2-40B4-BE49-F238E27FC236}">
                <a16:creationId xmlns:a16="http://schemas.microsoft.com/office/drawing/2014/main" id="{23900079-3F0B-4D3E-ADD9-CC8D4DD85784}"/>
              </a:ext>
            </a:extLst>
          </p:cNvPr>
          <p:cNvSpPr>
            <a:spLocks xmlns:a="http://schemas.openxmlformats.org/drawingml/2006/main" noGrp="1"/>
          </p:cNvSpPr>
          <p:nvPr/>
        </p:nvSpPr>
        <p:spPr>
          <a:xfrm xmlns:a="http://schemas.openxmlformats.org/drawingml/2006/main">
            <a:off x="9048750" y="16097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1D4ED8"/>
                </a:solidFill>
                <a:latin typeface="Pretendard"/>
                <a:ea typeface="Pretendard"/>
                <a:cs typeface="Pretendard"/>
              </a:defRPr>
            </a:defPPr>
          </a:lstStyle>
          <a:p xmlns:a="http://schemas.openxmlformats.org/drawingml/2006/main">
            <a:pPr>
              <a:defRPr sz="1350" b="1">
                <a:solidFill>
                  <a:srgbClr val="1D4ED8"/>
                </a:solidFill>
                <a:latin typeface="Pretendard"/>
                <a:ea typeface="Pretendard"/>
                <a:cs typeface="Pretendard"/>
              </a:defRPr>
            </a:pPr>
            <a:r>
              <a:rPr sz="1350" b="1">
                <a:solidFill>
                  <a:srgbClr val="1D4ED8"/>
                </a:solidFill>
                <a:latin typeface="Pretendard"/>
                <a:ea typeface="Pretendard"/>
                <a:cs typeface="Pretendard"/>
              </a:rPr>
              <a:t>안전조치 검토</a:t>
            </a:r>
          </a:p>
        </p:txBody>
      </p:sp>
      <p:pic>
        <p:nvPicPr>
          <p:cNvPr id="10" name="">
            <a:extLst xmlns:a="http://schemas.openxmlformats.org/drawingml/2006/main">
              <a:ext uri="{FF2B5EF4-FFF2-40B4-BE49-F238E27FC236}">
                <a16:creationId xmlns:a16="http://schemas.microsoft.com/office/drawing/2014/main" id="{B8B35060-BBD6-4749-BCFA-69E6111E2E95}"/>
              </a:ext>
            </a:extLst>
          </p:cNvPr>
          <p:cNvPicPr>
            <a:picLocks xmlns:a="http://schemas.openxmlformats.org/drawingml/2006/main" noChangeAspect="1"/>
          </p:cNvPicPr>
          <p:nvPr/>
        </p:nvPicPr>
        <p:blipFill>
          <a:blip xmlns:r="http://schemas.openxmlformats.org/officeDocument/2006/relationships" xmlns:a="http://schemas.openxmlformats.org/drawingml/2006/main" r:embed="R7c7e6e23fb024068"/>
          <a:stretch xmlns:a="http://schemas.openxmlformats.org/drawingml/2006/main"/>
        </p:blipFill>
        <p:spPr>
          <a:xfrm xmlns:a="http://schemas.openxmlformats.org/drawingml/2006/main">
            <a:off x="6524625" y="1924050"/>
            <a:ext cx="1952625" cy="4225681"/>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1B287512-685A-429C-AF1A-9C0A32745BB6}"/>
              </a:ext>
            </a:extLst>
          </p:cNvPr>
          <p:cNvPicPr>
            <a:picLocks xmlns:a="http://schemas.openxmlformats.org/drawingml/2006/main" noChangeAspect="1"/>
          </p:cNvPicPr>
          <p:nvPr/>
        </p:nvPicPr>
        <p:blipFill>
          <a:blip xmlns:r="http://schemas.openxmlformats.org/officeDocument/2006/relationships" xmlns:a="http://schemas.openxmlformats.org/drawingml/2006/main" r:embed="R53328cb080c54e4e"/>
          <a:stretch xmlns:a="http://schemas.openxmlformats.org/drawingml/2006/main"/>
        </p:blipFill>
        <p:spPr>
          <a:xfrm xmlns:a="http://schemas.openxmlformats.org/drawingml/2006/main">
            <a:off x="9048750" y="1924050"/>
            <a:ext cx="1952625" cy="4225681"/>
          </a:xfrm>
          <a:prstGeom xmlns:a="http://schemas.openxmlformats.org/drawingml/2006/main" prst="rect">
            <a:avLst/>
          </a:prstGeom>
        </p:spPr>
      </p:pic>
    </p:spTree>
    <p:extLst>
      <p:ext uri="{BB962C8B-B14F-4D97-AF65-F5344CB8AC3E}">
        <p14:creationId xmlns:p14="http://schemas.microsoft.com/office/powerpoint/2010/main" val="208469049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5" name="HOW IT WORKS">
            <a:extLst xmlns:a="http://schemas.openxmlformats.org/drawingml/2006/main">
              <a:ext uri="{FF2B5EF4-FFF2-40B4-BE49-F238E27FC236}">
                <a16:creationId xmlns:a16="http://schemas.microsoft.com/office/drawing/2014/main" id="{CAD5870D-F62F-4AA1-9540-BD9784FC91B2}"/>
              </a:ext>
            </a:extLst>
          </p:cNvPr>
          <p:cNvSpPr>
            <a:spLocks xmlns:a="http://schemas.openxmlformats.org/drawingml/2006/main" noGrp="1"/>
          </p:cNvSpPr>
          <p:nvPr/>
        </p:nvSpPr>
        <p:spPr>
          <a:xfrm xmlns:a="http://schemas.openxmlformats.org/drawingml/2006/main">
            <a:off x="819150" y="6762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D4ED8"/>
                </a:solidFill>
                <a:latin typeface="Pretendard"/>
                <a:ea typeface="Pretendard"/>
                <a:cs typeface="Pretendard"/>
              </a:defRPr>
            </a:defPPr>
          </a:lstStyle>
          <a:p xmlns:a="http://schemas.openxmlformats.org/drawingml/2006/main">
            <a:pPr>
              <a:defRPr sz="1275" b="1">
                <a:solidFill>
                  <a:srgbClr val="1D4ED8"/>
                </a:solidFill>
                <a:latin typeface="Pretendard"/>
                <a:ea typeface="Pretendard"/>
                <a:cs typeface="Pretendard"/>
              </a:defRPr>
            </a:pPr>
            <a:r>
              <a:rPr sz="1275" b="1">
                <a:solidFill>
                  <a:srgbClr val="1D4ED8"/>
                </a:solidFill>
                <a:latin typeface="Pretendard"/>
                <a:ea typeface="Pretendard"/>
                <a:cs typeface="Pretendard"/>
              </a:rPr>
              <a:t>HOW IT WORKS</a:t>
            </a:r>
          </a:p>
        </p:txBody>
      </p:sp>
      <p:sp>
        <p:nvSpPr>
          <p:cNvPr id="2" name="AI 결과와 현장 확인을 구분합니다">
            <a:extLst xmlns:a="http://schemas.openxmlformats.org/drawingml/2006/main">
              <a:ext uri="{FF2B5EF4-FFF2-40B4-BE49-F238E27FC236}">
                <a16:creationId xmlns:a16="http://schemas.microsoft.com/office/drawing/2014/main" id="{17FD0708-12B4-4ED0-BB8F-6692023CB9AD}"/>
              </a:ext>
            </a:extLst>
          </p:cNvPr>
          <p:cNvSpPr>
            <a:spLocks xmlns:a="http://schemas.openxmlformats.org/drawingml/2006/main" noGrp="1"/>
          </p:cNvSpPr>
          <p:nvPr/>
        </p:nvSpPr>
        <p:spPr>
          <a:xfrm xmlns:a="http://schemas.openxmlformats.org/drawingml/2006/main">
            <a:off x="819150" y="10191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F2937"/>
                </a:solidFill>
                <a:latin typeface="Pretendard"/>
                <a:ea typeface="Pretendard"/>
                <a:cs typeface="Pretendard"/>
              </a:defRPr>
            </a:defPPr>
          </a:lstStyle>
          <a:p xmlns:a="http://schemas.openxmlformats.org/drawingml/2006/main">
            <a:pPr>
              <a:defRPr sz="2850" b="1">
                <a:solidFill>
                  <a:srgbClr val="1F2937"/>
                </a:solidFill>
                <a:latin typeface="Pretendard"/>
                <a:ea typeface="Pretendard"/>
                <a:cs typeface="Pretendard"/>
              </a:defRPr>
            </a:pPr>
            <a:r>
              <a:rPr sz="2850" b="1">
                <a:solidFill>
                  <a:srgbClr val="1F2937"/>
                </a:solidFill>
                <a:latin typeface="Pretendard"/>
                <a:ea typeface="Pretendard"/>
                <a:cs typeface="Pretendard"/>
              </a:rPr>
              <a:t>AI 결과와 현장 확인을 구분합니다</a:t>
            </a:r>
          </a:p>
        </p:txBody>
      </p:sp>
      <p:sp>
        <p:nvSpPr>
          <p:cNvPr id="3" name="안전반장 · TEAM 0x02">
            <a:extLst xmlns:a="http://schemas.openxmlformats.org/drawingml/2006/main">
              <a:ext uri="{FF2B5EF4-FFF2-40B4-BE49-F238E27FC236}">
                <a16:creationId xmlns:a16="http://schemas.microsoft.com/office/drawing/2014/main" id="{8845318D-DD75-472F-BF59-79E68965FEEC}"/>
              </a:ext>
            </a:extLst>
          </p:cNvPr>
          <p:cNvSpPr>
            <a:spLocks xmlns:a="http://schemas.openxmlformats.org/drawingml/2006/main" noGrp="1"/>
          </p:cNvSpPr>
          <p:nvPr/>
        </p:nvSpPr>
        <p:spPr>
          <a:xfrm xmlns:a="http://schemas.openxmlformats.org/drawingml/2006/main">
            <a:off x="819150" y="63341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안전반장 · TEAM 0x02</a:t>
            </a:r>
          </a:p>
        </p:txBody>
      </p:sp>
      <p:sp>
        <p:nvSpPr>
          <p:cNvPr id="4" name="11 / 14">
            <a:extLst xmlns:a="http://schemas.openxmlformats.org/drawingml/2006/main">
              <a:ext uri="{FF2B5EF4-FFF2-40B4-BE49-F238E27FC236}">
                <a16:creationId xmlns:a16="http://schemas.microsoft.com/office/drawing/2014/main" id="{17D382F8-D0C6-4B2D-AFC5-C4D7A270ACCC}"/>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11 / 14</a:t>
            </a:r>
          </a:p>
        </p:txBody>
      </p:sp>
      <p:sp>
        <p:nvSpPr>
          <p:cNvPr id="5" name="작업 조건">
            <a:extLst xmlns:a="http://schemas.openxmlformats.org/drawingml/2006/main">
              <a:ext uri="{FF2B5EF4-FFF2-40B4-BE49-F238E27FC236}">
                <a16:creationId xmlns:a16="http://schemas.microsoft.com/office/drawing/2014/main" id="{EB6CE13D-7F17-45F3-ACB0-BCFFB57F5020}"/>
              </a:ext>
            </a:extLst>
          </p:cNvPr>
          <p:cNvSpPr>
            <a:spLocks xmlns:a="http://schemas.openxmlformats.org/drawingml/2006/main" noGrp="1"/>
          </p:cNvSpPr>
          <p:nvPr/>
        </p:nvSpPr>
        <p:spPr>
          <a:xfrm xmlns:a="http://schemas.openxmlformats.org/drawingml/2006/main">
            <a:off x="819150" y="21240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D4ED8"/>
                </a:solidFill>
                <a:latin typeface="Pretendard"/>
                <a:ea typeface="Pretendard"/>
                <a:cs typeface="Pretendard"/>
              </a:defRPr>
            </a:defPPr>
          </a:lstStyle>
          <a:p xmlns:a="http://schemas.openxmlformats.org/drawingml/2006/main">
            <a:pPr>
              <a:defRPr sz="2250" b="1">
                <a:solidFill>
                  <a:srgbClr val="1D4ED8"/>
                </a:solidFill>
                <a:latin typeface="Pretendard"/>
                <a:ea typeface="Pretendard"/>
                <a:cs typeface="Pretendard"/>
              </a:defRPr>
            </a:pPr>
            <a:r>
              <a:rPr sz="2250" b="1">
                <a:solidFill>
                  <a:srgbClr val="1D4ED8"/>
                </a:solidFill>
                <a:latin typeface="Pretendard"/>
                <a:ea typeface="Pretendard"/>
                <a:cs typeface="Pretendard"/>
              </a:rPr>
              <a:t>작업 조건</a:t>
            </a:r>
          </a:p>
        </p:txBody>
      </p:sp>
      <p:sp>
        <p:nvSpPr>
          <p:cNvPr id="6" name="문장에서 조건 추출">
            <a:extLst xmlns:a="http://schemas.openxmlformats.org/drawingml/2006/main">
              <a:ext uri="{FF2B5EF4-FFF2-40B4-BE49-F238E27FC236}">
                <a16:creationId xmlns:a16="http://schemas.microsoft.com/office/drawing/2014/main" id="{08D39D2F-10EF-4824-BB43-499C0BB330D3}"/>
              </a:ext>
            </a:extLst>
          </p:cNvPr>
          <p:cNvSpPr>
            <a:spLocks xmlns:a="http://schemas.openxmlformats.org/drawingml/2006/main" noGrp="1"/>
          </p:cNvSpPr>
          <p:nvPr/>
        </p:nvSpPr>
        <p:spPr>
          <a:xfrm xmlns:a="http://schemas.openxmlformats.org/drawingml/2006/main">
            <a:off x="819150" y="28575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F2937"/>
                </a:solidFill>
                <a:latin typeface="Pretendard"/>
                <a:ea typeface="Pretendard"/>
                <a:cs typeface="Pretendard"/>
              </a:defRPr>
            </a:defPPr>
          </a:lstStyle>
          <a:p xmlns:a="http://schemas.openxmlformats.org/drawingml/2006/main">
            <a:pPr>
              <a:defRPr sz="1875" b="1">
                <a:solidFill>
                  <a:srgbClr val="1F2937"/>
                </a:solidFill>
                <a:latin typeface="Pretendard"/>
                <a:ea typeface="Pretendard"/>
                <a:cs typeface="Pretendard"/>
              </a:defRPr>
            </a:pPr>
            <a:r>
              <a:rPr sz="1875" b="1">
                <a:solidFill>
                  <a:srgbClr val="1F2937"/>
                </a:solidFill>
                <a:latin typeface="Pretendard"/>
                <a:ea typeface="Pretendard"/>
                <a:cs typeface="Pretendard"/>
              </a:rPr>
              <a:t>문장에서 조건 추출</a:t>
            </a:r>
          </a:p>
        </p:txBody>
      </p:sp>
      <p:sp>
        <p:nvSpPr>
          <p:cNvPr id="7" name="미확인 조건은 질문으로 남김&#10;규칙으로 필수·권장 수칙 구성">
            <a:extLst xmlns:a="http://schemas.openxmlformats.org/drawingml/2006/main">
              <a:ext uri="{FF2B5EF4-FFF2-40B4-BE49-F238E27FC236}">
                <a16:creationId xmlns:a16="http://schemas.microsoft.com/office/drawing/2014/main" id="{A6F85A39-8A4C-409E-9D31-BCE07FD46219}"/>
              </a:ext>
            </a:extLst>
          </p:cNvPr>
          <p:cNvSpPr>
            <a:spLocks xmlns:a="http://schemas.openxmlformats.org/drawingml/2006/main" noGrp="1"/>
          </p:cNvSpPr>
          <p:nvPr/>
        </p:nvSpPr>
        <p:spPr>
          <a:xfrm xmlns:a="http://schemas.openxmlformats.org/drawingml/2006/main">
            <a:off x="819150" y="3476625"/>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F2937"/>
                </a:solidFill>
                <a:latin typeface="Pretendard"/>
                <a:ea typeface="Pretendard"/>
                <a:cs typeface="Pretendard"/>
              </a:defRPr>
            </a:defPPr>
          </a:lstStyle>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미확인 조건은 질문으로 남김</a:t>
            </a:r>
          </a:p>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규칙으로 필수·권장 수칙 구성</a:t>
            </a:r>
          </a:p>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각 수칙에 근거 표시</a:t>
            </a:r>
          </a:p>
        </p:txBody>
      </p:sp>
      <p:sp>
        <p:nvSpPr>
          <p:cNvPr id="8" name="사진 판정">
            <a:extLst xmlns:a="http://schemas.openxmlformats.org/drawingml/2006/main">
              <a:ext uri="{FF2B5EF4-FFF2-40B4-BE49-F238E27FC236}">
                <a16:creationId xmlns:a16="http://schemas.microsoft.com/office/drawing/2014/main" id="{8D06F03D-5BBB-4897-B6AD-892C327337E8}"/>
              </a:ext>
            </a:extLst>
          </p:cNvPr>
          <p:cNvSpPr>
            <a:spLocks xmlns:a="http://schemas.openxmlformats.org/drawingml/2006/main" noGrp="1"/>
          </p:cNvSpPr>
          <p:nvPr/>
        </p:nvSpPr>
        <p:spPr>
          <a:xfrm xmlns:a="http://schemas.openxmlformats.org/drawingml/2006/main">
            <a:off x="4476750" y="21240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D4ED8"/>
                </a:solidFill>
                <a:latin typeface="Pretendard"/>
                <a:ea typeface="Pretendard"/>
                <a:cs typeface="Pretendard"/>
              </a:defRPr>
            </a:defPPr>
          </a:lstStyle>
          <a:p xmlns:a="http://schemas.openxmlformats.org/drawingml/2006/main">
            <a:pPr>
              <a:defRPr sz="2250" b="1">
                <a:solidFill>
                  <a:srgbClr val="1D4ED8"/>
                </a:solidFill>
                <a:latin typeface="Pretendard"/>
                <a:ea typeface="Pretendard"/>
                <a:cs typeface="Pretendard"/>
              </a:defRPr>
            </a:pPr>
            <a:r>
              <a:rPr sz="2250" b="1">
                <a:solidFill>
                  <a:srgbClr val="1D4ED8"/>
                </a:solidFill>
                <a:latin typeface="Pretendard"/>
                <a:ea typeface="Pretendard"/>
                <a:cs typeface="Pretendard"/>
              </a:rPr>
              <a:t>사진 판정</a:t>
            </a:r>
          </a:p>
        </p:txBody>
      </p:sp>
      <p:sp>
        <p:nvSpPr>
          <p:cNvPr id="9" name="확인됨 후보 추가 검증">
            <a:extLst xmlns:a="http://schemas.openxmlformats.org/drawingml/2006/main">
              <a:ext uri="{FF2B5EF4-FFF2-40B4-BE49-F238E27FC236}">
                <a16:creationId xmlns:a16="http://schemas.microsoft.com/office/drawing/2014/main" id="{5E80FBCE-89A8-4B70-9BD1-A0D421960879}"/>
              </a:ext>
            </a:extLst>
          </p:cNvPr>
          <p:cNvSpPr>
            <a:spLocks xmlns:a="http://schemas.openxmlformats.org/drawingml/2006/main" noGrp="1"/>
          </p:cNvSpPr>
          <p:nvPr/>
        </p:nvSpPr>
        <p:spPr>
          <a:xfrm xmlns:a="http://schemas.openxmlformats.org/drawingml/2006/main">
            <a:off x="4476750" y="28575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F2937"/>
                </a:solidFill>
                <a:latin typeface="Pretendard"/>
                <a:ea typeface="Pretendard"/>
                <a:cs typeface="Pretendard"/>
              </a:defRPr>
            </a:defPPr>
          </a:lstStyle>
          <a:p xmlns:a="http://schemas.openxmlformats.org/drawingml/2006/main">
            <a:pPr>
              <a:defRPr sz="1875" b="1">
                <a:solidFill>
                  <a:srgbClr val="1F2937"/>
                </a:solidFill>
                <a:latin typeface="Pretendard"/>
                <a:ea typeface="Pretendard"/>
                <a:cs typeface="Pretendard"/>
              </a:defRPr>
            </a:pPr>
            <a:r>
              <a:rPr sz="1875" b="1">
                <a:solidFill>
                  <a:srgbClr val="1F2937"/>
                </a:solidFill>
                <a:latin typeface="Pretendard"/>
                <a:ea typeface="Pretendard"/>
                <a:cs typeface="Pretendard"/>
              </a:rPr>
              <a:t>확인됨 후보 추가 검증</a:t>
            </a:r>
          </a:p>
        </p:txBody>
      </p:sp>
      <p:sp>
        <p:nvSpPr>
          <p:cNvPr id="10" name="검증이 어려우면 판단불가&#10;어두운 사진은 재촬영 안내&#10;관리자">
            <a:extLst xmlns:a="http://schemas.openxmlformats.org/drawingml/2006/main">
              <a:ext uri="{FF2B5EF4-FFF2-40B4-BE49-F238E27FC236}">
                <a16:creationId xmlns:a16="http://schemas.microsoft.com/office/drawing/2014/main" id="{1B311A5C-4CC6-413C-A374-4D4404EEF8A0}"/>
              </a:ext>
            </a:extLst>
          </p:cNvPr>
          <p:cNvSpPr>
            <a:spLocks xmlns:a="http://schemas.openxmlformats.org/drawingml/2006/main" noGrp="1"/>
          </p:cNvSpPr>
          <p:nvPr/>
        </p:nvSpPr>
        <p:spPr>
          <a:xfrm xmlns:a="http://schemas.openxmlformats.org/drawingml/2006/main">
            <a:off x="4476750" y="3476625"/>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F2937"/>
                </a:solidFill>
                <a:latin typeface="Pretendard"/>
                <a:ea typeface="Pretendard"/>
                <a:cs typeface="Pretendard"/>
              </a:defRPr>
            </a:defPPr>
          </a:lstStyle>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검증이 어려우면 판단불가</a:t>
            </a:r>
          </a:p>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어두운 사진은 재촬영 안내</a:t>
            </a:r>
          </a:p>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관리자 확인 내용을 별도 기록</a:t>
            </a:r>
          </a:p>
        </p:txBody>
      </p:sp>
      <p:sp>
        <p:nvSpPr>
          <p:cNvPr id="11" name="TBM 점검">
            <a:extLst xmlns:a="http://schemas.openxmlformats.org/drawingml/2006/main">
              <a:ext uri="{FF2B5EF4-FFF2-40B4-BE49-F238E27FC236}">
                <a16:creationId xmlns:a16="http://schemas.microsoft.com/office/drawing/2014/main" id="{5B5338D4-D182-4791-A83F-FA5C8480FABE}"/>
              </a:ext>
            </a:extLst>
          </p:cNvPr>
          <p:cNvSpPr>
            <a:spLocks xmlns:a="http://schemas.openxmlformats.org/drawingml/2006/main" noGrp="1"/>
          </p:cNvSpPr>
          <p:nvPr/>
        </p:nvSpPr>
        <p:spPr>
          <a:xfrm xmlns:a="http://schemas.openxmlformats.org/drawingml/2006/main">
            <a:off x="8134350" y="21240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D4ED8"/>
                </a:solidFill>
                <a:latin typeface="Pretendard"/>
                <a:ea typeface="Pretendard"/>
                <a:cs typeface="Pretendard"/>
              </a:defRPr>
            </a:defPPr>
          </a:lstStyle>
          <a:p xmlns:a="http://schemas.openxmlformats.org/drawingml/2006/main">
            <a:pPr>
              <a:defRPr sz="2250" b="1">
                <a:solidFill>
                  <a:srgbClr val="1D4ED8"/>
                </a:solidFill>
                <a:latin typeface="Pretendard"/>
                <a:ea typeface="Pretendard"/>
                <a:cs typeface="Pretendard"/>
              </a:defRPr>
            </a:pPr>
            <a:r>
              <a:rPr sz="2250" b="1">
                <a:solidFill>
                  <a:srgbClr val="1D4ED8"/>
                </a:solidFill>
                <a:latin typeface="Pretendard"/>
                <a:ea typeface="Pretendard"/>
                <a:cs typeface="Pretendard"/>
              </a:rPr>
              <a:t>TBM 점검</a:t>
            </a:r>
          </a:p>
        </p:txBody>
      </p:sp>
      <p:sp>
        <p:nvSpPr>
          <p:cNvPr id="12" name="필수 수칙과 발언 비교">
            <a:extLst xmlns:a="http://schemas.openxmlformats.org/drawingml/2006/main">
              <a:ext uri="{FF2B5EF4-FFF2-40B4-BE49-F238E27FC236}">
                <a16:creationId xmlns:a16="http://schemas.microsoft.com/office/drawing/2014/main" id="{270AB63F-9FBB-498B-8A33-E7A0DA3A1EC5}"/>
              </a:ext>
            </a:extLst>
          </p:cNvPr>
          <p:cNvSpPr>
            <a:spLocks xmlns:a="http://schemas.openxmlformats.org/drawingml/2006/main" noGrp="1"/>
          </p:cNvSpPr>
          <p:nvPr/>
        </p:nvSpPr>
        <p:spPr>
          <a:xfrm xmlns:a="http://schemas.openxmlformats.org/drawingml/2006/main">
            <a:off x="8134350" y="28575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F2937"/>
                </a:solidFill>
                <a:latin typeface="Pretendard"/>
                <a:ea typeface="Pretendard"/>
                <a:cs typeface="Pretendard"/>
              </a:defRPr>
            </a:defPPr>
          </a:lstStyle>
          <a:p xmlns:a="http://schemas.openxmlformats.org/drawingml/2006/main">
            <a:pPr>
              <a:defRPr sz="1875" b="1">
                <a:solidFill>
                  <a:srgbClr val="1F2937"/>
                </a:solidFill>
                <a:latin typeface="Pretendard"/>
                <a:ea typeface="Pretendard"/>
                <a:cs typeface="Pretendard"/>
              </a:defRPr>
            </a:pPr>
            <a:r>
              <a:rPr sz="1875" b="1">
                <a:solidFill>
                  <a:srgbClr val="1F2937"/>
                </a:solidFill>
                <a:latin typeface="Pretendard"/>
                <a:ea typeface="Pretendard"/>
                <a:cs typeface="Pretendard"/>
              </a:rPr>
              <a:t>필수 수칙과 발언 비교</a:t>
            </a:r>
          </a:p>
        </p:txBody>
      </p:sp>
      <p:sp>
        <p:nvSpPr>
          <p:cNvPr id="13" name="현재는 규칙·표현 별칭 비교&#10;빠진 수칙을 목록으로 안내&#10;반">
            <a:extLst xmlns:a="http://schemas.openxmlformats.org/drawingml/2006/main">
              <a:ext uri="{FF2B5EF4-FFF2-40B4-BE49-F238E27FC236}">
                <a16:creationId xmlns:a16="http://schemas.microsoft.com/office/drawing/2014/main" id="{3077D807-F766-4633-B091-684317EAF211}"/>
              </a:ext>
            </a:extLst>
          </p:cNvPr>
          <p:cNvSpPr>
            <a:spLocks xmlns:a="http://schemas.openxmlformats.org/drawingml/2006/main" noGrp="1"/>
          </p:cNvSpPr>
          <p:nvPr/>
        </p:nvSpPr>
        <p:spPr>
          <a:xfrm xmlns:a="http://schemas.openxmlformats.org/drawingml/2006/main">
            <a:off x="8134350" y="3476625"/>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F2937"/>
                </a:solidFill>
                <a:latin typeface="Pretendard"/>
                <a:ea typeface="Pretendard"/>
                <a:cs typeface="Pretendard"/>
              </a:defRPr>
            </a:defPPr>
          </a:lstStyle>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현재는 규칙·표현 별칭 비교</a:t>
            </a:r>
          </a:p>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빠진 수칙을 목록으로 안내</a:t>
            </a:r>
          </a:p>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반장이 보완 후 현장에서 공유</a:t>
            </a:r>
          </a:p>
        </p:txBody>
      </p:sp>
      <p:sp>
        <p:nvSpPr>
          <p:cNvPr id="14" name="사진 밖의 상황과 현장 전체의 안전은 사람이 확인해야 합니">
            <a:extLst xmlns:a="http://schemas.openxmlformats.org/drawingml/2006/main">
              <a:ext uri="{FF2B5EF4-FFF2-40B4-BE49-F238E27FC236}">
                <a16:creationId xmlns:a16="http://schemas.microsoft.com/office/drawing/2014/main" id="{5434E8E5-CDC5-4E57-A73E-C5409C1A4682}"/>
              </a:ext>
            </a:extLst>
          </p:cNvPr>
          <p:cNvSpPr>
            <a:spLocks xmlns:a="http://schemas.openxmlformats.org/drawingml/2006/main" noGrp="1"/>
          </p:cNvSpPr>
          <p:nvPr/>
        </p:nvSpPr>
        <p:spPr>
          <a:xfrm xmlns:a="http://schemas.openxmlformats.org/drawingml/2006/main">
            <a:off x="819150" y="56292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D4ED8"/>
                </a:solidFill>
                <a:latin typeface="Pretendard"/>
                <a:ea typeface="Pretendard"/>
                <a:cs typeface="Pretendard"/>
              </a:defRPr>
            </a:defPPr>
          </a:lstStyle>
          <a:p xmlns:a="http://schemas.openxmlformats.org/drawingml/2006/main">
            <a:pPr>
              <a:defRPr sz="2100" b="1">
                <a:solidFill>
                  <a:srgbClr val="1D4ED8"/>
                </a:solidFill>
                <a:latin typeface="Pretendard"/>
                <a:ea typeface="Pretendard"/>
                <a:cs typeface="Pretendard"/>
              </a:defRPr>
            </a:pPr>
            <a:r>
              <a:rPr sz="2100" b="1">
                <a:solidFill>
                  <a:srgbClr val="1D4ED8"/>
                </a:solidFill>
                <a:latin typeface="Pretendard"/>
                <a:ea typeface="Pretendard"/>
                <a:cs typeface="Pretendard"/>
              </a:rPr>
              <a:t>사진 밖의 상황과 현장 전체의 안전은 사람이 확인해야 합니다</a:t>
            </a:r>
          </a:p>
        </p:txBody>
      </p:sp>
    </p:spTree>
    <p:extLst>
      <p:ext uri="{BB962C8B-B14F-4D97-AF65-F5344CB8AC3E}">
        <p14:creationId xmlns:p14="http://schemas.microsoft.com/office/powerpoint/2010/main" val="64911487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6" name="VALIDATION">
            <a:extLst xmlns:a="http://schemas.openxmlformats.org/drawingml/2006/main">
              <a:ext uri="{FF2B5EF4-FFF2-40B4-BE49-F238E27FC236}">
                <a16:creationId xmlns:a16="http://schemas.microsoft.com/office/drawing/2014/main" id="{D8DBB30D-6945-434C-A696-1C8D503F8387}"/>
              </a:ext>
            </a:extLst>
          </p:cNvPr>
          <p:cNvSpPr>
            <a:spLocks xmlns:a="http://schemas.openxmlformats.org/drawingml/2006/main" noGrp="1"/>
          </p:cNvSpPr>
          <p:nvPr/>
        </p:nvSpPr>
        <p:spPr>
          <a:xfrm xmlns:a="http://schemas.openxmlformats.org/drawingml/2006/main">
            <a:off x="819150" y="6762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D4ED8"/>
                </a:solidFill>
                <a:latin typeface="Pretendard"/>
                <a:ea typeface="Pretendard"/>
                <a:cs typeface="Pretendard"/>
              </a:defRPr>
            </a:defPPr>
          </a:lstStyle>
          <a:p xmlns:a="http://schemas.openxmlformats.org/drawingml/2006/main">
            <a:pPr>
              <a:defRPr sz="1275" b="1">
                <a:solidFill>
                  <a:srgbClr val="1D4ED8"/>
                </a:solidFill>
                <a:latin typeface="Pretendard"/>
                <a:ea typeface="Pretendard"/>
                <a:cs typeface="Pretendard"/>
              </a:defRPr>
            </a:pPr>
            <a:r>
              <a:rPr sz="1275" b="1">
                <a:solidFill>
                  <a:srgbClr val="1D4ED8"/>
                </a:solidFill>
                <a:latin typeface="Pretendard"/>
                <a:ea typeface="Pretendard"/>
                <a:cs typeface="Pretendard"/>
              </a:rPr>
              <a:t>VALIDATION</a:t>
            </a:r>
          </a:p>
        </p:txBody>
      </p:sp>
      <p:sp>
        <p:nvSpPr>
          <p:cNvPr id="2" name="개발 실험을 확인했고, 현장 검증이 남았습니다">
            <a:extLst xmlns:a="http://schemas.openxmlformats.org/drawingml/2006/main">
              <a:ext uri="{FF2B5EF4-FFF2-40B4-BE49-F238E27FC236}">
                <a16:creationId xmlns:a16="http://schemas.microsoft.com/office/drawing/2014/main" id="{015E8092-5923-477A-8BD6-96186A1D6011}"/>
              </a:ext>
            </a:extLst>
          </p:cNvPr>
          <p:cNvSpPr>
            <a:spLocks xmlns:a="http://schemas.openxmlformats.org/drawingml/2006/main" noGrp="1"/>
          </p:cNvSpPr>
          <p:nvPr/>
        </p:nvSpPr>
        <p:spPr>
          <a:xfrm xmlns:a="http://schemas.openxmlformats.org/drawingml/2006/main">
            <a:off x="819150" y="10191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F2937"/>
                </a:solidFill>
                <a:latin typeface="Pretendard"/>
                <a:ea typeface="Pretendard"/>
                <a:cs typeface="Pretendard"/>
              </a:defRPr>
            </a:defPPr>
          </a:lstStyle>
          <a:p xmlns:a="http://schemas.openxmlformats.org/drawingml/2006/main">
            <a:pPr>
              <a:defRPr sz="2850" b="1">
                <a:solidFill>
                  <a:srgbClr val="1F2937"/>
                </a:solidFill>
                <a:latin typeface="Pretendard"/>
                <a:ea typeface="Pretendard"/>
                <a:cs typeface="Pretendard"/>
              </a:defRPr>
            </a:pPr>
            <a:r>
              <a:rPr sz="2850" b="1">
                <a:solidFill>
                  <a:srgbClr val="1F2937"/>
                </a:solidFill>
                <a:latin typeface="Pretendard"/>
                <a:ea typeface="Pretendard"/>
                <a:cs typeface="Pretendard"/>
              </a:rPr>
              <a:t>개발 실험을 확인했고, 현장 검증이 남았습니다</a:t>
            </a:r>
          </a:p>
        </p:txBody>
      </p:sp>
      <p:sp>
        <p:nvSpPr>
          <p:cNvPr id="3" name="안전반장 · TEAM 0x02">
            <a:extLst xmlns:a="http://schemas.openxmlformats.org/drawingml/2006/main">
              <a:ext uri="{FF2B5EF4-FFF2-40B4-BE49-F238E27FC236}">
                <a16:creationId xmlns:a16="http://schemas.microsoft.com/office/drawing/2014/main" id="{A8F686EA-F00B-42D2-9E5A-06016E38536D}"/>
              </a:ext>
            </a:extLst>
          </p:cNvPr>
          <p:cNvSpPr>
            <a:spLocks xmlns:a="http://schemas.openxmlformats.org/drawingml/2006/main" noGrp="1"/>
          </p:cNvSpPr>
          <p:nvPr/>
        </p:nvSpPr>
        <p:spPr>
          <a:xfrm xmlns:a="http://schemas.openxmlformats.org/drawingml/2006/main">
            <a:off x="819150" y="63341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안전반장 · TEAM 0x02</a:t>
            </a:r>
          </a:p>
        </p:txBody>
      </p:sp>
      <p:sp>
        <p:nvSpPr>
          <p:cNvPr id="4" name="12 / 14">
            <a:extLst xmlns:a="http://schemas.openxmlformats.org/drawingml/2006/main">
              <a:ext uri="{FF2B5EF4-FFF2-40B4-BE49-F238E27FC236}">
                <a16:creationId xmlns:a16="http://schemas.microsoft.com/office/drawing/2014/main" id="{D8933DB0-F93F-4A2E-A329-CA4A10EE6C08}"/>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12 / 14</a:t>
            </a:r>
          </a:p>
        </p:txBody>
      </p:sp>
      <p:sp>
        <p:nvSpPr>
          <p:cNvPr id="5" name="98회">
            <a:extLst xmlns:a="http://schemas.openxmlformats.org/drawingml/2006/main">
              <a:ext uri="{FF2B5EF4-FFF2-40B4-BE49-F238E27FC236}">
                <a16:creationId xmlns:a16="http://schemas.microsoft.com/office/drawing/2014/main" id="{1DDFD293-3E2E-4EF6-A58E-C24EA3F845B0}"/>
              </a:ext>
            </a:extLst>
          </p:cNvPr>
          <p:cNvSpPr>
            <a:spLocks xmlns:a="http://schemas.openxmlformats.org/drawingml/2006/main" noGrp="1"/>
          </p:cNvSpPr>
          <p:nvPr/>
        </p:nvSpPr>
        <p:spPr>
          <a:xfrm xmlns:a="http://schemas.openxmlformats.org/drawingml/2006/main">
            <a:off x="819150" y="216217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a:solidFill>
                  <a:srgbClr val="1D4ED8"/>
                </a:solidFill>
                <a:latin typeface="Pretendard"/>
                <a:ea typeface="Pretendard"/>
                <a:cs typeface="Pretendard"/>
              </a:defRPr>
            </a:defPPr>
          </a:lstStyle>
          <a:p xmlns:a="http://schemas.openxmlformats.org/drawingml/2006/main">
            <a:pPr>
              <a:defRPr sz="4500" b="1">
                <a:solidFill>
                  <a:srgbClr val="1D4ED8"/>
                </a:solidFill>
                <a:latin typeface="Pretendard"/>
                <a:ea typeface="Pretendard"/>
                <a:cs typeface="Pretendard"/>
              </a:defRPr>
            </a:pPr>
            <a:r>
              <a:rPr sz="4500" b="1">
                <a:solidFill>
                  <a:srgbClr val="1D4ED8"/>
                </a:solidFill>
                <a:latin typeface="Pretendard"/>
                <a:ea typeface="Pretendard"/>
                <a:cs typeface="Pretendard"/>
              </a:rPr>
              <a:t>98회</a:t>
            </a:r>
          </a:p>
        </p:txBody>
      </p:sp>
      <p:sp>
        <p:nvSpPr>
          <p:cNvPr id="6" name="작업 10건 · 사진 88건">
            <a:extLst xmlns:a="http://schemas.openxmlformats.org/drawingml/2006/main">
              <a:ext uri="{FF2B5EF4-FFF2-40B4-BE49-F238E27FC236}">
                <a16:creationId xmlns:a16="http://schemas.microsoft.com/office/drawing/2014/main" id="{CC6BD491-8D29-4A25-ACC8-2BCCF77D99F6}"/>
              </a:ext>
            </a:extLst>
          </p:cNvPr>
          <p:cNvSpPr>
            <a:spLocks xmlns:a="http://schemas.openxmlformats.org/drawingml/2006/main" noGrp="1"/>
          </p:cNvSpPr>
          <p:nvPr/>
        </p:nvSpPr>
        <p:spPr>
          <a:xfrm xmlns:a="http://schemas.openxmlformats.org/drawingml/2006/main">
            <a:off x="819150" y="31623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F2937"/>
                </a:solidFill>
                <a:latin typeface="Pretendard"/>
                <a:ea typeface="Pretendard"/>
                <a:cs typeface="Pretendard"/>
              </a:defRPr>
            </a:defPPr>
          </a:lstStyle>
          <a:p xmlns:a="http://schemas.openxmlformats.org/drawingml/2006/main">
            <a:pPr>
              <a:defRPr sz="1875" b="1">
                <a:solidFill>
                  <a:srgbClr val="1F2937"/>
                </a:solidFill>
                <a:latin typeface="Pretendard"/>
                <a:ea typeface="Pretendard"/>
                <a:cs typeface="Pretendard"/>
              </a:defRPr>
            </a:pPr>
            <a:r>
              <a:rPr sz="1875" b="1">
                <a:solidFill>
                  <a:srgbClr val="1F2937"/>
                </a:solidFill>
                <a:latin typeface="Pretendard"/>
                <a:ea typeface="Pretendard"/>
                <a:cs typeface="Pretendard"/>
              </a:rPr>
              <a:t>작업 10건 · 사진 88건</a:t>
            </a:r>
          </a:p>
        </p:txBody>
      </p:sp>
      <p:sp>
        <p:nvSpPr>
          <p:cNvPr id="7" name="기존 실제 API 개발 실험&#10;이번 화면 캡처는 mock">
            <a:extLst xmlns:a="http://schemas.openxmlformats.org/drawingml/2006/main">
              <a:ext uri="{FF2B5EF4-FFF2-40B4-BE49-F238E27FC236}">
                <a16:creationId xmlns:a16="http://schemas.microsoft.com/office/drawing/2014/main" id="{C822CBBE-0E0F-4281-A4CA-21E1840DC9F7}"/>
              </a:ext>
            </a:extLst>
          </p:cNvPr>
          <p:cNvSpPr>
            <a:spLocks xmlns:a="http://schemas.openxmlformats.org/drawingml/2006/main" noGrp="1"/>
          </p:cNvSpPr>
          <p:nvPr/>
        </p:nvSpPr>
        <p:spPr>
          <a:xfrm xmlns:a="http://schemas.openxmlformats.org/drawingml/2006/main">
            <a:off x="819150" y="381952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F2937"/>
                </a:solidFill>
                <a:latin typeface="Pretendard"/>
                <a:ea typeface="Pretendard"/>
                <a:cs typeface="Pretendard"/>
              </a:defRPr>
            </a:defPPr>
          </a:lstStyle>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기존 실제 API 개발 실험</a:t>
            </a:r>
          </a:p>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이번 화면 캡처는 mock</a:t>
            </a:r>
          </a:p>
        </p:txBody>
      </p:sp>
      <p:sp>
        <p:nvSpPr>
          <p:cNvPr id="8" name="28 / 28">
            <a:extLst xmlns:a="http://schemas.openxmlformats.org/drawingml/2006/main">
              <a:ext uri="{FF2B5EF4-FFF2-40B4-BE49-F238E27FC236}">
                <a16:creationId xmlns:a16="http://schemas.microsoft.com/office/drawing/2014/main" id="{336752AF-5DBB-469E-BCCC-20CC6379DBD0}"/>
              </a:ext>
            </a:extLst>
          </p:cNvPr>
          <p:cNvSpPr>
            <a:spLocks xmlns:a="http://schemas.openxmlformats.org/drawingml/2006/main" noGrp="1"/>
          </p:cNvSpPr>
          <p:nvPr/>
        </p:nvSpPr>
        <p:spPr>
          <a:xfrm xmlns:a="http://schemas.openxmlformats.org/drawingml/2006/main">
            <a:off x="4476750" y="216217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a:solidFill>
                  <a:srgbClr val="1D4ED8"/>
                </a:solidFill>
                <a:latin typeface="Pretendard"/>
                <a:ea typeface="Pretendard"/>
                <a:cs typeface="Pretendard"/>
              </a:defRPr>
            </a:defPPr>
          </a:lstStyle>
          <a:p xmlns:a="http://schemas.openxmlformats.org/drawingml/2006/main">
            <a:pPr>
              <a:defRPr sz="4500" b="1">
                <a:solidFill>
                  <a:srgbClr val="1D4ED8"/>
                </a:solidFill>
                <a:latin typeface="Pretendard"/>
                <a:ea typeface="Pretendard"/>
                <a:cs typeface="Pretendard"/>
              </a:defRPr>
            </a:pPr>
            <a:r>
              <a:rPr sz="4500" b="1">
                <a:solidFill>
                  <a:srgbClr val="1D4ED8"/>
                </a:solidFill>
                <a:latin typeface="Pretendard"/>
                <a:ea typeface="Pretendard"/>
                <a:cs typeface="Pretendard"/>
              </a:rPr>
              <a:t>28 / 28</a:t>
            </a:r>
          </a:p>
        </p:txBody>
      </p:sp>
      <p:sp>
        <p:nvSpPr>
          <p:cNvPr id="9" name="작업 조건 점검 통과">
            <a:extLst xmlns:a="http://schemas.openxmlformats.org/drawingml/2006/main">
              <a:ext uri="{FF2B5EF4-FFF2-40B4-BE49-F238E27FC236}">
                <a16:creationId xmlns:a16="http://schemas.microsoft.com/office/drawing/2014/main" id="{9487798B-5D53-4AD0-B6AE-017A583D75C9}"/>
              </a:ext>
            </a:extLst>
          </p:cNvPr>
          <p:cNvSpPr>
            <a:spLocks xmlns:a="http://schemas.openxmlformats.org/drawingml/2006/main" noGrp="1"/>
          </p:cNvSpPr>
          <p:nvPr/>
        </p:nvSpPr>
        <p:spPr>
          <a:xfrm xmlns:a="http://schemas.openxmlformats.org/drawingml/2006/main">
            <a:off x="4476750" y="31623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F2937"/>
                </a:solidFill>
                <a:latin typeface="Pretendard"/>
                <a:ea typeface="Pretendard"/>
                <a:cs typeface="Pretendard"/>
              </a:defRPr>
            </a:defPPr>
          </a:lstStyle>
          <a:p xmlns:a="http://schemas.openxmlformats.org/drawingml/2006/main">
            <a:pPr>
              <a:defRPr sz="1875" b="1">
                <a:solidFill>
                  <a:srgbClr val="1F2937"/>
                </a:solidFill>
                <a:latin typeface="Pretendard"/>
                <a:ea typeface="Pretendard"/>
                <a:cs typeface="Pretendard"/>
              </a:defRPr>
            </a:pPr>
            <a:r>
              <a:rPr sz="1875" b="1">
                <a:solidFill>
                  <a:srgbClr val="1F2937"/>
                </a:solidFill>
                <a:latin typeface="Pretendard"/>
                <a:ea typeface="Pretendard"/>
                <a:cs typeface="Pretendard"/>
              </a:rPr>
              <a:t>작업 조건 점검 통과</a:t>
            </a:r>
          </a:p>
        </p:txBody>
      </p:sp>
      <p:sp>
        <p:nvSpPr>
          <p:cNvPr id="10" name="작업 조건 테스트 항목 결과&#10;제품 전체 정확도 아님">
            <a:extLst xmlns:a="http://schemas.openxmlformats.org/drawingml/2006/main">
              <a:ext uri="{FF2B5EF4-FFF2-40B4-BE49-F238E27FC236}">
                <a16:creationId xmlns:a16="http://schemas.microsoft.com/office/drawing/2014/main" id="{B7ACF4B6-4370-44F1-9029-45ECF4126673}"/>
              </a:ext>
            </a:extLst>
          </p:cNvPr>
          <p:cNvSpPr>
            <a:spLocks xmlns:a="http://schemas.openxmlformats.org/drawingml/2006/main" noGrp="1"/>
          </p:cNvSpPr>
          <p:nvPr/>
        </p:nvSpPr>
        <p:spPr>
          <a:xfrm xmlns:a="http://schemas.openxmlformats.org/drawingml/2006/main">
            <a:off x="4476750" y="381952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F2937"/>
                </a:solidFill>
                <a:latin typeface="Pretendard"/>
                <a:ea typeface="Pretendard"/>
                <a:cs typeface="Pretendard"/>
              </a:defRPr>
            </a:defPPr>
          </a:lstStyle>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작업 조건 테스트 항목 결과</a:t>
            </a:r>
          </a:p>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제품 전체 정확도 아님</a:t>
            </a:r>
          </a:p>
        </p:txBody>
      </p:sp>
      <p:sp>
        <p:nvSpPr>
          <p:cNvPr id="11" name="1.75초">
            <a:extLst xmlns:a="http://schemas.openxmlformats.org/drawingml/2006/main">
              <a:ext uri="{FF2B5EF4-FFF2-40B4-BE49-F238E27FC236}">
                <a16:creationId xmlns:a16="http://schemas.microsoft.com/office/drawing/2014/main" id="{9A50B63D-9C48-4A65-B286-0F33BBC2AC4E}"/>
              </a:ext>
            </a:extLst>
          </p:cNvPr>
          <p:cNvSpPr>
            <a:spLocks xmlns:a="http://schemas.openxmlformats.org/drawingml/2006/main" noGrp="1"/>
          </p:cNvSpPr>
          <p:nvPr/>
        </p:nvSpPr>
        <p:spPr>
          <a:xfrm xmlns:a="http://schemas.openxmlformats.org/drawingml/2006/main">
            <a:off x="8134350" y="216217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a:solidFill>
                  <a:srgbClr val="1D4ED8"/>
                </a:solidFill>
                <a:latin typeface="Pretendard"/>
                <a:ea typeface="Pretendard"/>
                <a:cs typeface="Pretendard"/>
              </a:defRPr>
            </a:defPPr>
          </a:lstStyle>
          <a:p xmlns:a="http://schemas.openxmlformats.org/drawingml/2006/main">
            <a:pPr>
              <a:defRPr sz="4500" b="1">
                <a:solidFill>
                  <a:srgbClr val="1D4ED8"/>
                </a:solidFill>
                <a:latin typeface="Pretendard"/>
                <a:ea typeface="Pretendard"/>
                <a:cs typeface="Pretendard"/>
              </a:defRPr>
            </a:pPr>
            <a:r>
              <a:rPr sz="4500" b="1">
                <a:solidFill>
                  <a:srgbClr val="1D4ED8"/>
                </a:solidFill>
                <a:latin typeface="Pretendard"/>
                <a:ea typeface="Pretendard"/>
                <a:cs typeface="Pretendard"/>
              </a:rPr>
              <a:t>1.75초</a:t>
            </a:r>
          </a:p>
        </p:txBody>
      </p:sp>
      <p:sp>
        <p:nvSpPr>
          <p:cNvPr id="12" name="중앙 실행 시간">
            <a:extLst xmlns:a="http://schemas.openxmlformats.org/drawingml/2006/main">
              <a:ext uri="{FF2B5EF4-FFF2-40B4-BE49-F238E27FC236}">
                <a16:creationId xmlns:a16="http://schemas.microsoft.com/office/drawing/2014/main" id="{60475C3E-D3FA-4D2F-9CCA-6F6ED927628C}"/>
              </a:ext>
            </a:extLst>
          </p:cNvPr>
          <p:cNvSpPr>
            <a:spLocks xmlns:a="http://schemas.openxmlformats.org/drawingml/2006/main" noGrp="1"/>
          </p:cNvSpPr>
          <p:nvPr/>
        </p:nvSpPr>
        <p:spPr>
          <a:xfrm xmlns:a="http://schemas.openxmlformats.org/drawingml/2006/main">
            <a:off x="8134350" y="31623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F2937"/>
                </a:solidFill>
                <a:latin typeface="Pretendard"/>
                <a:ea typeface="Pretendard"/>
                <a:cs typeface="Pretendard"/>
              </a:defRPr>
            </a:defPPr>
          </a:lstStyle>
          <a:p xmlns:a="http://schemas.openxmlformats.org/drawingml/2006/main">
            <a:pPr>
              <a:defRPr sz="1875" b="1">
                <a:solidFill>
                  <a:srgbClr val="1F2937"/>
                </a:solidFill>
                <a:latin typeface="Pretendard"/>
                <a:ea typeface="Pretendard"/>
                <a:cs typeface="Pretendard"/>
              </a:defRPr>
            </a:pPr>
            <a:r>
              <a:rPr sz="1875" b="1">
                <a:solidFill>
                  <a:srgbClr val="1F2937"/>
                </a:solidFill>
                <a:latin typeface="Pretendard"/>
                <a:ea typeface="Pretendard"/>
                <a:cs typeface="Pretendard"/>
              </a:rPr>
              <a:t>중앙 실행 시간</a:t>
            </a:r>
          </a:p>
        </p:txBody>
      </p:sp>
      <p:sp>
        <p:nvSpPr>
          <p:cNvPr id="13" name="동일 개발 실험의 p50&#10;실제 현장 응답 보장 아님">
            <a:extLst xmlns:a="http://schemas.openxmlformats.org/drawingml/2006/main">
              <a:ext uri="{FF2B5EF4-FFF2-40B4-BE49-F238E27FC236}">
                <a16:creationId xmlns:a16="http://schemas.microsoft.com/office/drawing/2014/main" id="{4F1010C9-36B9-4C5F-92D8-0039385BCA3D}"/>
              </a:ext>
            </a:extLst>
          </p:cNvPr>
          <p:cNvSpPr>
            <a:spLocks xmlns:a="http://schemas.openxmlformats.org/drawingml/2006/main" noGrp="1"/>
          </p:cNvSpPr>
          <p:nvPr/>
        </p:nvSpPr>
        <p:spPr>
          <a:xfrm xmlns:a="http://schemas.openxmlformats.org/drawingml/2006/main">
            <a:off x="8134350" y="381952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F2937"/>
                </a:solidFill>
                <a:latin typeface="Pretendard"/>
                <a:ea typeface="Pretendard"/>
                <a:cs typeface="Pretendard"/>
              </a:defRPr>
            </a:defPPr>
          </a:lstStyle>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동일 개발 실험의 p50</a:t>
            </a:r>
          </a:p>
          <a:p xmlns:a="http://schemas.openxmlformats.org/drawingml/2006/main">
            <a:pPr>
              <a:defRPr sz="1725" b="0">
                <a:solidFill>
                  <a:srgbClr val="1F2937"/>
                </a:solidFill>
                <a:latin typeface="Pretendard"/>
                <a:ea typeface="Pretendard"/>
                <a:cs typeface="Pretendard"/>
              </a:defRPr>
            </a:pPr>
            <a:r>
              <a:rPr sz="1725" b="0">
                <a:solidFill>
                  <a:srgbClr val="1F2937"/>
                </a:solidFill>
                <a:latin typeface="Pretendard"/>
                <a:ea typeface="Pretendard"/>
                <a:cs typeface="Pretendard"/>
              </a:rPr>
              <a:t>실제 현장 응답 보장 아님</a:t>
            </a:r>
          </a:p>
        </p:txBody>
      </p:sp>
      <p:sp>
        <p:nvSpPr>
          <p:cNvPr id="14" name="사진 라벨은 사람 검수 전 후보입니다">
            <a:extLst xmlns:a="http://schemas.openxmlformats.org/drawingml/2006/main">
              <a:ext uri="{FF2B5EF4-FFF2-40B4-BE49-F238E27FC236}">
                <a16:creationId xmlns:a16="http://schemas.microsoft.com/office/drawing/2014/main" id="{BC07E0A3-2912-4921-8FC3-86C487298448}"/>
              </a:ext>
            </a:extLst>
          </p:cNvPr>
          <p:cNvSpPr>
            <a:spLocks xmlns:a="http://schemas.openxmlformats.org/drawingml/2006/main" noGrp="1"/>
          </p:cNvSpPr>
          <p:nvPr/>
        </p:nvSpPr>
        <p:spPr>
          <a:xfrm xmlns:a="http://schemas.openxmlformats.org/drawingml/2006/main">
            <a:off x="819150" y="5200650"/>
            <a:ext cx="1052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F2937"/>
                </a:solidFill>
                <a:latin typeface="Pretendard"/>
                <a:ea typeface="Pretendard"/>
                <a:cs typeface="Pretendard"/>
              </a:defRPr>
            </a:defPPr>
          </a:lstStyle>
          <a:p xmlns:a="http://schemas.openxmlformats.org/drawingml/2006/main">
            <a:pPr>
              <a:defRPr sz="2175" b="1">
                <a:solidFill>
                  <a:srgbClr val="1F2937"/>
                </a:solidFill>
                <a:latin typeface="Pretendard"/>
                <a:ea typeface="Pretendard"/>
                <a:cs typeface="Pretendard"/>
              </a:defRPr>
            </a:pPr>
            <a:r>
              <a:rPr sz="2175" b="1">
                <a:solidFill>
                  <a:srgbClr val="1F2937"/>
                </a:solidFill>
                <a:latin typeface="Pretendard"/>
                <a:ea typeface="Pretendard"/>
                <a:cs typeface="Pretendard"/>
              </a:rPr>
              <a:t>사진 라벨은 사람 검수 전 후보입니다</a:t>
            </a:r>
          </a:p>
        </p:txBody>
      </p:sp>
      <p:sp>
        <p:nvSpPr>
          <p:cNvPr id="15" name="사진 판정 정확도·사고 감소 효과는 아직 입증하지 않았습니">
            <a:extLst xmlns:a="http://schemas.openxmlformats.org/drawingml/2006/main">
              <a:ext uri="{FF2B5EF4-FFF2-40B4-BE49-F238E27FC236}">
                <a16:creationId xmlns:a16="http://schemas.microsoft.com/office/drawing/2014/main" id="{9980389A-F506-45D3-AC28-E9FC61E96C9D}"/>
              </a:ext>
            </a:extLst>
          </p:cNvPr>
          <p:cNvSpPr>
            <a:spLocks xmlns:a="http://schemas.openxmlformats.org/drawingml/2006/main" noGrp="1"/>
          </p:cNvSpPr>
          <p:nvPr/>
        </p:nvSpPr>
        <p:spPr>
          <a:xfrm xmlns:a="http://schemas.openxmlformats.org/drawingml/2006/main">
            <a:off x="819150" y="5715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4748B"/>
                </a:solidFill>
                <a:latin typeface="Pretendard"/>
                <a:ea typeface="Pretendard"/>
                <a:cs typeface="Pretendard"/>
              </a:defRPr>
            </a:defPPr>
          </a:lstStyle>
          <a:p xmlns:a="http://schemas.openxmlformats.org/drawingml/2006/main">
            <a:pPr>
              <a:defRPr sz="1800" b="0">
                <a:solidFill>
                  <a:srgbClr val="64748B"/>
                </a:solidFill>
                <a:latin typeface="Pretendard"/>
                <a:ea typeface="Pretendard"/>
                <a:cs typeface="Pretendard"/>
              </a:defRPr>
            </a:pPr>
            <a:r>
              <a:rPr sz="1800" b="0">
                <a:solidFill>
                  <a:srgbClr val="64748B"/>
                </a:solidFill>
                <a:latin typeface="Pretendard"/>
                <a:ea typeface="Pretendard"/>
                <a:cs typeface="Pretendard"/>
              </a:rPr>
              <a:t>사진 판정 정확도·사고 감소 효과는 아직 입증하지 않았습니다</a:t>
            </a:r>
          </a:p>
        </p:txBody>
      </p:sp>
    </p:spTree>
    <p:extLst>
      <p:ext uri="{BB962C8B-B14F-4D97-AF65-F5344CB8AC3E}">
        <p14:creationId xmlns:p14="http://schemas.microsoft.com/office/powerpoint/2010/main" val="17658870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0" name="NEXT STEP">
            <a:extLst xmlns:a="http://schemas.openxmlformats.org/drawingml/2006/main">
              <a:ext uri="{FF2B5EF4-FFF2-40B4-BE49-F238E27FC236}">
                <a16:creationId xmlns:a16="http://schemas.microsoft.com/office/drawing/2014/main" id="{9928B900-E55B-4C50-A9A4-A30806996C88}"/>
              </a:ext>
            </a:extLst>
          </p:cNvPr>
          <p:cNvSpPr>
            <a:spLocks xmlns:a="http://schemas.openxmlformats.org/drawingml/2006/main" noGrp="1"/>
          </p:cNvSpPr>
          <p:nvPr/>
        </p:nvSpPr>
        <p:spPr>
          <a:xfrm xmlns:a="http://schemas.openxmlformats.org/drawingml/2006/main">
            <a:off x="819150" y="6762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D4ED8"/>
                </a:solidFill>
                <a:latin typeface="Pretendard"/>
                <a:ea typeface="Pretendard"/>
                <a:cs typeface="Pretendard"/>
              </a:defRPr>
            </a:defPPr>
          </a:lstStyle>
          <a:p xmlns:a="http://schemas.openxmlformats.org/drawingml/2006/main">
            <a:pPr>
              <a:defRPr sz="1275" b="1">
                <a:solidFill>
                  <a:srgbClr val="1D4ED8"/>
                </a:solidFill>
                <a:latin typeface="Pretendard"/>
                <a:ea typeface="Pretendard"/>
                <a:cs typeface="Pretendard"/>
              </a:defRPr>
            </a:pPr>
            <a:r>
              <a:rPr sz="1275" b="1">
                <a:solidFill>
                  <a:srgbClr val="1D4ED8"/>
                </a:solidFill>
                <a:latin typeface="Pretendard"/>
                <a:ea typeface="Pretendard"/>
                <a:cs typeface="Pretendard"/>
              </a:rPr>
              <a:t>NEXT STEP</a:t>
            </a:r>
          </a:p>
        </p:txBody>
      </p:sp>
      <p:sp>
        <p:nvSpPr>
          <p:cNvPr id="2" name="반장 단독 도입부터 현장 파일럿으로 검증합니다">
            <a:extLst xmlns:a="http://schemas.openxmlformats.org/drawingml/2006/main">
              <a:ext uri="{FF2B5EF4-FFF2-40B4-BE49-F238E27FC236}">
                <a16:creationId xmlns:a16="http://schemas.microsoft.com/office/drawing/2014/main" id="{6702D989-75CD-4152-9110-77873ADC4E64}"/>
              </a:ext>
            </a:extLst>
          </p:cNvPr>
          <p:cNvSpPr>
            <a:spLocks xmlns:a="http://schemas.openxmlformats.org/drawingml/2006/main" noGrp="1"/>
          </p:cNvSpPr>
          <p:nvPr/>
        </p:nvSpPr>
        <p:spPr>
          <a:xfrm xmlns:a="http://schemas.openxmlformats.org/drawingml/2006/main">
            <a:off x="819150" y="10191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F2937"/>
                </a:solidFill>
                <a:latin typeface="Pretendard"/>
                <a:ea typeface="Pretendard"/>
                <a:cs typeface="Pretendard"/>
              </a:defRPr>
            </a:defPPr>
          </a:lstStyle>
          <a:p xmlns:a="http://schemas.openxmlformats.org/drawingml/2006/main">
            <a:pPr>
              <a:defRPr sz="2850" b="1">
                <a:solidFill>
                  <a:srgbClr val="1F2937"/>
                </a:solidFill>
                <a:latin typeface="Pretendard"/>
                <a:ea typeface="Pretendard"/>
                <a:cs typeface="Pretendard"/>
              </a:defRPr>
            </a:pPr>
            <a:r>
              <a:rPr sz="2850" b="1">
                <a:solidFill>
                  <a:srgbClr val="1F2937"/>
                </a:solidFill>
                <a:latin typeface="Pretendard"/>
                <a:ea typeface="Pretendard"/>
                <a:cs typeface="Pretendard"/>
              </a:rPr>
              <a:t>반장 단독 도입부터 현장 파일럿으로 검증합니다</a:t>
            </a:r>
          </a:p>
        </p:txBody>
      </p:sp>
      <p:sp>
        <p:nvSpPr>
          <p:cNvPr id="3" name="안전반장 · TEAM 0x02">
            <a:extLst xmlns:a="http://schemas.openxmlformats.org/drawingml/2006/main">
              <a:ext uri="{FF2B5EF4-FFF2-40B4-BE49-F238E27FC236}">
                <a16:creationId xmlns:a16="http://schemas.microsoft.com/office/drawing/2014/main" id="{121E035C-C1E3-44F4-B847-242B84BE1587}"/>
              </a:ext>
            </a:extLst>
          </p:cNvPr>
          <p:cNvSpPr>
            <a:spLocks xmlns:a="http://schemas.openxmlformats.org/drawingml/2006/main" noGrp="1"/>
          </p:cNvSpPr>
          <p:nvPr/>
        </p:nvSpPr>
        <p:spPr>
          <a:xfrm xmlns:a="http://schemas.openxmlformats.org/drawingml/2006/main">
            <a:off x="819150" y="63341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안전반장 · TEAM 0x02</a:t>
            </a:r>
          </a:p>
        </p:txBody>
      </p:sp>
      <p:sp>
        <p:nvSpPr>
          <p:cNvPr id="4" name="13 / 14">
            <a:extLst xmlns:a="http://schemas.openxmlformats.org/drawingml/2006/main">
              <a:ext uri="{FF2B5EF4-FFF2-40B4-BE49-F238E27FC236}">
                <a16:creationId xmlns:a16="http://schemas.microsoft.com/office/drawing/2014/main" id="{90EB9A67-F8E3-4D41-8433-17DF1628A2D9}"/>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13 / 14</a:t>
            </a:r>
          </a:p>
        </p:txBody>
      </p:sp>
      <p:sp>
        <p:nvSpPr>
          <p:cNvPr id="5" name="먼저 검증할 사용 흐름">
            <a:extLst xmlns:a="http://schemas.openxmlformats.org/drawingml/2006/main">
              <a:ext uri="{FF2B5EF4-FFF2-40B4-BE49-F238E27FC236}">
                <a16:creationId xmlns:a16="http://schemas.microsoft.com/office/drawing/2014/main" id="{C6C04BDD-2799-47B3-BC62-B8C6AF3E5D90}"/>
              </a:ext>
            </a:extLst>
          </p:cNvPr>
          <p:cNvSpPr>
            <a:spLocks xmlns:a="http://schemas.openxmlformats.org/drawingml/2006/main" noGrp="1"/>
          </p:cNvSpPr>
          <p:nvPr/>
        </p:nvSpPr>
        <p:spPr>
          <a:xfrm xmlns:a="http://schemas.openxmlformats.org/drawingml/2006/main">
            <a:off x="819150" y="21621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D4ED8"/>
                </a:solidFill>
                <a:latin typeface="Pretendard"/>
                <a:ea typeface="Pretendard"/>
                <a:cs typeface="Pretendard"/>
              </a:defRPr>
            </a:defPPr>
          </a:lstStyle>
          <a:p xmlns:a="http://schemas.openxmlformats.org/drawingml/2006/main">
            <a:pPr>
              <a:defRPr sz="2325" b="1">
                <a:solidFill>
                  <a:srgbClr val="1D4ED8"/>
                </a:solidFill>
                <a:latin typeface="Pretendard"/>
                <a:ea typeface="Pretendard"/>
                <a:cs typeface="Pretendard"/>
              </a:defRPr>
            </a:pPr>
            <a:r>
              <a:rPr sz="2325" b="1">
                <a:solidFill>
                  <a:srgbClr val="1D4ED8"/>
                </a:solidFill>
                <a:latin typeface="Pretendard"/>
                <a:ea typeface="Pretendard"/>
                <a:cs typeface="Pretendard"/>
              </a:rPr>
              <a:t>먼저 검증할 사용 흐름</a:t>
            </a:r>
          </a:p>
        </p:txBody>
      </p:sp>
      <p:sp>
        <p:nvSpPr>
          <p:cNvPr id="6" name="반장 단독으로 작업 등록·기록 확인&#10;&#10;근로자 참여 후 사진">
            <a:extLst xmlns:a="http://schemas.openxmlformats.org/drawingml/2006/main">
              <a:ext uri="{FF2B5EF4-FFF2-40B4-BE49-F238E27FC236}">
                <a16:creationId xmlns:a16="http://schemas.microsoft.com/office/drawing/2014/main" id="{E55AE44E-D6ED-4FF6-BB53-436EE1DD19D6}"/>
              </a:ext>
            </a:extLst>
          </p:cNvPr>
          <p:cNvSpPr>
            <a:spLocks xmlns:a="http://schemas.openxmlformats.org/drawingml/2006/main" noGrp="1"/>
          </p:cNvSpPr>
          <p:nvPr/>
        </p:nvSpPr>
        <p:spPr>
          <a:xfrm xmlns:a="http://schemas.openxmlformats.org/drawingml/2006/main">
            <a:off x="819150" y="2962275"/>
            <a:ext cx="50006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7"/>
                </a:solidFill>
                <a:latin typeface="Pretendard"/>
                <a:ea typeface="Pretendard"/>
                <a:cs typeface="Pretendard"/>
              </a:defRPr>
            </a:defPPr>
          </a:lstStyle>
          <a:p xmlns:a="http://schemas.openxmlformats.org/drawingml/2006/main">
            <a:pPr>
              <a:defRPr sz="1950" b="0">
                <a:solidFill>
                  <a:srgbClr val="1F2937"/>
                </a:solidFill>
                <a:latin typeface="Pretendard"/>
                <a:ea typeface="Pretendard"/>
                <a:cs typeface="Pretendard"/>
              </a:defRPr>
            </a:pPr>
            <a:r>
              <a:rPr sz="1950" b="0">
                <a:solidFill>
                  <a:srgbClr val="1F2937"/>
                </a:solidFill>
                <a:latin typeface="Pretendard"/>
                <a:ea typeface="Pretendard"/>
                <a:cs typeface="Pretendard"/>
              </a:rPr>
              <a:t>반장 단독으로 작업 등록·기록 확인</a:t>
            </a:r>
          </a:p>
          <a:p xmlns:a="http://schemas.openxmlformats.org/drawingml/2006/main">
            <a:r>
              <a:t/>
            </a:r>
          </a:p>
          <a:p xmlns:a="http://schemas.openxmlformats.org/drawingml/2006/main">
            <a:pPr>
              <a:defRPr sz="1950" b="0">
                <a:solidFill>
                  <a:srgbClr val="1F2937"/>
                </a:solidFill>
                <a:latin typeface="Pretendard"/>
                <a:ea typeface="Pretendard"/>
                <a:cs typeface="Pretendard"/>
              </a:defRPr>
            </a:pPr>
            <a:r>
              <a:rPr sz="1950" b="0">
                <a:solidFill>
                  <a:srgbClr val="1F2937"/>
                </a:solidFill>
                <a:latin typeface="Pretendard"/>
                <a:ea typeface="Pretendard"/>
                <a:cs typeface="Pretendard"/>
              </a:rPr>
              <a:t>근로자 참여 후 사진·마감 보고 연결</a:t>
            </a:r>
          </a:p>
          <a:p xmlns:a="http://schemas.openxmlformats.org/drawingml/2006/main">
            <a:r>
              <a:t/>
            </a:r>
          </a:p>
          <a:p xmlns:a="http://schemas.openxmlformats.org/drawingml/2006/main">
            <a:pPr>
              <a:defRPr sz="1950" b="0">
                <a:solidFill>
                  <a:srgbClr val="1F2937"/>
                </a:solidFill>
                <a:latin typeface="Pretendard"/>
                <a:ea typeface="Pretendard"/>
                <a:cs typeface="Pretendard"/>
              </a:defRPr>
            </a:pPr>
            <a:r>
              <a:rPr sz="1950" b="0">
                <a:solidFill>
                  <a:srgbClr val="1F2937"/>
                </a:solidFill>
                <a:latin typeface="Pretendard"/>
                <a:ea typeface="Pretendard"/>
                <a:cs typeface="Pretendard"/>
              </a:rPr>
              <a:t>한 작업 유형부터 현장 파일럿</a:t>
            </a:r>
          </a:p>
        </p:txBody>
      </p:sp>
      <p:sp>
        <p:nvSpPr>
          <p:cNvPr id="7" name="파일럿에서 측정할 항목">
            <a:extLst xmlns:a="http://schemas.openxmlformats.org/drawingml/2006/main">
              <a:ext uri="{FF2B5EF4-FFF2-40B4-BE49-F238E27FC236}">
                <a16:creationId xmlns:a16="http://schemas.microsoft.com/office/drawing/2014/main" id="{F278F1F0-8FB0-477C-AD3E-2D0195A7AA58}"/>
              </a:ext>
            </a:extLst>
          </p:cNvPr>
          <p:cNvSpPr>
            <a:spLocks xmlns:a="http://schemas.openxmlformats.org/drawingml/2006/main" noGrp="1"/>
          </p:cNvSpPr>
          <p:nvPr/>
        </p:nvSpPr>
        <p:spPr>
          <a:xfrm xmlns:a="http://schemas.openxmlformats.org/drawingml/2006/main">
            <a:off x="6524625" y="21621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D4ED8"/>
                </a:solidFill>
                <a:latin typeface="Pretendard"/>
                <a:ea typeface="Pretendard"/>
                <a:cs typeface="Pretendard"/>
              </a:defRPr>
            </a:defPPr>
          </a:lstStyle>
          <a:p xmlns:a="http://schemas.openxmlformats.org/drawingml/2006/main">
            <a:pPr>
              <a:defRPr sz="2325" b="1">
                <a:solidFill>
                  <a:srgbClr val="1D4ED8"/>
                </a:solidFill>
                <a:latin typeface="Pretendard"/>
                <a:ea typeface="Pretendard"/>
                <a:cs typeface="Pretendard"/>
              </a:defRPr>
            </a:pPr>
            <a:r>
              <a:rPr sz="2325" b="1">
                <a:solidFill>
                  <a:srgbClr val="1D4ED8"/>
                </a:solidFill>
                <a:latin typeface="Pretendard"/>
                <a:ea typeface="Pretendard"/>
                <a:cs typeface="Pretendard"/>
              </a:rPr>
              <a:t>파일럿에서 측정할 항목</a:t>
            </a:r>
          </a:p>
        </p:txBody>
      </p:sp>
      <p:sp>
        <p:nvSpPr>
          <p:cNvPr id="8" name="작업 등록과 증빙 확인에 걸리는 시간&#10;&#10;누락 조치의 보완·">
            <a:extLst xmlns:a="http://schemas.openxmlformats.org/drawingml/2006/main">
              <a:ext uri="{FF2B5EF4-FFF2-40B4-BE49-F238E27FC236}">
                <a16:creationId xmlns:a16="http://schemas.microsoft.com/office/drawing/2014/main" id="{B75BA52E-DAAA-46A8-8E08-994C3EFCE7A6}"/>
              </a:ext>
            </a:extLst>
          </p:cNvPr>
          <p:cNvSpPr>
            <a:spLocks xmlns:a="http://schemas.openxmlformats.org/drawingml/2006/main" noGrp="1"/>
          </p:cNvSpPr>
          <p:nvPr/>
        </p:nvSpPr>
        <p:spPr>
          <a:xfrm xmlns:a="http://schemas.openxmlformats.org/drawingml/2006/main">
            <a:off x="6524625" y="2962275"/>
            <a:ext cx="4857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7"/>
                </a:solidFill>
                <a:latin typeface="Pretendard"/>
                <a:ea typeface="Pretendard"/>
                <a:cs typeface="Pretendard"/>
              </a:defRPr>
            </a:defPPr>
          </a:lstStyle>
          <a:p xmlns:a="http://schemas.openxmlformats.org/drawingml/2006/main">
            <a:pPr>
              <a:defRPr sz="1950" b="0">
                <a:solidFill>
                  <a:srgbClr val="1F2937"/>
                </a:solidFill>
                <a:latin typeface="Pretendard"/>
                <a:ea typeface="Pretendard"/>
                <a:cs typeface="Pretendard"/>
              </a:defRPr>
            </a:pPr>
            <a:r>
              <a:rPr sz="1950" b="0">
                <a:solidFill>
                  <a:srgbClr val="1F2937"/>
                </a:solidFill>
                <a:latin typeface="Pretendard"/>
                <a:ea typeface="Pretendard"/>
                <a:cs typeface="Pretendard"/>
              </a:rPr>
              <a:t>작업 등록과 증빙 확인에 걸리는 시간</a:t>
            </a:r>
          </a:p>
          <a:p xmlns:a="http://schemas.openxmlformats.org/drawingml/2006/main">
            <a:r>
              <a:t/>
            </a:r>
          </a:p>
          <a:p xmlns:a="http://schemas.openxmlformats.org/drawingml/2006/main">
            <a:pPr>
              <a:defRPr sz="1950" b="0">
                <a:solidFill>
                  <a:srgbClr val="1F2937"/>
                </a:solidFill>
                <a:latin typeface="Pretendard"/>
                <a:ea typeface="Pretendard"/>
                <a:cs typeface="Pretendard"/>
              </a:defRPr>
            </a:pPr>
            <a:r>
              <a:rPr sz="1950" b="0">
                <a:solidFill>
                  <a:srgbClr val="1F2937"/>
                </a:solidFill>
                <a:latin typeface="Pretendard"/>
                <a:ea typeface="Pretendard"/>
                <a:cs typeface="Pretendard"/>
              </a:rPr>
              <a:t>누락 조치의 보완·검토 완료 여부</a:t>
            </a:r>
          </a:p>
          <a:p xmlns:a="http://schemas.openxmlformats.org/drawingml/2006/main">
            <a:r>
              <a:t/>
            </a:r>
          </a:p>
          <a:p xmlns:a="http://schemas.openxmlformats.org/drawingml/2006/main">
            <a:pPr>
              <a:defRPr sz="1950" b="0">
                <a:solidFill>
                  <a:srgbClr val="1F2937"/>
                </a:solidFill>
                <a:latin typeface="Pretendard"/>
                <a:ea typeface="Pretendard"/>
                <a:cs typeface="Pretendard"/>
              </a:defRPr>
            </a:pPr>
            <a:r>
              <a:rPr sz="1950" b="0">
                <a:solidFill>
                  <a:srgbClr val="1F2937"/>
                </a:solidFill>
                <a:latin typeface="Pretendard"/>
                <a:ea typeface="Pretendard"/>
                <a:cs typeface="Pretendard"/>
              </a:rPr>
              <a:t>사람 검수 사진셋의 판정 결과</a:t>
            </a:r>
          </a:p>
        </p:txBody>
      </p:sp>
      <p:sp>
        <p:nvSpPr>
          <p:cNvPr id="9" name="도입 계획입니다. 고객 수·절감률·사고 감소 효과는 아직 ">
            <a:extLst xmlns:a="http://schemas.openxmlformats.org/drawingml/2006/main">
              <a:ext uri="{FF2B5EF4-FFF2-40B4-BE49-F238E27FC236}">
                <a16:creationId xmlns:a16="http://schemas.microsoft.com/office/drawing/2014/main" id="{41D33C7C-0FE4-491F-B23B-D0E8B87484B7}"/>
              </a:ext>
            </a:extLst>
          </p:cNvPr>
          <p:cNvSpPr>
            <a:spLocks xmlns:a="http://schemas.openxmlformats.org/drawingml/2006/main" noGrp="1"/>
          </p:cNvSpPr>
          <p:nvPr/>
        </p:nvSpPr>
        <p:spPr>
          <a:xfrm xmlns:a="http://schemas.openxmlformats.org/drawingml/2006/main">
            <a:off x="819150" y="57340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4748B"/>
                </a:solidFill>
                <a:latin typeface="Pretendard"/>
                <a:ea typeface="Pretendard"/>
                <a:cs typeface="Pretendard"/>
              </a:defRPr>
            </a:defPPr>
          </a:lstStyle>
          <a:p xmlns:a="http://schemas.openxmlformats.org/drawingml/2006/main">
            <a:pPr>
              <a:defRPr sz="1650" b="0">
                <a:solidFill>
                  <a:srgbClr val="64748B"/>
                </a:solidFill>
                <a:latin typeface="Pretendard"/>
                <a:ea typeface="Pretendard"/>
                <a:cs typeface="Pretendard"/>
              </a:defRPr>
            </a:pPr>
            <a:r>
              <a:rPr sz="1650" b="0">
                <a:solidFill>
                  <a:srgbClr val="64748B"/>
                </a:solidFill>
                <a:latin typeface="Pretendard"/>
                <a:ea typeface="Pretendard"/>
                <a:cs typeface="Pretendard"/>
              </a:rPr>
              <a:t>도입 계획입니다. 고객 수·절감률·사고 감소 효과는 아직 측정하지 않았습니다</a:t>
            </a:r>
          </a:p>
        </p:txBody>
      </p:sp>
    </p:spTree>
    <p:extLst>
      <p:ext uri="{BB962C8B-B14F-4D97-AF65-F5344CB8AC3E}">
        <p14:creationId xmlns:p14="http://schemas.microsoft.com/office/powerpoint/2010/main" val="153216843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 name="안전반장">
            <a:extLst xmlns:a="http://schemas.openxmlformats.org/drawingml/2006/main">
              <a:ext uri="{FF2B5EF4-FFF2-40B4-BE49-F238E27FC236}">
                <a16:creationId xmlns:a16="http://schemas.microsoft.com/office/drawing/2014/main" id="{4F0BE1CB-3801-4E37-AEE6-AE3F0AEFCA79}"/>
              </a:ext>
            </a:extLst>
          </p:cNvPr>
          <p:cNvSpPr>
            <a:spLocks xmlns:a="http://schemas.openxmlformats.org/drawingml/2006/main" noGrp="1"/>
          </p:cNvSpPr>
          <p:nvPr/>
        </p:nvSpPr>
        <p:spPr>
          <a:xfrm xmlns:a="http://schemas.openxmlformats.org/drawingml/2006/main">
            <a:off x="819150" y="6762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D4ED8"/>
                </a:solidFill>
                <a:latin typeface="Pretendard"/>
                <a:ea typeface="Pretendard"/>
                <a:cs typeface="Pretendard"/>
              </a:defRPr>
            </a:defPPr>
          </a:lstStyle>
          <a:p xmlns:a="http://schemas.openxmlformats.org/drawingml/2006/main">
            <a:pPr>
              <a:defRPr sz="1275" b="1">
                <a:solidFill>
                  <a:srgbClr val="1D4ED8"/>
                </a:solidFill>
                <a:latin typeface="Pretendard"/>
                <a:ea typeface="Pretendard"/>
                <a:cs typeface="Pretendard"/>
              </a:defRPr>
            </a:pPr>
            <a:r>
              <a:rPr sz="1275" b="1">
                <a:solidFill>
                  <a:srgbClr val="1D4ED8"/>
                </a:solidFill>
                <a:latin typeface="Pretendard"/>
                <a:ea typeface="Pretendard"/>
                <a:cs typeface="Pretendard"/>
              </a:rPr>
              <a:t>안전반장</a:t>
            </a:r>
          </a:p>
        </p:txBody>
      </p:sp>
      <p:sp>
        <p:nvSpPr>
          <p:cNvPr id="2" name="작업 전 공유부터 조치 기록까지">
            <a:extLst xmlns:a="http://schemas.openxmlformats.org/drawingml/2006/main">
              <a:ext uri="{FF2B5EF4-FFF2-40B4-BE49-F238E27FC236}">
                <a16:creationId xmlns:a16="http://schemas.microsoft.com/office/drawing/2014/main" id="{25770FAD-2CC1-4763-875A-FFCCBB49839A}"/>
              </a:ext>
            </a:extLst>
          </p:cNvPr>
          <p:cNvSpPr>
            <a:spLocks xmlns:a="http://schemas.openxmlformats.org/drawingml/2006/main" noGrp="1"/>
          </p:cNvSpPr>
          <p:nvPr/>
        </p:nvSpPr>
        <p:spPr>
          <a:xfrm xmlns:a="http://schemas.openxmlformats.org/drawingml/2006/main">
            <a:off x="819150" y="10191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F2937"/>
                </a:solidFill>
                <a:latin typeface="Pretendard"/>
                <a:ea typeface="Pretendard"/>
                <a:cs typeface="Pretendard"/>
              </a:defRPr>
            </a:defPPr>
          </a:lstStyle>
          <a:p xmlns:a="http://schemas.openxmlformats.org/drawingml/2006/main">
            <a:pPr>
              <a:defRPr sz="2850" b="1">
                <a:solidFill>
                  <a:srgbClr val="1F2937"/>
                </a:solidFill>
                <a:latin typeface="Pretendard"/>
                <a:ea typeface="Pretendard"/>
                <a:cs typeface="Pretendard"/>
              </a:defRPr>
            </a:pPr>
            <a:r>
              <a:rPr sz="2850" b="1">
                <a:solidFill>
                  <a:srgbClr val="1F2937"/>
                </a:solidFill>
                <a:latin typeface="Pretendard"/>
                <a:ea typeface="Pretendard"/>
                <a:cs typeface="Pretendard"/>
              </a:rPr>
              <a:t>작업 전 공유부터 조치 기록까지</a:t>
            </a:r>
          </a:p>
        </p:txBody>
      </p:sp>
      <p:sp>
        <p:nvSpPr>
          <p:cNvPr id="3" name="안전반장 · TEAM 0x02">
            <a:extLst xmlns:a="http://schemas.openxmlformats.org/drawingml/2006/main">
              <a:ext uri="{FF2B5EF4-FFF2-40B4-BE49-F238E27FC236}">
                <a16:creationId xmlns:a16="http://schemas.microsoft.com/office/drawing/2014/main" id="{9B212DD4-43F8-47AF-B76C-348BFEFD9393}"/>
              </a:ext>
            </a:extLst>
          </p:cNvPr>
          <p:cNvSpPr>
            <a:spLocks xmlns:a="http://schemas.openxmlformats.org/drawingml/2006/main" noGrp="1"/>
          </p:cNvSpPr>
          <p:nvPr/>
        </p:nvSpPr>
        <p:spPr>
          <a:xfrm xmlns:a="http://schemas.openxmlformats.org/drawingml/2006/main">
            <a:off x="819150" y="63341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안전반장 · TEAM 0x02</a:t>
            </a:r>
          </a:p>
        </p:txBody>
      </p:sp>
      <p:sp>
        <p:nvSpPr>
          <p:cNvPr id="4" name="14 / 14">
            <a:extLst xmlns:a="http://schemas.openxmlformats.org/drawingml/2006/main">
              <a:ext uri="{FF2B5EF4-FFF2-40B4-BE49-F238E27FC236}">
                <a16:creationId xmlns:a16="http://schemas.microsoft.com/office/drawing/2014/main" id="{7BF749C4-D535-42F1-9B5F-7E5DD1DD7391}"/>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Pretendard"/>
                <a:ea typeface="Pretendard"/>
                <a:cs typeface="Pretendard"/>
              </a:defRPr>
            </a:defPPr>
          </a:lstStyle>
          <a:p xmlns:a="http://schemas.openxmlformats.org/drawingml/2006/main">
            <a:pPr>
              <a:defRPr sz="1200" b="0">
                <a:solidFill>
                  <a:srgbClr val="64748B"/>
                </a:solidFill>
                <a:latin typeface="Pretendard"/>
                <a:ea typeface="Pretendard"/>
                <a:cs typeface="Pretendard"/>
              </a:defRPr>
            </a:pPr>
            <a:r>
              <a:rPr sz="1200" b="0">
                <a:solidFill>
                  <a:srgbClr val="64748B"/>
                </a:solidFill>
                <a:latin typeface="Pretendard"/>
                <a:ea typeface="Pretendard"/>
                <a:cs typeface="Pretendard"/>
              </a:rPr>
              <a:t>14 / 14</a:t>
            </a:r>
          </a:p>
        </p:txBody>
      </p:sp>
      <p:sp>
        <p:nvSpPr>
          <p:cNvPr id="5" name="작업 전에 함께 확인하고,&#10;작업 뒤에 조치를 남깁니다">
            <a:extLst xmlns:a="http://schemas.openxmlformats.org/drawingml/2006/main">
              <a:ext uri="{FF2B5EF4-FFF2-40B4-BE49-F238E27FC236}">
                <a16:creationId xmlns:a16="http://schemas.microsoft.com/office/drawing/2014/main" id="{9A9BE0F0-7FB0-4188-9BA1-57DED5EFF673}"/>
              </a:ext>
            </a:extLst>
          </p:cNvPr>
          <p:cNvSpPr>
            <a:spLocks xmlns:a="http://schemas.openxmlformats.org/drawingml/2006/main" noGrp="1"/>
          </p:cNvSpPr>
          <p:nvPr/>
        </p:nvSpPr>
        <p:spPr>
          <a:xfrm xmlns:a="http://schemas.openxmlformats.org/drawingml/2006/main">
            <a:off x="819150" y="241935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F2937"/>
                </a:solidFill>
                <a:latin typeface="Pretendard"/>
                <a:ea typeface="Pretendard"/>
                <a:cs typeface="Pretendard"/>
              </a:defRPr>
            </a:defPPr>
          </a:lstStyle>
          <a:p xmlns:a="http://schemas.openxmlformats.org/drawingml/2006/main">
            <a:pPr>
              <a:defRPr sz="4200" b="1">
                <a:solidFill>
                  <a:srgbClr val="1F2937"/>
                </a:solidFill>
                <a:latin typeface="Pretendard"/>
                <a:ea typeface="Pretendard"/>
                <a:cs typeface="Pretendard"/>
              </a:defRPr>
            </a:pPr>
            <a:r>
              <a:rPr sz="4200" b="1">
                <a:solidFill>
                  <a:srgbClr val="1F2937"/>
                </a:solidFill>
                <a:latin typeface="Pretendard"/>
                <a:ea typeface="Pretendard"/>
                <a:cs typeface="Pretendard"/>
              </a:rPr>
              <a:t>작업 전에 함께 확인하고,</a:t>
            </a:r>
          </a:p>
          <a:p xmlns:a="http://schemas.openxmlformats.org/drawingml/2006/main">
            <a:pPr>
              <a:defRPr sz="4200" b="1">
                <a:solidFill>
                  <a:srgbClr val="1F2937"/>
                </a:solidFill>
                <a:latin typeface="Pretendard"/>
                <a:ea typeface="Pretendard"/>
                <a:cs typeface="Pretendard"/>
              </a:defRPr>
            </a:pPr>
            <a:r>
              <a:rPr sz="4200" b="1">
                <a:solidFill>
                  <a:srgbClr val="1F2937"/>
                </a:solidFill>
                <a:latin typeface="Pretendard"/>
                <a:ea typeface="Pretendard"/>
                <a:cs typeface="Pretendard"/>
              </a:rPr>
              <a:t>작업 뒤에 조치를 남깁니다</a:t>
            </a:r>
          </a:p>
        </p:txBody>
      </p:sp>
      <p:sp>
        <p:nvSpPr>
          <p:cNvPr id="6" name="작은 현장의 반장과 근로자를 잇는 안전 관리 앱">
            <a:extLst xmlns:a="http://schemas.openxmlformats.org/drawingml/2006/main">
              <a:ext uri="{FF2B5EF4-FFF2-40B4-BE49-F238E27FC236}">
                <a16:creationId xmlns:a16="http://schemas.microsoft.com/office/drawing/2014/main" id="{36F3001D-AF56-4D0D-A530-239620629C14}"/>
              </a:ext>
            </a:extLst>
          </p:cNvPr>
          <p:cNvSpPr>
            <a:spLocks xmlns:a="http://schemas.openxmlformats.org/drawingml/2006/main" noGrp="1"/>
          </p:cNvSpPr>
          <p:nvPr/>
        </p:nvSpPr>
        <p:spPr>
          <a:xfrm xmlns:a="http://schemas.openxmlformats.org/drawingml/2006/main">
            <a:off x="819150" y="43719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4748B"/>
                </a:solidFill>
                <a:latin typeface="Pretendard"/>
                <a:ea typeface="Pretendard"/>
                <a:cs typeface="Pretendard"/>
              </a:defRPr>
            </a:defPPr>
          </a:lstStyle>
          <a:p xmlns:a="http://schemas.openxmlformats.org/drawingml/2006/main">
            <a:pPr>
              <a:defRPr sz="2175" b="0">
                <a:solidFill>
                  <a:srgbClr val="64748B"/>
                </a:solidFill>
                <a:latin typeface="Pretendard"/>
                <a:ea typeface="Pretendard"/>
                <a:cs typeface="Pretendard"/>
              </a:defRPr>
            </a:pPr>
            <a:r>
              <a:rPr sz="2175" b="0">
                <a:solidFill>
                  <a:srgbClr val="64748B"/>
                </a:solidFill>
                <a:latin typeface="Pretendard"/>
                <a:ea typeface="Pretendard"/>
                <a:cs typeface="Pretendard"/>
              </a:rPr>
              <a:t>작은 현장의 반장과 근로자를 잇는 안전 관리 앱</a:t>
            </a:r>
          </a:p>
        </p:txBody>
      </p:sp>
      <p:sp>
        <p:nvSpPr>
          <p:cNvPr id="7" name="사진에 보이는 조치 확인을 돕고,&#10;확인이 어려우면 관리자에">
            <a:extLst xmlns:a="http://schemas.openxmlformats.org/drawingml/2006/main">
              <a:ext uri="{FF2B5EF4-FFF2-40B4-BE49-F238E27FC236}">
                <a16:creationId xmlns:a16="http://schemas.microsoft.com/office/drawing/2014/main" id="{4388C817-F06E-414A-8C41-A51682A366A8}"/>
              </a:ext>
            </a:extLst>
          </p:cNvPr>
          <p:cNvSpPr>
            <a:spLocks xmlns:a="http://schemas.openxmlformats.org/drawingml/2006/main" noGrp="1"/>
          </p:cNvSpPr>
          <p:nvPr/>
        </p:nvSpPr>
        <p:spPr>
          <a:xfrm xmlns:a="http://schemas.openxmlformats.org/drawingml/2006/main">
            <a:off x="819150" y="52482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4ED8"/>
                </a:solidFill>
                <a:latin typeface="Pretendard"/>
                <a:ea typeface="Pretendard"/>
                <a:cs typeface="Pretendard"/>
              </a:defRPr>
            </a:defPPr>
          </a:lstStyle>
          <a:p xmlns:a="http://schemas.openxmlformats.org/drawingml/2006/main">
            <a:pPr>
              <a:defRPr sz="2175" b="1">
                <a:solidFill>
                  <a:srgbClr val="1D4ED8"/>
                </a:solidFill>
                <a:latin typeface="Pretendard"/>
                <a:ea typeface="Pretendard"/>
                <a:cs typeface="Pretendard"/>
              </a:defRPr>
            </a:pPr>
            <a:r>
              <a:rPr sz="2175" b="1">
                <a:solidFill>
                  <a:srgbClr val="1D4ED8"/>
                </a:solidFill>
                <a:latin typeface="Pretendard"/>
                <a:ea typeface="Pretendard"/>
                <a:cs typeface="Pretendard"/>
              </a:rPr>
              <a:t>사진에 보이는 조치 확인을 돕고,</a:t>
            </a:r>
          </a:p>
          <a:p xmlns:a="http://schemas.openxmlformats.org/drawingml/2006/main">
            <a:pPr>
              <a:defRPr sz="2175" b="1">
                <a:solidFill>
                  <a:srgbClr val="1D4ED8"/>
                </a:solidFill>
                <a:latin typeface="Pretendard"/>
                <a:ea typeface="Pretendard"/>
                <a:cs typeface="Pretendard"/>
              </a:defRPr>
            </a:pPr>
            <a:r>
              <a:rPr sz="2175" b="1">
                <a:solidFill>
                  <a:srgbClr val="1D4ED8"/>
                </a:solidFill>
                <a:latin typeface="Pretendard"/>
                <a:ea typeface="Pretendard"/>
                <a:cs typeface="Pretendard"/>
              </a:rPr>
              <a:t>확인이 어려우면 관리자에게 연결합니다</a:t>
            </a:r>
          </a:p>
        </p:txBody>
      </p:sp>
    </p:spTree>
    <p:extLst>
      <p:ext uri="{BB962C8B-B14F-4D97-AF65-F5344CB8AC3E}">
        <p14:creationId xmlns:p14="http://schemas.microsoft.com/office/powerpoint/2010/main" val="593257444"/>
      </p:ext>
    </p:extLst>
  </p:cSld>
</p:sld>
</file>

<file path=ppt/theme/theme1.xml><?xml version="1.0" encoding="utf-8"?>
<a:theme xmlns:a="http://schemas.openxmlformats.org/drawingml/2006/main" name="안전반장 4분 발표">
  <a:themeElements>
    <a:clrScheme name="안전반장 4분 발표">
      <a:dk1>
        <a:srgbClr val="1F2937"/>
      </a:dk1>
      <a:lt1>
        <a:srgbClr val="F8FAFC"/>
      </a:lt1>
      <a:dk2>
        <a:srgbClr val="555D68"/>
      </a:dk2>
      <a:lt2>
        <a:srgbClr val="E2E5E8"/>
      </a:lt2>
      <a:accent1>
        <a:srgbClr val="1D4ED8"/>
      </a:accent1>
      <a:accent2>
        <a:srgbClr val="DC2626"/>
      </a:accent2>
      <a:accent3>
        <a:srgbClr val="15803D"/>
      </a:accent3>
      <a:accent4>
        <a:srgbClr val="F59E0B"/>
      </a:accent4>
      <a:accent5>
        <a:srgbClr val="6D28D9"/>
      </a:accent5>
      <a:accent6>
        <a:srgbClr val="6B7280"/>
      </a:accent6>
      <a:hlink>
        <a:srgbClr val="0563C1"/>
      </a:hlink>
      <a:folHlink>
        <a:srgbClr val="954F72"/>
      </a:folHlink>
    </a:clrScheme>
    <a:fontScheme name="안전반장 4분 발표">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안전반장 4분 발표">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2026-10-09T07:18:17.0170000Z</dcterms:created>
  <dcterms:modified xsi:type="dcterms:W3CDTF">2026-10-09T07:18:17.0170000Z</dcterms:modified>
</coreProperties>
</file>